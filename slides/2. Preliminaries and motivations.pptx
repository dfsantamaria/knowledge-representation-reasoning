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1" r:id="rId2"/>
    <p:sldId id="261" r:id="rId3"/>
    <p:sldId id="262" r:id="rId4"/>
    <p:sldId id="367" r:id="rId5"/>
    <p:sldId id="263" r:id="rId6"/>
    <p:sldId id="356" r:id="rId7"/>
    <p:sldId id="357" r:id="rId8"/>
    <p:sldId id="358" r:id="rId9"/>
    <p:sldId id="359" r:id="rId10"/>
    <p:sldId id="365" r:id="rId11"/>
    <p:sldId id="364" r:id="rId12"/>
    <p:sldId id="360" r:id="rId13"/>
    <p:sldId id="363" r:id="rId14"/>
    <p:sldId id="362" r:id="rId15"/>
    <p:sldId id="366"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363C0-8C17-E4BC-1354-0EDD2CFE4599}" v="5" dt="2026-10-09T08:29:04.032"/>
    <p1510:client id="{5BC3DD57-14AF-A3B5-0EDE-DBEDD65400DE}" v="3" dt="2026-10-09T09:54:52.876"/>
    <p1510:client id="{94A6ABA1-B30C-500E-8FB9-DA9ACC733CDF}" v="584" dt="2026-10-09T07:39:39.754"/>
    <p1510:client id="{9AEBF1BA-BC10-10A8-4597-27919E47124C}" v="10" dt="2026-10-07T15:41:46.572"/>
    <p1510:client id="{DED46CBD-7EEC-F717-0644-B36C1D2441A6}" v="128" dt="2026-10-08T16:26:27.2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24" autoAdjust="0"/>
    <p:restoredTop sz="94660"/>
  </p:normalViewPr>
  <p:slideViewPr>
    <p:cSldViewPr snapToGrid="0">
      <p:cViewPr>
        <p:scale>
          <a:sx n="60" d="100"/>
          <a:sy n="60" d="100"/>
        </p:scale>
        <p:origin x="103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9445E4-4383-4969-871F-19CB583E2282}"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1026152D-DD5A-498B-9DD3-6AE28F308D12}">
      <dgm:prSet/>
      <dgm:spPr/>
      <dgm:t>
        <a:bodyPr/>
        <a:lstStyle/>
        <a:p>
          <a:pPr rtl="0"/>
          <a:r>
            <a:rPr lang="it-IT" dirty="0"/>
            <a:t>A system </a:t>
          </a:r>
          <a:r>
            <a:rPr lang="it-IT" dirty="0" err="1"/>
            <a:t>exhibits</a:t>
          </a:r>
          <a:r>
            <a:rPr lang="it-IT" dirty="0"/>
            <a:t> </a:t>
          </a:r>
          <a:r>
            <a:rPr lang="it-IT" dirty="0" err="1"/>
            <a:t>intelligent</a:t>
          </a:r>
          <a:r>
            <a:rPr lang="it-IT" dirty="0"/>
            <a:t> </a:t>
          </a:r>
          <a:r>
            <a:rPr lang="it-IT" dirty="0" err="1"/>
            <a:t>understanding</a:t>
          </a:r>
          <a:r>
            <a:rPr lang="it-IT" dirty="0"/>
            <a:t> and action </a:t>
          </a:r>
          <a:r>
            <a:rPr lang="it-IT" dirty="0" err="1"/>
            <a:t>at</a:t>
          </a:r>
          <a:r>
            <a:rPr lang="it-IT" dirty="0"/>
            <a:t> a high </a:t>
          </a:r>
          <a:r>
            <a:rPr lang="it-IT" dirty="0" err="1"/>
            <a:t>level</a:t>
          </a:r>
          <a:r>
            <a:rPr lang="it-IT" dirty="0"/>
            <a:t> of competence </a:t>
          </a:r>
          <a:r>
            <a:rPr lang="it-IT" dirty="0" err="1"/>
            <a:t>primarily</a:t>
          </a:r>
          <a:r>
            <a:rPr lang="it-IT" dirty="0"/>
            <a:t> </a:t>
          </a:r>
          <a:r>
            <a:rPr lang="it-IT" dirty="0" err="1"/>
            <a:t>because</a:t>
          </a:r>
          <a:r>
            <a:rPr lang="it-IT" dirty="0"/>
            <a:t> of the </a:t>
          </a:r>
          <a:r>
            <a:rPr lang="it-IT" dirty="0" err="1"/>
            <a:t>specific</a:t>
          </a:r>
          <a:r>
            <a:rPr lang="it-IT" dirty="0"/>
            <a:t> knowledge </a:t>
          </a:r>
          <a:r>
            <a:rPr lang="it-IT" dirty="0" err="1"/>
            <a:t>that</a:t>
          </a:r>
          <a:r>
            <a:rPr lang="it-IT" dirty="0"/>
            <a:t> </a:t>
          </a:r>
          <a:r>
            <a:rPr lang="it-IT" dirty="0" err="1"/>
            <a:t>it</a:t>
          </a:r>
          <a:r>
            <a:rPr lang="it-IT" dirty="0"/>
            <a:t> </a:t>
          </a:r>
          <a:r>
            <a:rPr lang="it-IT" dirty="0" err="1"/>
            <a:t>contains</a:t>
          </a:r>
          <a:r>
            <a:rPr lang="it-IT" dirty="0"/>
            <a:t> </a:t>
          </a:r>
          <a:r>
            <a:rPr lang="it-IT" dirty="0" err="1"/>
            <a:t>about</a:t>
          </a:r>
          <a:r>
            <a:rPr lang="it-IT" dirty="0"/>
            <a:t> </a:t>
          </a:r>
          <a:r>
            <a:rPr lang="it-IT" dirty="0" err="1"/>
            <a:t>its</a:t>
          </a:r>
          <a:r>
            <a:rPr lang="it-IT" dirty="0"/>
            <a:t> domain of </a:t>
          </a:r>
          <a:r>
            <a:rPr lang="it-IT" dirty="0" err="1"/>
            <a:t>endeavor</a:t>
          </a:r>
          <a:r>
            <a:rPr lang="it-IT" dirty="0"/>
            <a:t>.  (Lenat and Feigenbaum</a:t>
          </a:r>
          <a:r>
            <a:rPr lang="it-IT" dirty="0">
              <a:latin typeface="Aptos Display" panose="02110004020202020204"/>
            </a:rPr>
            <a:t> , On the </a:t>
          </a:r>
          <a:r>
            <a:rPr lang="it-IT" dirty="0" err="1">
              <a:latin typeface="Aptos Display" panose="02110004020202020204"/>
            </a:rPr>
            <a:t>threesholds</a:t>
          </a:r>
          <a:r>
            <a:rPr lang="it-IT" dirty="0">
              <a:latin typeface="Aptos Display" panose="02110004020202020204"/>
            </a:rPr>
            <a:t> of knowledge, 1987).</a:t>
          </a:r>
          <a:endParaRPr lang="en-US" dirty="0"/>
        </a:p>
      </dgm:t>
    </dgm:pt>
    <dgm:pt modelId="{5DAC9B4D-D346-467E-9085-9FA7EC17BA8A}" type="parTrans" cxnId="{04C43459-5215-4E83-8DD9-B37922850979}">
      <dgm:prSet/>
      <dgm:spPr/>
      <dgm:t>
        <a:bodyPr/>
        <a:lstStyle/>
        <a:p>
          <a:endParaRPr lang="en-US"/>
        </a:p>
      </dgm:t>
    </dgm:pt>
    <dgm:pt modelId="{1B91C219-E319-40E7-9B9B-86F5F5F70664}" type="sibTrans" cxnId="{04C43459-5215-4E83-8DD9-B37922850979}">
      <dgm:prSet/>
      <dgm:spPr/>
      <dgm:t>
        <a:bodyPr/>
        <a:lstStyle/>
        <a:p>
          <a:endParaRPr lang="en-US"/>
        </a:p>
      </dgm:t>
    </dgm:pt>
    <dgm:pt modelId="{843D33CF-99DD-44F7-9FBE-E6E0E8717FEE}">
      <dgm:prSet/>
      <dgm:spPr/>
      <dgm:t>
        <a:bodyPr/>
        <a:lstStyle/>
        <a:p>
          <a:r>
            <a:rPr lang="it-IT" dirty="0"/>
            <a:t>The </a:t>
          </a:r>
          <a:r>
            <a:rPr lang="it-IT" dirty="0" err="1"/>
            <a:t>problem</a:t>
          </a:r>
          <a:r>
            <a:rPr lang="it-IT" dirty="0"/>
            <a:t> </a:t>
          </a:r>
          <a:r>
            <a:rPr lang="it-IT" dirty="0" err="1"/>
            <a:t>is</a:t>
          </a:r>
          <a:r>
            <a:rPr lang="it-IT" dirty="0"/>
            <a:t> </a:t>
          </a:r>
          <a:r>
            <a:rPr lang="it-IT" dirty="0" err="1"/>
            <a:t>how</a:t>
          </a:r>
          <a:r>
            <a:rPr lang="it-IT" dirty="0"/>
            <a:t> to </a:t>
          </a:r>
          <a:r>
            <a:rPr lang="it-IT" dirty="0" err="1"/>
            <a:t>represent</a:t>
          </a:r>
          <a:r>
            <a:rPr lang="it-IT" dirty="0"/>
            <a:t>  knowledge and </a:t>
          </a:r>
          <a:r>
            <a:rPr lang="it-IT" dirty="0" err="1"/>
            <a:t>how</a:t>
          </a:r>
          <a:r>
            <a:rPr lang="it-IT" dirty="0"/>
            <a:t> to work with </a:t>
          </a:r>
          <a:r>
            <a:rPr lang="it-IT" dirty="0" err="1"/>
            <a:t>it</a:t>
          </a:r>
          <a:r>
            <a:rPr lang="it-IT" dirty="0"/>
            <a:t>  to solve </a:t>
          </a:r>
          <a:r>
            <a:rPr lang="it-IT" dirty="0" err="1"/>
            <a:t>problems</a:t>
          </a:r>
          <a:r>
            <a:rPr lang="it-IT" dirty="0"/>
            <a:t> (</a:t>
          </a:r>
          <a:r>
            <a:rPr lang="it-IT" dirty="0" err="1"/>
            <a:t>modeling</a:t>
          </a:r>
          <a:r>
            <a:rPr lang="it-IT" dirty="0"/>
            <a:t>, </a:t>
          </a:r>
          <a:r>
            <a:rPr lang="it-IT" dirty="0" err="1"/>
            <a:t>representation</a:t>
          </a:r>
          <a:r>
            <a:rPr lang="it-IT" dirty="0"/>
            <a:t>, and </a:t>
          </a:r>
          <a:r>
            <a:rPr lang="it-IT" dirty="0" err="1"/>
            <a:t>reasoning</a:t>
          </a:r>
          <a:r>
            <a:rPr lang="it-IT" dirty="0"/>
            <a:t>).</a:t>
          </a:r>
          <a:endParaRPr lang="en-US" dirty="0"/>
        </a:p>
      </dgm:t>
    </dgm:pt>
    <dgm:pt modelId="{EDC2B464-24C3-40B8-92EA-C1C35C384478}" type="parTrans" cxnId="{58CE9543-C84F-4A82-8434-E49C044BE6ED}">
      <dgm:prSet/>
      <dgm:spPr/>
      <dgm:t>
        <a:bodyPr/>
        <a:lstStyle/>
        <a:p>
          <a:endParaRPr lang="en-US"/>
        </a:p>
      </dgm:t>
    </dgm:pt>
    <dgm:pt modelId="{B246AACC-4205-40F9-9498-7DAC2515AB70}" type="sibTrans" cxnId="{58CE9543-C84F-4A82-8434-E49C044BE6ED}">
      <dgm:prSet/>
      <dgm:spPr/>
      <dgm:t>
        <a:bodyPr/>
        <a:lstStyle/>
        <a:p>
          <a:endParaRPr lang="en-US"/>
        </a:p>
      </dgm:t>
    </dgm:pt>
    <dgm:pt modelId="{5CBF52DA-3BD6-4971-BB6F-0B99548AB3B9}" type="pres">
      <dgm:prSet presAssocID="{A39445E4-4383-4969-871F-19CB583E2282}" presName="diagram" presStyleCnt="0">
        <dgm:presLayoutVars>
          <dgm:dir/>
          <dgm:resizeHandles val="exact"/>
        </dgm:presLayoutVars>
      </dgm:prSet>
      <dgm:spPr/>
    </dgm:pt>
    <dgm:pt modelId="{CB759848-B146-4951-BCF9-6D811556ADE4}" type="pres">
      <dgm:prSet presAssocID="{1026152D-DD5A-498B-9DD3-6AE28F308D12}" presName="node" presStyleLbl="node1" presStyleIdx="0" presStyleCnt="2">
        <dgm:presLayoutVars>
          <dgm:bulletEnabled val="1"/>
        </dgm:presLayoutVars>
      </dgm:prSet>
      <dgm:spPr/>
    </dgm:pt>
    <dgm:pt modelId="{1DDE587C-8E1B-4246-A778-EBD62254D7FC}" type="pres">
      <dgm:prSet presAssocID="{1B91C219-E319-40E7-9B9B-86F5F5F70664}" presName="sibTrans" presStyleCnt="0"/>
      <dgm:spPr/>
    </dgm:pt>
    <dgm:pt modelId="{3AB7707A-440D-4D89-A27F-686731895B58}" type="pres">
      <dgm:prSet presAssocID="{843D33CF-99DD-44F7-9FBE-E6E0E8717FEE}" presName="node" presStyleLbl="node1" presStyleIdx="1" presStyleCnt="2">
        <dgm:presLayoutVars>
          <dgm:bulletEnabled val="1"/>
        </dgm:presLayoutVars>
      </dgm:prSet>
      <dgm:spPr/>
    </dgm:pt>
  </dgm:ptLst>
  <dgm:cxnLst>
    <dgm:cxn modelId="{3D1C8410-8C47-4552-9B76-CEB2FB400123}" type="presOf" srcId="{843D33CF-99DD-44F7-9FBE-E6E0E8717FEE}" destId="{3AB7707A-440D-4D89-A27F-686731895B58}" srcOrd="0" destOrd="0" presId="urn:microsoft.com/office/officeart/2005/8/layout/default"/>
    <dgm:cxn modelId="{58CE9543-C84F-4A82-8434-E49C044BE6ED}" srcId="{A39445E4-4383-4969-871F-19CB583E2282}" destId="{843D33CF-99DD-44F7-9FBE-E6E0E8717FEE}" srcOrd="1" destOrd="0" parTransId="{EDC2B464-24C3-40B8-92EA-C1C35C384478}" sibTransId="{B246AACC-4205-40F9-9498-7DAC2515AB70}"/>
    <dgm:cxn modelId="{04C43459-5215-4E83-8DD9-B37922850979}" srcId="{A39445E4-4383-4969-871F-19CB583E2282}" destId="{1026152D-DD5A-498B-9DD3-6AE28F308D12}" srcOrd="0" destOrd="0" parTransId="{5DAC9B4D-D346-467E-9085-9FA7EC17BA8A}" sibTransId="{1B91C219-E319-40E7-9B9B-86F5F5F70664}"/>
    <dgm:cxn modelId="{B8A27F90-99DC-4E13-8D2A-A79BD56DC7D5}" type="presOf" srcId="{1026152D-DD5A-498B-9DD3-6AE28F308D12}" destId="{CB759848-B146-4951-BCF9-6D811556ADE4}" srcOrd="0" destOrd="0" presId="urn:microsoft.com/office/officeart/2005/8/layout/default"/>
    <dgm:cxn modelId="{9B3E6E95-2B21-46A6-880F-2874554D8232}" type="presOf" srcId="{A39445E4-4383-4969-871F-19CB583E2282}" destId="{5CBF52DA-3BD6-4971-BB6F-0B99548AB3B9}" srcOrd="0" destOrd="0" presId="urn:microsoft.com/office/officeart/2005/8/layout/default"/>
    <dgm:cxn modelId="{AAAE990A-6388-4F95-B70C-EEBE2323D646}" type="presParOf" srcId="{5CBF52DA-3BD6-4971-BB6F-0B99548AB3B9}" destId="{CB759848-B146-4951-BCF9-6D811556ADE4}" srcOrd="0" destOrd="0" presId="urn:microsoft.com/office/officeart/2005/8/layout/default"/>
    <dgm:cxn modelId="{48344D86-EFDE-45BF-B0DB-061C14D06596}" type="presParOf" srcId="{5CBF52DA-3BD6-4971-BB6F-0B99548AB3B9}" destId="{1DDE587C-8E1B-4246-A778-EBD62254D7FC}" srcOrd="1" destOrd="0" presId="urn:microsoft.com/office/officeart/2005/8/layout/default"/>
    <dgm:cxn modelId="{B5855D28-AD53-44EA-983B-21F8E7E2C01A}" type="presParOf" srcId="{5CBF52DA-3BD6-4971-BB6F-0B99548AB3B9}" destId="{3AB7707A-440D-4D89-A27F-686731895B58}"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59848-B146-4951-BCF9-6D811556ADE4}">
      <dsp:nvSpPr>
        <dsp:cNvPr id="0" name=""/>
        <dsp:cNvSpPr/>
      </dsp:nvSpPr>
      <dsp:spPr>
        <a:xfrm>
          <a:off x="1283" y="472576"/>
          <a:ext cx="5006206" cy="300372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it-IT" sz="2500" kern="1200" dirty="0"/>
            <a:t>A system </a:t>
          </a:r>
          <a:r>
            <a:rPr lang="it-IT" sz="2500" kern="1200" dirty="0" err="1"/>
            <a:t>exhibits</a:t>
          </a:r>
          <a:r>
            <a:rPr lang="it-IT" sz="2500" kern="1200" dirty="0"/>
            <a:t> </a:t>
          </a:r>
          <a:r>
            <a:rPr lang="it-IT" sz="2500" kern="1200" dirty="0" err="1"/>
            <a:t>intelligent</a:t>
          </a:r>
          <a:r>
            <a:rPr lang="it-IT" sz="2500" kern="1200" dirty="0"/>
            <a:t> </a:t>
          </a:r>
          <a:r>
            <a:rPr lang="it-IT" sz="2500" kern="1200" dirty="0" err="1"/>
            <a:t>understanding</a:t>
          </a:r>
          <a:r>
            <a:rPr lang="it-IT" sz="2500" kern="1200" dirty="0"/>
            <a:t> and action </a:t>
          </a:r>
          <a:r>
            <a:rPr lang="it-IT" sz="2500" kern="1200" dirty="0" err="1"/>
            <a:t>at</a:t>
          </a:r>
          <a:r>
            <a:rPr lang="it-IT" sz="2500" kern="1200" dirty="0"/>
            <a:t> a high </a:t>
          </a:r>
          <a:r>
            <a:rPr lang="it-IT" sz="2500" kern="1200" dirty="0" err="1"/>
            <a:t>level</a:t>
          </a:r>
          <a:r>
            <a:rPr lang="it-IT" sz="2500" kern="1200" dirty="0"/>
            <a:t> of competence </a:t>
          </a:r>
          <a:r>
            <a:rPr lang="it-IT" sz="2500" kern="1200" dirty="0" err="1"/>
            <a:t>primarily</a:t>
          </a:r>
          <a:r>
            <a:rPr lang="it-IT" sz="2500" kern="1200" dirty="0"/>
            <a:t> </a:t>
          </a:r>
          <a:r>
            <a:rPr lang="it-IT" sz="2500" kern="1200" dirty="0" err="1"/>
            <a:t>because</a:t>
          </a:r>
          <a:r>
            <a:rPr lang="it-IT" sz="2500" kern="1200" dirty="0"/>
            <a:t> of the </a:t>
          </a:r>
          <a:r>
            <a:rPr lang="it-IT" sz="2500" kern="1200" dirty="0" err="1"/>
            <a:t>specific</a:t>
          </a:r>
          <a:r>
            <a:rPr lang="it-IT" sz="2500" kern="1200" dirty="0"/>
            <a:t> knowledge </a:t>
          </a:r>
          <a:r>
            <a:rPr lang="it-IT" sz="2500" kern="1200" dirty="0" err="1"/>
            <a:t>that</a:t>
          </a:r>
          <a:r>
            <a:rPr lang="it-IT" sz="2500" kern="1200" dirty="0"/>
            <a:t> </a:t>
          </a:r>
          <a:r>
            <a:rPr lang="it-IT" sz="2500" kern="1200" dirty="0" err="1"/>
            <a:t>it</a:t>
          </a:r>
          <a:r>
            <a:rPr lang="it-IT" sz="2500" kern="1200" dirty="0"/>
            <a:t> </a:t>
          </a:r>
          <a:r>
            <a:rPr lang="it-IT" sz="2500" kern="1200" dirty="0" err="1"/>
            <a:t>contains</a:t>
          </a:r>
          <a:r>
            <a:rPr lang="it-IT" sz="2500" kern="1200" dirty="0"/>
            <a:t> </a:t>
          </a:r>
          <a:r>
            <a:rPr lang="it-IT" sz="2500" kern="1200" dirty="0" err="1"/>
            <a:t>about</a:t>
          </a:r>
          <a:r>
            <a:rPr lang="it-IT" sz="2500" kern="1200" dirty="0"/>
            <a:t> </a:t>
          </a:r>
          <a:r>
            <a:rPr lang="it-IT" sz="2500" kern="1200" dirty="0" err="1"/>
            <a:t>its</a:t>
          </a:r>
          <a:r>
            <a:rPr lang="it-IT" sz="2500" kern="1200" dirty="0"/>
            <a:t> domain of </a:t>
          </a:r>
          <a:r>
            <a:rPr lang="it-IT" sz="2500" kern="1200" dirty="0" err="1"/>
            <a:t>endeavor</a:t>
          </a:r>
          <a:r>
            <a:rPr lang="it-IT" sz="2500" kern="1200" dirty="0"/>
            <a:t>.  (Lenat and Feigenbaum</a:t>
          </a:r>
          <a:r>
            <a:rPr lang="it-IT" sz="2500" kern="1200" dirty="0">
              <a:latin typeface="Aptos Display" panose="02110004020202020204"/>
            </a:rPr>
            <a:t> , On the </a:t>
          </a:r>
          <a:r>
            <a:rPr lang="it-IT" sz="2500" kern="1200" dirty="0" err="1">
              <a:latin typeface="Aptos Display" panose="02110004020202020204"/>
            </a:rPr>
            <a:t>threesholds</a:t>
          </a:r>
          <a:r>
            <a:rPr lang="it-IT" sz="2500" kern="1200" dirty="0">
              <a:latin typeface="Aptos Display" panose="02110004020202020204"/>
            </a:rPr>
            <a:t> of knowledge, 1987).</a:t>
          </a:r>
          <a:endParaRPr lang="en-US" sz="2500" kern="1200" dirty="0"/>
        </a:p>
      </dsp:txBody>
      <dsp:txXfrm>
        <a:off x="1283" y="472576"/>
        <a:ext cx="5006206" cy="3003723"/>
      </dsp:txXfrm>
    </dsp:sp>
    <dsp:sp modelId="{3AB7707A-440D-4D89-A27F-686731895B58}">
      <dsp:nvSpPr>
        <dsp:cNvPr id="0" name=""/>
        <dsp:cNvSpPr/>
      </dsp:nvSpPr>
      <dsp:spPr>
        <a:xfrm>
          <a:off x="5508110" y="472576"/>
          <a:ext cx="5006206" cy="300372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it-IT" sz="2500" kern="1200" dirty="0"/>
            <a:t>The </a:t>
          </a:r>
          <a:r>
            <a:rPr lang="it-IT" sz="2500" kern="1200" dirty="0" err="1"/>
            <a:t>problem</a:t>
          </a:r>
          <a:r>
            <a:rPr lang="it-IT" sz="2500" kern="1200" dirty="0"/>
            <a:t> </a:t>
          </a:r>
          <a:r>
            <a:rPr lang="it-IT" sz="2500" kern="1200" dirty="0" err="1"/>
            <a:t>is</a:t>
          </a:r>
          <a:r>
            <a:rPr lang="it-IT" sz="2500" kern="1200" dirty="0"/>
            <a:t> </a:t>
          </a:r>
          <a:r>
            <a:rPr lang="it-IT" sz="2500" kern="1200" dirty="0" err="1"/>
            <a:t>how</a:t>
          </a:r>
          <a:r>
            <a:rPr lang="it-IT" sz="2500" kern="1200" dirty="0"/>
            <a:t> to </a:t>
          </a:r>
          <a:r>
            <a:rPr lang="it-IT" sz="2500" kern="1200" dirty="0" err="1"/>
            <a:t>represent</a:t>
          </a:r>
          <a:r>
            <a:rPr lang="it-IT" sz="2500" kern="1200" dirty="0"/>
            <a:t>  knowledge and </a:t>
          </a:r>
          <a:r>
            <a:rPr lang="it-IT" sz="2500" kern="1200" dirty="0" err="1"/>
            <a:t>how</a:t>
          </a:r>
          <a:r>
            <a:rPr lang="it-IT" sz="2500" kern="1200" dirty="0"/>
            <a:t> to work with </a:t>
          </a:r>
          <a:r>
            <a:rPr lang="it-IT" sz="2500" kern="1200" dirty="0" err="1"/>
            <a:t>it</a:t>
          </a:r>
          <a:r>
            <a:rPr lang="it-IT" sz="2500" kern="1200" dirty="0"/>
            <a:t>  to solve </a:t>
          </a:r>
          <a:r>
            <a:rPr lang="it-IT" sz="2500" kern="1200" dirty="0" err="1"/>
            <a:t>problems</a:t>
          </a:r>
          <a:r>
            <a:rPr lang="it-IT" sz="2500" kern="1200" dirty="0"/>
            <a:t> (</a:t>
          </a:r>
          <a:r>
            <a:rPr lang="it-IT" sz="2500" kern="1200" dirty="0" err="1"/>
            <a:t>modeling</a:t>
          </a:r>
          <a:r>
            <a:rPr lang="it-IT" sz="2500" kern="1200" dirty="0"/>
            <a:t>, </a:t>
          </a:r>
          <a:r>
            <a:rPr lang="it-IT" sz="2500" kern="1200" dirty="0" err="1"/>
            <a:t>representation</a:t>
          </a:r>
          <a:r>
            <a:rPr lang="it-IT" sz="2500" kern="1200" dirty="0"/>
            <a:t>, and </a:t>
          </a:r>
          <a:r>
            <a:rPr lang="it-IT" sz="2500" kern="1200" dirty="0" err="1"/>
            <a:t>reasoning</a:t>
          </a:r>
          <a:r>
            <a:rPr lang="it-IT" sz="2500" kern="1200" dirty="0"/>
            <a:t>).</a:t>
          </a:r>
          <a:endParaRPr lang="en-US" sz="2500" kern="1200" dirty="0"/>
        </a:p>
      </dsp:txBody>
      <dsp:txXfrm>
        <a:off x="5508110" y="472576"/>
        <a:ext cx="5006206" cy="300372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11.10.2026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11.10.2026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11.10.2026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11.10.2026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11.10.2026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11.10.2026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11.10.2026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11.10.2026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4A8E5F-40E5-4553-9F3C-699F1A5B8145}" type="datetimeFigureOut">
              <a:rPr lang="de-DE" smtClean="0"/>
              <a:t>11.10.2026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647470-5D35-6CCA-EF95-BEB4A68D58BC}"/>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22EA153E-FB39-C6F3-E3C0-33AE3E23FA74}"/>
              </a:ext>
            </a:extLst>
          </p:cNvPr>
          <p:cNvSpPr>
            <a:spLocks noGrp="1"/>
          </p:cNvSpPr>
          <p:nvPr>
            <p:ph type="ctrTitle"/>
          </p:nvPr>
        </p:nvSpPr>
        <p:spPr>
          <a:xfrm>
            <a:off x="5093520" y="2744662"/>
            <a:ext cx="6589707" cy="2387600"/>
          </a:xfrm>
        </p:spPr>
        <p:txBody>
          <a:bodyPr vert="horz" lIns="91440" tIns="45720" rIns="91440" bIns="45720" rtlCol="0">
            <a:normAutofit/>
          </a:bodyPr>
          <a:lstStyle/>
          <a:p>
            <a:pPr algn="r"/>
            <a:r>
              <a:rPr lang="en-US" dirty="0">
                <a:solidFill>
                  <a:srgbClr val="FFFFFF"/>
                </a:solidFill>
              </a:rPr>
              <a:t>Prelimi</a:t>
            </a:r>
            <a:r>
              <a:rPr lang="en-US">
                <a:solidFill>
                  <a:srgbClr val="FFFFFF"/>
                </a:solidFill>
              </a:rPr>
              <a:t>naries and motivations</a:t>
            </a:r>
            <a:endParaRPr lang="it-IT"/>
          </a:p>
        </p:txBody>
      </p:sp>
      <p:cxnSp>
        <p:nvCxnSpPr>
          <p:cNvPr id="30" name="Straight Connector 29">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4" name="Freeform: Shape 33">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Oval 35">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0" name="Arc 39">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81441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D8BD6-42E4-3258-BC73-B0821AB6A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ABA46-65BE-169E-0481-0530F37B8EBB}"/>
              </a:ext>
            </a:extLst>
          </p:cNvPr>
          <p:cNvSpPr>
            <a:spLocks noGrp="1"/>
          </p:cNvSpPr>
          <p:nvPr>
            <p:ph type="title"/>
          </p:nvPr>
        </p:nvSpPr>
        <p:spPr>
          <a:xfrm>
            <a:off x="411480" y="991443"/>
            <a:ext cx="4443154" cy="1087819"/>
          </a:xfrm>
        </p:spPr>
        <p:txBody>
          <a:bodyPr anchor="b">
            <a:normAutofit/>
          </a:bodyPr>
          <a:lstStyle/>
          <a:p>
            <a:r>
              <a:rPr lang="en-US" sz="3400"/>
              <a:t>What does Knowledge mean?</a:t>
            </a:r>
          </a:p>
        </p:txBody>
      </p:sp>
      <p:sp>
        <p:nvSpPr>
          <p:cNvPr id="3" name="Content Placeholder 2">
            <a:extLst>
              <a:ext uri="{FF2B5EF4-FFF2-40B4-BE49-F238E27FC236}">
                <a16:creationId xmlns:a16="http://schemas.microsoft.com/office/drawing/2014/main" id="{A2FE955C-8DD2-BA46-FECF-6DE1483668EF}"/>
              </a:ext>
            </a:extLst>
          </p:cNvPr>
          <p:cNvSpPr>
            <a:spLocks noGrp="1"/>
          </p:cNvSpPr>
          <p:nvPr>
            <p:ph idx="1"/>
          </p:nvPr>
        </p:nvSpPr>
        <p:spPr>
          <a:xfrm>
            <a:off x="408864" y="2420036"/>
            <a:ext cx="4968859" cy="3930452"/>
          </a:xfrm>
        </p:spPr>
        <p:txBody>
          <a:bodyPr vert="horz" lIns="91440" tIns="45720" rIns="91440" bIns="45720" rtlCol="0" anchor="t">
            <a:normAutofit fontScale="92500" lnSpcReduction="20000"/>
          </a:bodyPr>
          <a:lstStyle/>
          <a:p>
            <a:r>
              <a:rPr lang="en-US" sz="1900" b="1"/>
              <a:t>Data</a:t>
            </a:r>
            <a:r>
              <a:rPr lang="en-US" sz="1900"/>
              <a:t>: raw facts or values, without interpretation.</a:t>
            </a:r>
            <a:endParaRPr lang="it-IT" sz="1900"/>
          </a:p>
          <a:p>
            <a:pPr marL="0" indent="0">
              <a:buNone/>
            </a:pPr>
            <a:r>
              <a:rPr lang="en-US" sz="1700"/>
              <a:t>       </a:t>
            </a:r>
            <a:endParaRPr lang="it-IT" sz="1700"/>
          </a:p>
          <a:p>
            <a:r>
              <a:rPr lang="en-US" sz="1900" b="1"/>
              <a:t>Information</a:t>
            </a:r>
            <a:r>
              <a:rPr lang="en-US" sz="1900"/>
              <a:t>: the outcome of data processing and  context/meaning retrieval.</a:t>
            </a:r>
          </a:p>
          <a:p>
            <a:pPr marL="0" indent="0">
              <a:buNone/>
            </a:pPr>
            <a:r>
              <a:rPr lang="en-US" sz="1700"/>
              <a:t>                          </a:t>
            </a:r>
          </a:p>
          <a:p>
            <a:r>
              <a:rPr lang="en-US" sz="1900" b="1"/>
              <a:t>Knowledge:</a:t>
            </a:r>
            <a:r>
              <a:rPr lang="en-US" sz="1900"/>
              <a:t> the outcome of understanding  information</a:t>
            </a:r>
          </a:p>
          <a:p>
            <a:pPr marL="0" indent="0">
              <a:buNone/>
            </a:pPr>
            <a:r>
              <a:rPr lang="en-US" sz="1600"/>
              <a:t>    </a:t>
            </a:r>
            <a:endParaRPr lang="it-IT" sz="1600"/>
          </a:p>
          <a:p>
            <a:r>
              <a:rPr lang="en-US" sz="1900" b="1"/>
              <a:t>Wisdom: </a:t>
            </a:r>
            <a:r>
              <a:rPr lang="en-US" sz="1900"/>
              <a:t>the applied understanding and insight gained from knowledge, allowing for well-informed decisions and effective action</a:t>
            </a:r>
          </a:p>
          <a:p>
            <a:pPr marL="1828800" lvl="4" indent="0">
              <a:buNone/>
            </a:pPr>
            <a:r>
              <a:rPr lang="en-US" sz="1600"/>
              <a:t>     </a:t>
            </a:r>
          </a:p>
          <a:p>
            <a:pPr>
              <a:buNone/>
            </a:pPr>
            <a:r>
              <a:rPr lang="en-US" sz="1600"/>
              <a:t>  </a:t>
            </a:r>
          </a:p>
        </p:txBody>
      </p:sp>
      <p:pic>
        <p:nvPicPr>
          <p:cNvPr id="5" name="Immagine 4">
            <a:extLst>
              <a:ext uri="{FF2B5EF4-FFF2-40B4-BE49-F238E27FC236}">
                <a16:creationId xmlns:a16="http://schemas.microsoft.com/office/drawing/2014/main" id="{DBBE4702-35E0-FCE9-0705-086C4FC60505}"/>
              </a:ext>
            </a:extLst>
          </p:cNvPr>
          <p:cNvPicPr>
            <a:picLocks noChangeAspect="1"/>
          </p:cNvPicPr>
          <p:nvPr/>
        </p:nvPicPr>
        <p:blipFill>
          <a:blip r:embed="rId2"/>
          <a:stretch>
            <a:fillRect/>
          </a:stretch>
        </p:blipFill>
        <p:spPr>
          <a:xfrm>
            <a:off x="5385816" y="631940"/>
            <a:ext cx="6440424" cy="5538765"/>
          </a:xfrm>
          <a:prstGeom prst="rect">
            <a:avLst/>
          </a:prstGeom>
        </p:spPr>
      </p:pic>
    </p:spTree>
    <p:extLst>
      <p:ext uri="{BB962C8B-B14F-4D97-AF65-F5344CB8AC3E}">
        <p14:creationId xmlns:p14="http://schemas.microsoft.com/office/powerpoint/2010/main" val="230387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AD06F-E4BD-FA4D-C58A-24F884C8A001}"/>
            </a:ext>
          </a:extLst>
        </p:cNvPr>
        <p:cNvGrpSpPr/>
        <p:nvPr/>
      </p:nvGrpSpPr>
      <p:grpSpPr>
        <a:xfrm>
          <a:off x="0" y="0"/>
          <a:ext cx="0" cy="0"/>
          <a:chOff x="0" y="0"/>
          <a:chExt cx="0" cy="0"/>
        </a:xfrm>
      </p:grpSpPr>
      <p:pic>
        <p:nvPicPr>
          <p:cNvPr id="7" name="Immagine 4" descr="Immagine che contiene testo, schermata, Carattere, logo&#10;&#10;Il contenuto generato dall&amp;#39;IA potrebbe non essere corretto.">
            <a:extLst>
              <a:ext uri="{FF2B5EF4-FFF2-40B4-BE49-F238E27FC236}">
                <a16:creationId xmlns:a16="http://schemas.microsoft.com/office/drawing/2014/main" id="{118B1691-07B2-02D8-E680-FC3F8E088A9A}"/>
              </a:ext>
            </a:extLst>
          </p:cNvPr>
          <p:cNvPicPr>
            <a:picLocks noChangeAspect="1"/>
          </p:cNvPicPr>
          <p:nvPr/>
        </p:nvPicPr>
        <p:blipFill>
          <a:blip r:embed="rId2"/>
          <a:stretch>
            <a:fillRect/>
          </a:stretch>
        </p:blipFill>
        <p:spPr>
          <a:xfrm>
            <a:off x="-1347" y="499033"/>
            <a:ext cx="6077145" cy="5184347"/>
          </a:xfrm>
          <a:prstGeom prst="rect">
            <a:avLst/>
          </a:prstGeom>
        </p:spPr>
      </p:pic>
      <p:sp>
        <p:nvSpPr>
          <p:cNvPr id="3" name="Content Placeholder 2">
            <a:extLst>
              <a:ext uri="{FF2B5EF4-FFF2-40B4-BE49-F238E27FC236}">
                <a16:creationId xmlns:a16="http://schemas.microsoft.com/office/drawing/2014/main" id="{BC6B8A3C-3FFA-4450-D99A-6C7E059FC00D}"/>
              </a:ext>
            </a:extLst>
          </p:cNvPr>
          <p:cNvSpPr>
            <a:spLocks noGrp="1"/>
          </p:cNvSpPr>
          <p:nvPr>
            <p:ph idx="1"/>
          </p:nvPr>
        </p:nvSpPr>
        <p:spPr>
          <a:xfrm>
            <a:off x="5737941" y="90585"/>
            <a:ext cx="6442464" cy="6086377"/>
          </a:xfrm>
        </p:spPr>
        <p:txBody>
          <a:bodyPr vert="horz" lIns="91440" tIns="45720" rIns="91440" bIns="45720" rtlCol="0" anchor="t">
            <a:normAutofit fontScale="85000" lnSpcReduction="20000"/>
          </a:bodyPr>
          <a:lstStyle/>
          <a:p>
            <a:r>
              <a:rPr lang="en-US" sz="1800" b="1"/>
              <a:t>Data: </a:t>
            </a:r>
            <a:r>
              <a:rPr lang="en-US" sz="2100"/>
              <a:t>raw facts or values, without interpretation.</a:t>
            </a:r>
          </a:p>
          <a:p>
            <a:pPr marL="2743200" lvl="6" indent="0">
              <a:buNone/>
            </a:pPr>
            <a:endParaRPr lang="it-IT"/>
          </a:p>
          <a:p>
            <a:pPr marL="2743200" lvl="6" indent="0">
              <a:buNone/>
            </a:pPr>
            <a:r>
              <a:rPr lang="en-US" i="1"/>
              <a:t>"Catania", "Sicily", "Italy"</a:t>
            </a:r>
            <a:endParaRPr lang="en-US"/>
          </a:p>
          <a:p>
            <a:pPr marL="2743200" lvl="6" indent="0">
              <a:buNone/>
            </a:pPr>
            <a:endParaRPr lang="en-US"/>
          </a:p>
          <a:p>
            <a:r>
              <a:rPr lang="en-US" sz="1800" b="1"/>
              <a:t>Information: </a:t>
            </a:r>
            <a:r>
              <a:rPr lang="en-US" sz="2100"/>
              <a:t>the outcome of data processing and  context/meaning retrieval.</a:t>
            </a:r>
            <a:endParaRPr lang="en-US"/>
          </a:p>
          <a:p>
            <a:endParaRPr lang="en-US"/>
          </a:p>
          <a:p>
            <a:pPr marL="0" indent="0">
              <a:buNone/>
            </a:pPr>
            <a:r>
              <a:rPr lang="en-US" sz="1800" i="1"/>
              <a:t>                                           Catania is in Sicily, Sicily is in Italy  </a:t>
            </a:r>
            <a:endParaRPr lang="en-US"/>
          </a:p>
          <a:p>
            <a:pPr marL="0" indent="0">
              <a:buNone/>
            </a:pPr>
            <a:endParaRPr lang="en-US"/>
          </a:p>
          <a:p>
            <a:r>
              <a:rPr lang="en-US" sz="1800" b="1"/>
              <a:t>Knowledge: </a:t>
            </a:r>
            <a:r>
              <a:rPr lang="en-US" sz="1800"/>
              <a:t>the outcome of understanding  information</a:t>
            </a:r>
            <a:endParaRPr lang="en-US"/>
          </a:p>
          <a:p>
            <a:endParaRPr lang="en-US"/>
          </a:p>
          <a:p>
            <a:pPr marL="0" indent="0">
              <a:buNone/>
            </a:pPr>
            <a:r>
              <a:rPr lang="en-US" sz="1800" i="1" dirty="0"/>
              <a:t>    </a:t>
            </a:r>
            <a:endParaRPr lang="en-US" dirty="0"/>
          </a:p>
          <a:p>
            <a:pPr marL="0" indent="0">
              <a:buNone/>
            </a:pPr>
            <a:r>
              <a:rPr lang="en-US" sz="1800" i="1"/>
              <a:t>    Catania is a town located in Sicily which is a region of Italy </a:t>
            </a:r>
          </a:p>
          <a:p>
            <a:pPr marL="1828800" lvl="4" indent="0">
              <a:buNone/>
            </a:pPr>
            <a:r>
              <a:rPr lang="en-US" i="1"/>
              <a:t>                                                 </a:t>
            </a:r>
            <a:endParaRPr lang="en-US"/>
          </a:p>
          <a:p>
            <a:pPr marL="1828800" lvl="4" indent="0">
              <a:buNone/>
            </a:pPr>
            <a:r>
              <a:rPr lang="en-US" sz="2000" i="1"/>
              <a:t>Catania -&gt; </a:t>
            </a:r>
            <a:r>
              <a:rPr lang="en-US" sz="2000" i="1" err="1"/>
              <a:t>located_in</a:t>
            </a:r>
            <a:r>
              <a:rPr lang="en-US" sz="2000" i="1"/>
              <a:t> -&gt; Sicily</a:t>
            </a:r>
            <a:endParaRPr lang="en-US"/>
          </a:p>
          <a:p>
            <a:pPr marL="1828800" lvl="4" indent="0">
              <a:buNone/>
            </a:pPr>
            <a:r>
              <a:rPr lang="en-US" sz="2000" i="1"/>
              <a:t> Sicily -&gt; region _of -&gt; Italy</a:t>
            </a:r>
            <a:endParaRPr lang="en-US"/>
          </a:p>
          <a:p>
            <a:pPr marL="1828800" lvl="4" indent="0">
              <a:buNone/>
            </a:pPr>
            <a:r>
              <a:rPr lang="en-US" sz="2000" i="1"/>
              <a:t>  Sicily -&gt; </a:t>
            </a:r>
            <a:r>
              <a:rPr lang="en-US" sz="2000" i="1" err="1"/>
              <a:t>located_in</a:t>
            </a:r>
            <a:r>
              <a:rPr lang="en-US" sz="2000" i="1"/>
              <a:t> -&gt; Italy</a:t>
            </a:r>
            <a:endParaRPr lang="en-US"/>
          </a:p>
          <a:p>
            <a:pPr marL="1828800" lvl="4" indent="0">
              <a:buNone/>
            </a:pPr>
            <a:r>
              <a:rPr lang="en-US" sz="2000" i="1"/>
              <a:t>  Catania-&gt; </a:t>
            </a:r>
            <a:r>
              <a:rPr lang="en-US" sz="2000" i="1" err="1"/>
              <a:t>located_in</a:t>
            </a:r>
            <a:r>
              <a:rPr lang="en-US" sz="2000" i="1"/>
              <a:t>-&gt; Italy</a:t>
            </a:r>
            <a:endParaRPr lang="en-US"/>
          </a:p>
          <a:p>
            <a:pPr lvl="4">
              <a:buNone/>
            </a:pPr>
            <a:r>
              <a:rPr lang="en-US" i="1" dirty="0"/>
              <a:t>    </a:t>
            </a:r>
          </a:p>
          <a:p>
            <a:r>
              <a:rPr lang="en-US" sz="1800" b="1"/>
              <a:t>Wisdom: </a:t>
            </a:r>
            <a:r>
              <a:rPr lang="en-US" sz="1800"/>
              <a:t>the applied understanding and insight gained from knowledge, allowing for well-informed decisions and effective action</a:t>
            </a:r>
          </a:p>
        </p:txBody>
      </p:sp>
    </p:spTree>
    <p:extLst>
      <p:ext uri="{BB962C8B-B14F-4D97-AF65-F5344CB8AC3E}">
        <p14:creationId xmlns:p14="http://schemas.microsoft.com/office/powerpoint/2010/main" val="1463168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92F73-4E39-04A2-A2DE-AC5179DFFC6F}"/>
            </a:ext>
          </a:extLst>
        </p:cNvPr>
        <p:cNvGrpSpPr/>
        <p:nvPr/>
      </p:nvGrpSpPr>
      <p:grpSpPr>
        <a:xfrm>
          <a:off x="0" y="0"/>
          <a:ext cx="0" cy="0"/>
          <a:chOff x="0" y="0"/>
          <a:chExt cx="0" cy="0"/>
        </a:xfrm>
      </p:grpSpPr>
      <p:pic>
        <p:nvPicPr>
          <p:cNvPr id="7" name="Immagine 4" descr="Immagine che contiene testo, schermata, Carattere, logo&#10;&#10;Il contenuto generato dall&amp;#39;IA potrebbe non essere corretto.">
            <a:extLst>
              <a:ext uri="{FF2B5EF4-FFF2-40B4-BE49-F238E27FC236}">
                <a16:creationId xmlns:a16="http://schemas.microsoft.com/office/drawing/2014/main" id="{9AAF4EEF-7B69-B110-77FE-056B1624393B}"/>
              </a:ext>
            </a:extLst>
          </p:cNvPr>
          <p:cNvPicPr>
            <a:picLocks noChangeAspect="1"/>
          </p:cNvPicPr>
          <p:nvPr/>
        </p:nvPicPr>
        <p:blipFill>
          <a:blip r:embed="rId2"/>
          <a:stretch>
            <a:fillRect/>
          </a:stretch>
        </p:blipFill>
        <p:spPr>
          <a:xfrm>
            <a:off x="-1347" y="499033"/>
            <a:ext cx="5106209" cy="4354750"/>
          </a:xfrm>
          <a:prstGeom prst="rect">
            <a:avLst/>
          </a:prstGeom>
        </p:spPr>
      </p:pic>
      <p:sp>
        <p:nvSpPr>
          <p:cNvPr id="4" name="Content Placeholder 3">
            <a:extLst>
              <a:ext uri="{FF2B5EF4-FFF2-40B4-BE49-F238E27FC236}">
                <a16:creationId xmlns:a16="http://schemas.microsoft.com/office/drawing/2014/main" id="{7815F294-5F4C-E6A0-3516-6BB5A390E4FE}"/>
              </a:ext>
            </a:extLst>
          </p:cNvPr>
          <p:cNvSpPr>
            <a:spLocks noGrp="1"/>
          </p:cNvSpPr>
          <p:nvPr>
            <p:ph idx="1"/>
          </p:nvPr>
        </p:nvSpPr>
        <p:spPr>
          <a:xfrm>
            <a:off x="4242619" y="5457415"/>
            <a:ext cx="4929649" cy="762565"/>
          </a:xfrm>
        </p:spPr>
        <p:txBody>
          <a:bodyPr vert="horz" lIns="91440" tIns="45720" rIns="91440" bIns="45720" rtlCol="0" anchor="t">
            <a:normAutofit/>
          </a:bodyPr>
          <a:lstStyle/>
          <a:p>
            <a:r>
              <a:rPr lang="en-US"/>
              <a:t>Knowledge and Meaning</a:t>
            </a:r>
          </a:p>
          <a:p>
            <a:endParaRPr lang="en-US"/>
          </a:p>
        </p:txBody>
      </p:sp>
      <p:pic>
        <p:nvPicPr>
          <p:cNvPr id="3" name="Immagine 2">
            <a:extLst>
              <a:ext uri="{FF2B5EF4-FFF2-40B4-BE49-F238E27FC236}">
                <a16:creationId xmlns:a16="http://schemas.microsoft.com/office/drawing/2014/main" id="{76551435-9EC3-F89D-3A96-0257D42E32A5}"/>
              </a:ext>
            </a:extLst>
          </p:cNvPr>
          <p:cNvPicPr>
            <a:picLocks noChangeAspect="1"/>
          </p:cNvPicPr>
          <p:nvPr/>
        </p:nvPicPr>
        <p:blipFill>
          <a:blip r:embed="rId3"/>
          <a:stretch>
            <a:fillRect/>
          </a:stretch>
        </p:blipFill>
        <p:spPr>
          <a:xfrm>
            <a:off x="6982558" y="517647"/>
            <a:ext cx="4381500" cy="4333875"/>
          </a:xfrm>
          <a:prstGeom prst="rect">
            <a:avLst/>
          </a:prstGeom>
        </p:spPr>
      </p:pic>
      <p:sp>
        <p:nvSpPr>
          <p:cNvPr id="5" name="CasellaDiTesto 4">
            <a:extLst>
              <a:ext uri="{FF2B5EF4-FFF2-40B4-BE49-F238E27FC236}">
                <a16:creationId xmlns:a16="http://schemas.microsoft.com/office/drawing/2014/main" id="{5F012B99-6185-8273-0A6A-BAEDF7681510}"/>
              </a:ext>
            </a:extLst>
          </p:cNvPr>
          <p:cNvSpPr txBox="1"/>
          <p:nvPr/>
        </p:nvSpPr>
        <p:spPr>
          <a:xfrm>
            <a:off x="10064459" y="4660967"/>
            <a:ext cx="10238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err="1"/>
              <a:t>Referent</a:t>
            </a:r>
          </a:p>
        </p:txBody>
      </p:sp>
      <p:sp>
        <p:nvSpPr>
          <p:cNvPr id="8" name="CasellaDiTesto 7">
            <a:extLst>
              <a:ext uri="{FF2B5EF4-FFF2-40B4-BE49-F238E27FC236}">
                <a16:creationId xmlns:a16="http://schemas.microsoft.com/office/drawing/2014/main" id="{81593C2E-D043-3F13-B1FC-B6E0FB514596}"/>
              </a:ext>
            </a:extLst>
          </p:cNvPr>
          <p:cNvSpPr txBox="1"/>
          <p:nvPr/>
        </p:nvSpPr>
        <p:spPr>
          <a:xfrm>
            <a:off x="8552749" y="144273"/>
            <a:ext cx="1238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a:t>Reference</a:t>
            </a:r>
          </a:p>
        </p:txBody>
      </p:sp>
    </p:spTree>
    <p:extLst>
      <p:ext uri="{BB962C8B-B14F-4D97-AF65-F5344CB8AC3E}">
        <p14:creationId xmlns:p14="http://schemas.microsoft.com/office/powerpoint/2010/main" val="354482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0601F2-2E54-AF40-5425-8C9EB2ABDA78}"/>
              </a:ext>
            </a:extLst>
          </p:cNvPr>
          <p:cNvSpPr>
            <a:spLocks noGrp="1"/>
          </p:cNvSpPr>
          <p:nvPr>
            <p:ph type="title"/>
          </p:nvPr>
        </p:nvSpPr>
        <p:spPr>
          <a:xfrm>
            <a:off x="838200" y="365125"/>
            <a:ext cx="10515600" cy="1325563"/>
          </a:xfrm>
        </p:spPr>
        <p:txBody>
          <a:bodyPr>
            <a:normAutofit/>
          </a:bodyPr>
          <a:lstStyle/>
          <a:p>
            <a:r>
              <a:rPr lang="it-IT" sz="5400">
                <a:ea typeface="+mj-lt"/>
                <a:cs typeface="+mj-lt"/>
              </a:rPr>
              <a:t>knowledge </a:t>
            </a:r>
            <a:r>
              <a:rPr lang="it-IT" sz="5400" err="1">
                <a:ea typeface="+mj-lt"/>
                <a:cs typeface="+mj-lt"/>
              </a:rPr>
              <a:t>is</a:t>
            </a:r>
            <a:r>
              <a:rPr lang="it-IT" sz="5400">
                <a:ea typeface="+mj-lt"/>
                <a:cs typeface="+mj-lt"/>
              </a:rPr>
              <a:t> power </a:t>
            </a:r>
            <a:endParaRPr lang="it-IT" sz="5400"/>
          </a:p>
        </p:txBody>
      </p:sp>
      <p:graphicFrame>
        <p:nvGraphicFramePr>
          <p:cNvPr id="5" name="Segnaposto contenuto 2">
            <a:extLst>
              <a:ext uri="{FF2B5EF4-FFF2-40B4-BE49-F238E27FC236}">
                <a16:creationId xmlns:a16="http://schemas.microsoft.com/office/drawing/2014/main" id="{69517354-74FC-9BE7-58C8-FAD47D7D2E29}"/>
              </a:ext>
            </a:extLst>
          </p:cNvPr>
          <p:cNvGraphicFramePr>
            <a:graphicFrameLocks noGrp="1"/>
          </p:cNvGraphicFramePr>
          <p:nvPr>
            <p:ph idx="1"/>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7904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0CBA7-1B45-6A88-6712-12906EE16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0B4A1-AC67-ACB9-0F60-6DD58E2263A1}"/>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1EDDC4AD-D5E5-4271-AD5B-F8E9272EAB3A}"/>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pic>
        <p:nvPicPr>
          <p:cNvPr id="4" name="Immagine 3">
            <a:extLst>
              <a:ext uri="{FF2B5EF4-FFF2-40B4-BE49-F238E27FC236}">
                <a16:creationId xmlns:a16="http://schemas.microsoft.com/office/drawing/2014/main" id="{D8DCC4D5-803E-215E-C9C4-EA7AFA4340EA}"/>
              </a:ext>
            </a:extLst>
          </p:cNvPr>
          <p:cNvPicPr>
            <a:picLocks noChangeAspect="1"/>
          </p:cNvPicPr>
          <p:nvPr/>
        </p:nvPicPr>
        <p:blipFill>
          <a:blip r:embed="rId2"/>
          <a:stretch>
            <a:fillRect/>
          </a:stretch>
        </p:blipFill>
        <p:spPr>
          <a:xfrm>
            <a:off x="7012477" y="0"/>
            <a:ext cx="5175137" cy="6858000"/>
          </a:xfrm>
          <a:prstGeom prst="rect">
            <a:avLst/>
          </a:prstGeom>
        </p:spPr>
      </p:pic>
      <p:sp>
        <p:nvSpPr>
          <p:cNvPr id="6" name="CasellaDiTesto 5">
            <a:extLst>
              <a:ext uri="{FF2B5EF4-FFF2-40B4-BE49-F238E27FC236}">
                <a16:creationId xmlns:a16="http://schemas.microsoft.com/office/drawing/2014/main" id="{6AFDA281-DF32-073D-F950-CEB492D95276}"/>
              </a:ext>
            </a:extLst>
          </p:cNvPr>
          <p:cNvSpPr txBox="1"/>
          <p:nvPr/>
        </p:nvSpPr>
        <p:spPr>
          <a:xfrm>
            <a:off x="419626" y="3790398"/>
            <a:ext cx="593128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a:ea typeface="+mn-lt"/>
                <a:cs typeface="+mn-lt"/>
              </a:rPr>
              <a:t>Knowledge </a:t>
            </a:r>
            <a:r>
              <a:rPr lang="it-IT" sz="2000" err="1">
                <a:ea typeface="+mn-lt"/>
                <a:cs typeface="+mn-lt"/>
              </a:rPr>
              <a:t>provides</a:t>
            </a:r>
            <a:r>
              <a:rPr lang="it-IT" sz="2000">
                <a:ea typeface="+mn-lt"/>
                <a:cs typeface="+mn-lt"/>
              </a:rPr>
              <a:t> AI with </a:t>
            </a:r>
            <a:r>
              <a:rPr lang="it-IT" sz="2000" err="1">
                <a:ea typeface="+mn-lt"/>
                <a:cs typeface="+mn-lt"/>
              </a:rPr>
              <a:t>representation</a:t>
            </a:r>
            <a:r>
              <a:rPr lang="it-IT" sz="2000">
                <a:ea typeface="+mn-lt"/>
                <a:cs typeface="+mn-lt"/>
              </a:rPr>
              <a:t> of </a:t>
            </a:r>
            <a:r>
              <a:rPr lang="it-IT" sz="2000" err="1">
                <a:ea typeface="+mn-lt"/>
                <a:cs typeface="+mn-lt"/>
              </a:rPr>
              <a:t>entities</a:t>
            </a:r>
            <a:r>
              <a:rPr lang="it-IT" sz="2000">
                <a:ea typeface="+mn-lt"/>
                <a:cs typeface="+mn-lt"/>
              </a:rPr>
              <a:t>, </a:t>
            </a:r>
            <a:r>
              <a:rPr lang="it-IT" sz="2000" err="1">
                <a:ea typeface="+mn-lt"/>
                <a:cs typeface="+mn-lt"/>
              </a:rPr>
              <a:t>relationships</a:t>
            </a:r>
            <a:r>
              <a:rPr lang="it-IT" sz="2000">
                <a:ea typeface="+mn-lt"/>
                <a:cs typeface="+mn-lt"/>
              </a:rPr>
              <a:t>, and </a:t>
            </a:r>
            <a:r>
              <a:rPr lang="it-IT" sz="2000" err="1">
                <a:ea typeface="+mn-lt"/>
                <a:cs typeface="+mn-lt"/>
              </a:rPr>
              <a:t>facts</a:t>
            </a:r>
            <a:r>
              <a:rPr lang="it-IT" sz="2000">
                <a:ea typeface="+mn-lt"/>
                <a:cs typeface="+mn-lt"/>
              </a:rPr>
              <a:t> </a:t>
            </a:r>
            <a:r>
              <a:rPr lang="it-IT" sz="2000" err="1">
                <a:ea typeface="+mn-lt"/>
                <a:cs typeface="+mn-lt"/>
              </a:rPr>
              <a:t>that</a:t>
            </a:r>
            <a:r>
              <a:rPr lang="it-IT" sz="2000">
                <a:ea typeface="+mn-lt"/>
                <a:cs typeface="+mn-lt"/>
              </a:rPr>
              <a:t> can be </a:t>
            </a:r>
            <a:r>
              <a:rPr lang="it-IT" sz="2000" err="1">
                <a:ea typeface="+mn-lt"/>
                <a:cs typeface="+mn-lt"/>
              </a:rPr>
              <a:t>used</a:t>
            </a:r>
            <a:r>
              <a:rPr lang="it-IT" sz="2000">
                <a:ea typeface="+mn-lt"/>
                <a:cs typeface="+mn-lt"/>
              </a:rPr>
              <a:t> to "</a:t>
            </a:r>
            <a:r>
              <a:rPr lang="it-IT" sz="2000" err="1">
                <a:ea typeface="+mn-lt"/>
                <a:cs typeface="+mn-lt"/>
              </a:rPr>
              <a:t>reason</a:t>
            </a:r>
            <a:r>
              <a:rPr lang="it-IT" sz="2000">
                <a:ea typeface="+mn-lt"/>
                <a:cs typeface="+mn-lt"/>
              </a:rPr>
              <a:t>".</a:t>
            </a:r>
            <a:endParaRPr lang="it-IT" sz="2000"/>
          </a:p>
        </p:txBody>
      </p:sp>
    </p:spTree>
    <p:extLst>
      <p:ext uri="{BB962C8B-B14F-4D97-AF65-F5344CB8AC3E}">
        <p14:creationId xmlns:p14="http://schemas.microsoft.com/office/powerpoint/2010/main" val="3807206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84A7A-26E7-965E-6520-2479B525B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5F2A1-6794-2D48-C47C-3ACDF49D92E7}"/>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CADA447F-E29B-AA57-B687-01CF1C404A53}"/>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5" name="TextBox 4">
            <a:extLst>
              <a:ext uri="{FF2B5EF4-FFF2-40B4-BE49-F238E27FC236}">
                <a16:creationId xmlns:a16="http://schemas.microsoft.com/office/drawing/2014/main" id="{5EC9B9F6-0DF9-35AB-403A-D6395B56A3D2}"/>
              </a:ext>
            </a:extLst>
          </p:cNvPr>
          <p:cNvSpPr txBox="1"/>
          <p:nvPr/>
        </p:nvSpPr>
        <p:spPr>
          <a:xfrm>
            <a:off x="6606791" y="1369089"/>
            <a:ext cx="521677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solidFill>
                  <a:srgbClr val="151E29"/>
                </a:solidFill>
                <a:latin typeface="syne-neo"/>
                <a:ea typeface="syne-neo"/>
                <a:cs typeface="syne-neo"/>
              </a:rPr>
              <a:t>The knowledge layer provides the reasoning and context AI agents need</a:t>
            </a:r>
          </a:p>
          <a:p>
            <a:pPr algn="ctr"/>
            <a:endParaRPr lang="en-US"/>
          </a:p>
        </p:txBody>
      </p:sp>
      <p:pic>
        <p:nvPicPr>
          <p:cNvPr id="8" name="Picture 7">
            <a:extLst>
              <a:ext uri="{FF2B5EF4-FFF2-40B4-BE49-F238E27FC236}">
                <a16:creationId xmlns:a16="http://schemas.microsoft.com/office/drawing/2014/main" id="{B0CC4895-39D7-21AA-1AB5-BBD2FAFA650D}"/>
              </a:ext>
            </a:extLst>
          </p:cNvPr>
          <p:cNvPicPr>
            <a:picLocks noChangeAspect="1"/>
          </p:cNvPicPr>
          <p:nvPr/>
        </p:nvPicPr>
        <p:blipFill>
          <a:blip r:embed="rId2"/>
          <a:stretch>
            <a:fillRect/>
          </a:stretch>
        </p:blipFill>
        <p:spPr>
          <a:xfrm>
            <a:off x="1380654" y="2514862"/>
            <a:ext cx="9229725" cy="3971925"/>
          </a:xfrm>
          <a:prstGeom prst="rect">
            <a:avLst/>
          </a:prstGeom>
        </p:spPr>
      </p:pic>
    </p:spTree>
    <p:extLst>
      <p:ext uri="{BB962C8B-B14F-4D97-AF65-F5344CB8AC3E}">
        <p14:creationId xmlns:p14="http://schemas.microsoft.com/office/powerpoint/2010/main" val="2355909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E6C28-7529-7A3C-3CAE-FEA148513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98431-3333-A5FF-1306-A90953C456BE}"/>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4A48B6B8-3D64-7132-ED68-2EDC9A2798A2}"/>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4" name="TextBox 3">
            <a:extLst>
              <a:ext uri="{FF2B5EF4-FFF2-40B4-BE49-F238E27FC236}">
                <a16:creationId xmlns:a16="http://schemas.microsoft.com/office/drawing/2014/main" id="{30C2483C-B1B2-5721-9621-15C645857C5D}"/>
              </a:ext>
            </a:extLst>
          </p:cNvPr>
          <p:cNvSpPr txBox="1"/>
          <p:nvPr/>
        </p:nvSpPr>
        <p:spPr>
          <a:xfrm>
            <a:off x="387127" y="4146986"/>
            <a:ext cx="8505723"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151E29"/>
                </a:solidFill>
                <a:highlight>
                  <a:srgbClr val="FFFFFF"/>
                </a:highlight>
                <a:ea typeface="+mn-lt"/>
                <a:cs typeface="+mn-lt"/>
              </a:rPr>
              <a:t>Example: Loan office. </a:t>
            </a:r>
            <a:endParaRPr lang="en-US" sz="2000" b="1">
              <a:solidFill>
                <a:srgbClr val="000000"/>
              </a:solidFill>
              <a:ea typeface="+mn-lt"/>
              <a:cs typeface="+mn-lt"/>
            </a:endParaRPr>
          </a:p>
          <a:p>
            <a:r>
              <a:rPr lang="en-US" sz="2000">
                <a:solidFill>
                  <a:srgbClr val="151E29"/>
                </a:solidFill>
                <a:highlight>
                  <a:srgbClr val="FFFFFF"/>
                </a:highlight>
                <a:ea typeface="+mn-lt"/>
                <a:cs typeface="+mn-lt"/>
              </a:rPr>
              <a:t>A request for a $25,000 credit line increase is denied:</a:t>
            </a:r>
            <a:endParaRPr lang="en-US" sz="2000">
              <a:ea typeface="+mn-lt"/>
              <a:cs typeface="+mn-lt"/>
            </a:endParaRPr>
          </a:p>
          <a:p>
            <a:pPr marL="285750" indent="-285750">
              <a:buFont typeface="Arial"/>
              <a:buChar char="•"/>
            </a:pPr>
            <a:r>
              <a:rPr lang="en-US" sz="2000">
                <a:solidFill>
                  <a:srgbClr val="151E29"/>
                </a:solidFill>
                <a:highlight>
                  <a:srgbClr val="FFFFFF"/>
                </a:highlight>
                <a:ea typeface="+mn-lt"/>
                <a:cs typeface="+mn-lt"/>
              </a:rPr>
              <a:t>How past loan decisions influenced the recommendation?</a:t>
            </a:r>
            <a:endParaRPr lang="en-US" sz="2000">
              <a:ea typeface="+mn-lt"/>
              <a:cs typeface="+mn-lt"/>
            </a:endParaRPr>
          </a:p>
          <a:p>
            <a:pPr marL="285750" indent="-285750">
              <a:buFont typeface="Arial"/>
              <a:buChar char="•"/>
            </a:pPr>
            <a:r>
              <a:rPr lang="en-US" sz="2000">
                <a:solidFill>
                  <a:srgbClr val="151E29"/>
                </a:solidFill>
                <a:highlight>
                  <a:srgbClr val="FFFFFF"/>
                </a:highlight>
                <a:ea typeface="+mn-lt"/>
                <a:cs typeface="+mn-lt"/>
              </a:rPr>
              <a:t>What policies were applied?</a:t>
            </a:r>
            <a:endParaRPr lang="en-US" sz="2000">
              <a:ea typeface="+mn-lt"/>
              <a:cs typeface="+mn-lt"/>
            </a:endParaRPr>
          </a:p>
          <a:p>
            <a:pPr marL="285750" indent="-285750">
              <a:buFont typeface="Arial"/>
              <a:buChar char="•"/>
            </a:pPr>
            <a:r>
              <a:rPr lang="en-US" sz="2000">
                <a:solidFill>
                  <a:srgbClr val="151E29"/>
                </a:solidFill>
                <a:highlight>
                  <a:srgbClr val="FFFFFF"/>
                </a:highlight>
                <a:ea typeface="+mn-lt"/>
                <a:cs typeface="+mn-lt"/>
              </a:rPr>
              <a:t>If the recommendation is wrong, what caused the mistake?</a:t>
            </a:r>
            <a:endParaRPr lang="en-US" sz="2000">
              <a:ea typeface="+mn-lt"/>
              <a:cs typeface="+mn-lt"/>
            </a:endParaRPr>
          </a:p>
          <a:p>
            <a:pPr algn="l"/>
            <a:endParaRPr lang="en-US"/>
          </a:p>
        </p:txBody>
      </p:sp>
      <p:sp>
        <p:nvSpPr>
          <p:cNvPr id="6" name="TextBox 5">
            <a:extLst>
              <a:ext uri="{FF2B5EF4-FFF2-40B4-BE49-F238E27FC236}">
                <a16:creationId xmlns:a16="http://schemas.microsoft.com/office/drawing/2014/main" id="{D2CBE85A-6489-3ABB-24AE-409B6A19EFC5}"/>
              </a:ext>
            </a:extLst>
          </p:cNvPr>
          <p:cNvSpPr txBox="1"/>
          <p:nvPr/>
        </p:nvSpPr>
        <p:spPr>
          <a:xfrm>
            <a:off x="1886505" y="6055311"/>
            <a:ext cx="104608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We want to understand the decision history and (relevant) causal relationships relevant </a:t>
            </a:r>
          </a:p>
        </p:txBody>
      </p:sp>
      <p:pic>
        <p:nvPicPr>
          <p:cNvPr id="7" name="Picture 6">
            <a:extLst>
              <a:ext uri="{FF2B5EF4-FFF2-40B4-BE49-F238E27FC236}">
                <a16:creationId xmlns:a16="http://schemas.microsoft.com/office/drawing/2014/main" id="{9F6D8320-9CDD-FBFE-4E50-5D0C45E6FB23}"/>
              </a:ext>
            </a:extLst>
          </p:cNvPr>
          <p:cNvPicPr>
            <a:picLocks noChangeAspect="1"/>
          </p:cNvPicPr>
          <p:nvPr/>
        </p:nvPicPr>
        <p:blipFill>
          <a:blip r:embed="rId2"/>
          <a:srcRect r="-121" b="193"/>
          <a:stretch>
            <a:fillRect/>
          </a:stretch>
        </p:blipFill>
        <p:spPr>
          <a:xfrm>
            <a:off x="4996942" y="12502"/>
            <a:ext cx="7192433" cy="4549006"/>
          </a:xfrm>
          <a:prstGeom prst="rect">
            <a:avLst/>
          </a:prstGeom>
        </p:spPr>
      </p:pic>
    </p:spTree>
    <p:extLst>
      <p:ext uri="{BB962C8B-B14F-4D97-AF65-F5344CB8AC3E}">
        <p14:creationId xmlns:p14="http://schemas.microsoft.com/office/powerpoint/2010/main" val="489105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8C920-D69C-0E1C-F415-0BFD6A0FA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21FC3-150A-05D6-E375-21540760C5C6}"/>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CAE1C2F6-36DE-E3C7-8E8A-FA921EA9A09F}"/>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7" name="TextBox 6">
            <a:extLst>
              <a:ext uri="{FF2B5EF4-FFF2-40B4-BE49-F238E27FC236}">
                <a16:creationId xmlns:a16="http://schemas.microsoft.com/office/drawing/2014/main" id="{855FE06E-8656-1E5E-A316-6A4FE157C58A}"/>
              </a:ext>
            </a:extLst>
          </p:cNvPr>
          <p:cNvSpPr txBox="1"/>
          <p:nvPr/>
        </p:nvSpPr>
        <p:spPr>
          <a:xfrm>
            <a:off x="340310" y="2681796"/>
            <a:ext cx="1177031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solidFill>
                  <a:srgbClr val="151E29"/>
                </a:solidFill>
                <a:latin typeface="Public Sans"/>
                <a:ea typeface="Public Sans"/>
                <a:cs typeface="Public Sans"/>
              </a:rPr>
              <a:t>Increase productivity:</a:t>
            </a:r>
            <a:r>
              <a:rPr lang="en-US" b="1">
                <a:solidFill>
                  <a:srgbClr val="151E29"/>
                </a:solidFill>
                <a:latin typeface="Public Sans"/>
                <a:ea typeface="Public Sans"/>
                <a:cs typeface="Public Sans"/>
              </a:rPr>
              <a:t> </a:t>
            </a:r>
            <a:endParaRPr lang="en-US">
              <a:solidFill>
                <a:srgbClr val="151E29"/>
              </a:solidFill>
              <a:latin typeface="Public Sans"/>
              <a:ea typeface="Public Sans"/>
              <a:cs typeface="Public Sans"/>
            </a:endParaRPr>
          </a:p>
          <a:p>
            <a:pPr>
              <a:buFont typeface=""/>
              <a:buChar char="•"/>
            </a:pPr>
            <a:r>
              <a:rPr lang="en-US" b="1">
                <a:solidFill>
                  <a:srgbClr val="151E29"/>
                </a:solidFill>
                <a:latin typeface="Public Sans"/>
                <a:ea typeface="Public Sans"/>
                <a:cs typeface="Public Sans"/>
              </a:rPr>
              <a:t> </a:t>
            </a:r>
            <a:r>
              <a:rPr lang="en-US">
                <a:solidFill>
                  <a:srgbClr val="151E29"/>
                </a:solidFill>
                <a:ea typeface="+mn-lt"/>
                <a:cs typeface="+mn-lt"/>
              </a:rPr>
              <a:t>Gilead Sciences implemented a knowledge layer and improved fraud detection by 1000x. </a:t>
            </a:r>
            <a:endParaRPr lang="en-US">
              <a:solidFill>
                <a:srgbClr val="151E29"/>
              </a:solidFill>
              <a:latin typeface="Public Sans"/>
              <a:ea typeface="Public Sans"/>
              <a:cs typeface="Public Sans"/>
            </a:endParaRPr>
          </a:p>
          <a:p>
            <a:pPr lvl="6"/>
            <a:r>
              <a:rPr lang="en-US">
                <a:solidFill>
                  <a:srgbClr val="151E29"/>
                </a:solidFill>
                <a:ea typeface="+mn-lt"/>
                <a:cs typeface="+mn-lt"/>
              </a:rPr>
              <a:t>(https://neo4j.com/customer-stories/gilead/)</a:t>
            </a:r>
            <a:endParaRPr lang="en-US" b="1">
              <a:solidFill>
                <a:srgbClr val="151E29"/>
              </a:solidFill>
              <a:latin typeface="Public Sans"/>
              <a:ea typeface="Public Sans"/>
              <a:cs typeface="Public Sans"/>
            </a:endParaRPr>
          </a:p>
          <a:p>
            <a:pPr algn="ctr"/>
            <a:endParaRPr lang="en-US"/>
          </a:p>
        </p:txBody>
      </p:sp>
      <p:sp>
        <p:nvSpPr>
          <p:cNvPr id="4" name="TextBox 3">
            <a:extLst>
              <a:ext uri="{FF2B5EF4-FFF2-40B4-BE49-F238E27FC236}">
                <a16:creationId xmlns:a16="http://schemas.microsoft.com/office/drawing/2014/main" id="{AA0038A0-5DEC-8A5B-D7F3-84A0E26E3811}"/>
              </a:ext>
            </a:extLst>
          </p:cNvPr>
          <p:cNvSpPr txBox="1"/>
          <p:nvPr/>
        </p:nvSpPr>
        <p:spPr>
          <a:xfrm>
            <a:off x="375635" y="3573887"/>
            <a:ext cx="1151585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buFont typeface="Courier New"/>
              <a:buChar char="o"/>
            </a:pPr>
            <a:r>
              <a:rPr lang="en-US">
                <a:solidFill>
                  <a:srgbClr val="151E29"/>
                </a:solidFill>
                <a:latin typeface="Public Sans"/>
                <a:ea typeface="Public Sans"/>
                <a:cs typeface="Public Sans"/>
              </a:rPr>
              <a:t> </a:t>
            </a:r>
            <a:r>
              <a:rPr lang="en-US" b="0" i="0">
                <a:solidFill>
                  <a:srgbClr val="151E29"/>
                </a:solidFill>
                <a:latin typeface="Public Sans"/>
                <a:ea typeface="Public Sans"/>
                <a:cs typeface="Public Sans"/>
              </a:rPr>
              <a:t>Prescription and claims activity</a:t>
            </a:r>
            <a:endParaRPr lang="en-US"/>
          </a:p>
          <a:p>
            <a:pPr lvl="1">
              <a:buFont typeface="Courier New"/>
              <a:buChar char="o"/>
            </a:pPr>
            <a:r>
              <a:rPr lang="en-US">
                <a:solidFill>
                  <a:srgbClr val="151E29"/>
                </a:solidFill>
                <a:latin typeface="Public Sans"/>
                <a:ea typeface="Public Sans"/>
                <a:cs typeface="Public Sans"/>
              </a:rPr>
              <a:t> </a:t>
            </a:r>
            <a:r>
              <a:rPr lang="en-US" b="0" i="0">
                <a:solidFill>
                  <a:srgbClr val="151E29"/>
                </a:solidFill>
                <a:latin typeface="Public Sans"/>
                <a:ea typeface="Public Sans"/>
                <a:cs typeface="Public Sans"/>
              </a:rPr>
              <a:t>Pharmacy and prescriber records</a:t>
            </a:r>
          </a:p>
          <a:p>
            <a:pPr lvl="1">
              <a:buFont typeface="Courier New"/>
              <a:buChar char="o"/>
            </a:pPr>
            <a:r>
              <a:rPr lang="en-US">
                <a:solidFill>
                  <a:srgbClr val="151E29"/>
                </a:solidFill>
                <a:latin typeface="Public Sans"/>
                <a:ea typeface="Public Sans"/>
                <a:cs typeface="Public Sans"/>
              </a:rPr>
              <a:t> </a:t>
            </a:r>
            <a:r>
              <a:rPr lang="en-US" b="0" i="0">
                <a:solidFill>
                  <a:srgbClr val="151E29"/>
                </a:solidFill>
                <a:latin typeface="Public Sans"/>
                <a:ea typeface="Public Sans"/>
                <a:cs typeface="Public Sans"/>
              </a:rPr>
              <a:t>Program utilization data</a:t>
            </a:r>
          </a:p>
          <a:p>
            <a:pPr lvl="1">
              <a:buFont typeface="Courier New"/>
              <a:buChar char="o"/>
            </a:pPr>
            <a:r>
              <a:rPr lang="en-US">
                <a:solidFill>
                  <a:srgbClr val="151E29"/>
                </a:solidFill>
                <a:latin typeface="Public Sans"/>
                <a:ea typeface="Public Sans"/>
                <a:cs typeface="Public Sans"/>
              </a:rPr>
              <a:t> </a:t>
            </a:r>
            <a:r>
              <a:rPr lang="en-US" b="0" i="0">
                <a:solidFill>
                  <a:srgbClr val="151E29"/>
                </a:solidFill>
                <a:latin typeface="Public Sans"/>
                <a:ea typeface="Public Sans"/>
                <a:cs typeface="Public Sans"/>
              </a:rPr>
              <a:t>Geographic and temporal indicators</a:t>
            </a:r>
          </a:p>
          <a:p>
            <a:pPr>
              <a:buFont typeface=""/>
              <a:buChar char="•"/>
            </a:pPr>
            <a:endParaRPr lang="en-US">
              <a:solidFill>
                <a:srgbClr val="151E29"/>
              </a:solidFill>
              <a:latin typeface="Public Sans"/>
              <a:ea typeface="Public Sans"/>
              <a:cs typeface="Public Sans"/>
            </a:endParaRPr>
          </a:p>
          <a:p>
            <a:r>
              <a:rPr lang="en-US" b="0" i="0">
                <a:solidFill>
                  <a:srgbClr val="151E29"/>
                </a:solidFill>
                <a:latin typeface="Public Sans"/>
                <a:ea typeface="Public Sans"/>
                <a:cs typeface="Public Sans"/>
              </a:rPr>
              <a:t>“</a:t>
            </a:r>
            <a:r>
              <a:rPr lang="en-US" b="0" i="1">
                <a:solidFill>
                  <a:srgbClr val="151E29"/>
                </a:solidFill>
                <a:latin typeface="Public Sans"/>
                <a:ea typeface="Public Sans"/>
                <a:cs typeface="Public Sans"/>
              </a:rPr>
              <a:t>These data sets weren’t built to talk to each other</a:t>
            </a:r>
            <a:r>
              <a:rPr lang="en-US" i="1">
                <a:solidFill>
                  <a:srgbClr val="151E29"/>
                </a:solidFill>
                <a:latin typeface="Public Sans"/>
                <a:ea typeface="Public Sans"/>
                <a:cs typeface="Public Sans"/>
              </a:rPr>
              <a:t>. </a:t>
            </a:r>
            <a:r>
              <a:rPr lang="en-US" b="0" i="1">
                <a:solidFill>
                  <a:srgbClr val="151E29"/>
                </a:solidFill>
                <a:latin typeface="Public Sans"/>
                <a:ea typeface="Public Sans"/>
                <a:cs typeface="Public Sans"/>
              </a:rPr>
              <a:t>You can learn something from each one independently, but the real insight comes from understanding how they relate.</a:t>
            </a:r>
            <a:r>
              <a:rPr lang="en-US" b="0" i="0">
                <a:solidFill>
                  <a:srgbClr val="151E29"/>
                </a:solidFill>
                <a:latin typeface="Public Sans"/>
                <a:ea typeface="Public Sans"/>
                <a:cs typeface="Public Sans"/>
              </a:rPr>
              <a:t>”</a:t>
            </a:r>
          </a:p>
          <a:p>
            <a:endParaRPr lang="en-US">
              <a:solidFill>
                <a:srgbClr val="151E29"/>
              </a:solidFill>
              <a:latin typeface="Public Sans"/>
              <a:ea typeface="Public Sans"/>
              <a:cs typeface="Public Sans"/>
            </a:endParaRPr>
          </a:p>
          <a:p>
            <a:pPr algn="l"/>
            <a:r>
              <a:rPr lang="en-US">
                <a:solidFill>
                  <a:srgbClr val="151E29"/>
                </a:solidFill>
                <a:latin typeface="Public Sans"/>
                <a:ea typeface="Public Sans"/>
                <a:cs typeface="Public Sans"/>
              </a:rPr>
              <a:t>"</a:t>
            </a:r>
            <a:r>
              <a:rPr lang="en-US" b="0" i="1">
                <a:solidFill>
                  <a:srgbClr val="151E29"/>
                </a:solidFill>
                <a:latin typeface="Public Sans"/>
                <a:ea typeface="Public Sans"/>
                <a:cs typeface="Public Sans"/>
              </a:rPr>
              <a:t>When analyzed in isolation, these datasets may obscure broader relationship patterns that are critical to understanding complex activity and supporting investigative decision‑making</a:t>
            </a:r>
            <a:r>
              <a:rPr lang="en-US" i="1">
                <a:solidFill>
                  <a:srgbClr val="151E29"/>
                </a:solidFill>
                <a:latin typeface="Public Sans"/>
                <a:ea typeface="Public Sans"/>
                <a:cs typeface="Public Sans"/>
              </a:rPr>
              <a:t>.</a:t>
            </a:r>
            <a:r>
              <a:rPr lang="en-US">
                <a:solidFill>
                  <a:srgbClr val="151E29"/>
                </a:solidFill>
                <a:latin typeface="Public Sans"/>
                <a:ea typeface="Public Sans"/>
                <a:cs typeface="Public Sans"/>
              </a:rPr>
              <a:t>"</a:t>
            </a:r>
            <a:endParaRPr lang="en-US" b="0" i="0">
              <a:solidFill>
                <a:srgbClr val="151E29"/>
              </a:solidFill>
              <a:latin typeface="Public Sans"/>
              <a:ea typeface="Public Sans"/>
              <a:cs typeface="Public Sans"/>
            </a:endParaRPr>
          </a:p>
          <a:p>
            <a:pPr algn="ctr"/>
            <a:endParaRPr lang="en-US"/>
          </a:p>
        </p:txBody>
      </p:sp>
    </p:spTree>
    <p:extLst>
      <p:ext uri="{BB962C8B-B14F-4D97-AF65-F5344CB8AC3E}">
        <p14:creationId xmlns:p14="http://schemas.microsoft.com/office/powerpoint/2010/main" val="2004649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4A88D-E3C1-BCED-4231-988FBDAA0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BFF48-6399-2209-022E-200C25EC85EA}"/>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2A25D660-5D71-8E54-EB88-623F2730EDEC}"/>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7" name="TextBox 6">
            <a:extLst>
              <a:ext uri="{FF2B5EF4-FFF2-40B4-BE49-F238E27FC236}">
                <a16:creationId xmlns:a16="http://schemas.microsoft.com/office/drawing/2014/main" id="{E851BE33-8088-95AE-8B77-23D0A77F9A91}"/>
              </a:ext>
            </a:extLst>
          </p:cNvPr>
          <p:cNvSpPr txBox="1"/>
          <p:nvPr/>
        </p:nvSpPr>
        <p:spPr>
          <a:xfrm>
            <a:off x="340310" y="2681796"/>
            <a:ext cx="1177031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solidFill>
                  <a:srgbClr val="151E29"/>
                </a:solidFill>
                <a:latin typeface="Public Sans"/>
                <a:ea typeface="Public Sans"/>
                <a:cs typeface="Public Sans"/>
              </a:rPr>
              <a:t>Cut costs: </a:t>
            </a:r>
            <a:r>
              <a:rPr lang="en-US">
                <a:solidFill>
                  <a:srgbClr val="151E29"/>
                </a:solidFill>
                <a:ea typeface="+mn-lt"/>
                <a:cs typeface="+mn-lt"/>
              </a:rPr>
              <a:t>Media Group used a knowledge layer with its AI engine to target ads more precisely and reduced ad costs by 33%</a:t>
            </a:r>
            <a:r>
              <a:rPr lang="en-US">
                <a:solidFill>
                  <a:srgbClr val="151E29"/>
                </a:solidFill>
                <a:latin typeface="Public Sans"/>
                <a:ea typeface="Public Sans"/>
                <a:cs typeface="Public Sans"/>
              </a:rPr>
              <a:t>.</a:t>
            </a:r>
            <a:endParaRPr lang="en-US">
              <a:solidFill>
                <a:srgbClr val="151E29"/>
              </a:solidFill>
              <a:latin typeface="Public Sans"/>
            </a:endParaRPr>
          </a:p>
          <a:p>
            <a:r>
              <a:rPr lang="en-US">
                <a:solidFill>
                  <a:srgbClr val="151E29"/>
                </a:solidFill>
                <a:ea typeface="+mn-lt"/>
                <a:cs typeface="+mn-lt"/>
              </a:rPr>
              <a:t>                                                     (https://neo4j.com/customer-stories/whatifmediagroup/)</a:t>
            </a:r>
            <a:endParaRPr lang="en-US"/>
          </a:p>
          <a:p>
            <a:endParaRPr lang="en-US">
              <a:solidFill>
                <a:srgbClr val="151E29"/>
              </a:solidFill>
              <a:latin typeface="Public Sans"/>
              <a:ea typeface="Public Sans"/>
              <a:cs typeface="Public Sans"/>
            </a:endParaRPr>
          </a:p>
          <a:p>
            <a:endParaRPr lang="en-US">
              <a:solidFill>
                <a:srgbClr val="151E29"/>
              </a:solidFill>
              <a:latin typeface="Public Sans"/>
              <a:ea typeface="Public Sans"/>
              <a:cs typeface="Public Sans"/>
            </a:endParaRPr>
          </a:p>
          <a:p>
            <a:r>
              <a:rPr lang="en-US">
                <a:solidFill>
                  <a:srgbClr val="151E29"/>
                </a:solidFill>
                <a:latin typeface="Public Sans"/>
                <a:ea typeface="+mn-lt"/>
                <a:cs typeface="+mn-lt"/>
              </a:rPr>
              <a:t>“</a:t>
            </a:r>
            <a:r>
              <a:rPr lang="en-US" i="1">
                <a:solidFill>
                  <a:srgbClr val="151E29"/>
                </a:solidFill>
                <a:latin typeface="Public Sans"/>
                <a:ea typeface="+mn-lt"/>
                <a:cs typeface="+mn-lt"/>
              </a:rPr>
              <a:t>We’re moving beyond the era of mass marketing to one of individual understanding. The challenge isn’t just knowing what someone clicked—it’s understanding why they clicked it and what they might need next.</a:t>
            </a:r>
            <a:r>
              <a:rPr lang="en-US">
                <a:solidFill>
                  <a:srgbClr val="151E29"/>
                </a:solidFill>
                <a:latin typeface="Public Sans"/>
                <a:ea typeface="+mn-lt"/>
                <a:cs typeface="+mn-lt"/>
              </a:rPr>
              <a:t>”</a:t>
            </a:r>
            <a:endParaRPr lang="en-US"/>
          </a:p>
          <a:p>
            <a:endParaRPr lang="en-US">
              <a:solidFill>
                <a:srgbClr val="151E29"/>
              </a:solidFill>
              <a:latin typeface="Public Sans"/>
              <a:ea typeface="Public Sans"/>
              <a:cs typeface="Public Sans"/>
            </a:endParaRPr>
          </a:p>
          <a:p>
            <a:pPr algn="ctr"/>
            <a:endParaRPr lang="en-US"/>
          </a:p>
        </p:txBody>
      </p:sp>
    </p:spTree>
    <p:extLst>
      <p:ext uri="{BB962C8B-B14F-4D97-AF65-F5344CB8AC3E}">
        <p14:creationId xmlns:p14="http://schemas.microsoft.com/office/powerpoint/2010/main" val="1475183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6D41-47CD-F559-1616-D039628D8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C788C-49AE-D306-18DA-78E520A6CF40}"/>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5B9B2C57-6392-011B-962B-718C493246EF}"/>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7" name="TextBox 6">
            <a:extLst>
              <a:ext uri="{FF2B5EF4-FFF2-40B4-BE49-F238E27FC236}">
                <a16:creationId xmlns:a16="http://schemas.microsoft.com/office/drawing/2014/main" id="{7B43B505-84F7-71F5-C283-E0A28652ADD2}"/>
              </a:ext>
            </a:extLst>
          </p:cNvPr>
          <p:cNvSpPr txBox="1"/>
          <p:nvPr/>
        </p:nvSpPr>
        <p:spPr>
          <a:xfrm>
            <a:off x="340310" y="2681796"/>
            <a:ext cx="117703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151E29"/>
                </a:solidFill>
                <a:latin typeface="Public Sans"/>
                <a:ea typeface="Public Sans"/>
                <a:cs typeface="Public Sans"/>
              </a:rPr>
              <a:t>Accelerate</a:t>
            </a:r>
            <a:r>
              <a:rPr lang="en-US" b="1" i="0">
                <a:solidFill>
                  <a:srgbClr val="151E29"/>
                </a:solidFill>
                <a:latin typeface="Public Sans"/>
                <a:ea typeface="Public Sans"/>
                <a:cs typeface="Public Sans"/>
              </a:rPr>
              <a:t> time to value</a:t>
            </a:r>
            <a:r>
              <a:rPr lang="en-US" b="0" i="0">
                <a:solidFill>
                  <a:srgbClr val="151E29"/>
                </a:solidFill>
                <a:latin typeface="Public Sans"/>
                <a:ea typeface="Public Sans"/>
                <a:cs typeface="Public Sans"/>
              </a:rPr>
              <a:t>: </a:t>
            </a:r>
            <a:r>
              <a:rPr lang="en-US">
                <a:solidFill>
                  <a:srgbClr val="151E29"/>
                </a:solidFill>
                <a:ea typeface="+mn-lt"/>
                <a:cs typeface="+mn-lt"/>
              </a:rPr>
              <a:t>Arhasi.AI agents (knowledge graph based) delivered a 370% ROI for a US asset management firm and reducing compliance monitoring from 6 months to 6 weeks</a:t>
            </a:r>
            <a:r>
              <a:rPr lang="en-US">
                <a:solidFill>
                  <a:srgbClr val="151E29"/>
                </a:solidFill>
                <a:latin typeface="Public Sans"/>
              </a:rPr>
              <a:t>.</a:t>
            </a:r>
            <a:endParaRPr lang="en-US"/>
          </a:p>
          <a:p>
            <a:pPr algn="ctr"/>
            <a:endParaRPr lang="en-US"/>
          </a:p>
        </p:txBody>
      </p:sp>
      <p:sp>
        <p:nvSpPr>
          <p:cNvPr id="4" name="TextBox 3">
            <a:extLst>
              <a:ext uri="{FF2B5EF4-FFF2-40B4-BE49-F238E27FC236}">
                <a16:creationId xmlns:a16="http://schemas.microsoft.com/office/drawing/2014/main" id="{3DBE4601-4852-0CF8-47E5-9FCF943365DE}"/>
              </a:ext>
            </a:extLst>
          </p:cNvPr>
          <p:cNvSpPr txBox="1"/>
          <p:nvPr/>
        </p:nvSpPr>
        <p:spPr>
          <a:xfrm>
            <a:off x="418564" y="4260761"/>
            <a:ext cx="1093094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151E29"/>
                </a:solidFill>
                <a:latin typeface="Public Sans"/>
                <a:ea typeface="Public Sans"/>
                <a:cs typeface="Public Sans"/>
              </a:rPr>
              <a:t>"</a:t>
            </a:r>
            <a:r>
              <a:rPr lang="en-US" b="0" i="1">
                <a:solidFill>
                  <a:srgbClr val="151E29"/>
                </a:solidFill>
                <a:latin typeface="Public Sans"/>
                <a:ea typeface="Public Sans"/>
                <a:cs typeface="Public Sans"/>
              </a:rPr>
              <a:t>The client had tried vector databases to power AI agents. But vectors only store semantic similarity. They can tell you two documents look alike, but they cannot trace the logical path of a transaction or prove why a specific risk alert was triggered</a:t>
            </a:r>
            <a:r>
              <a:rPr lang="en-US">
                <a:solidFill>
                  <a:srgbClr val="151E29"/>
                </a:solidFill>
                <a:latin typeface="Public Sans"/>
                <a:ea typeface="Public Sans"/>
                <a:cs typeface="Public Sans"/>
              </a:rPr>
              <a:t>"</a:t>
            </a:r>
            <a:endParaRPr lang="en-US"/>
          </a:p>
          <a:p>
            <a:pPr algn="ctr"/>
            <a:endParaRPr lang="en-US"/>
          </a:p>
        </p:txBody>
      </p:sp>
      <p:sp>
        <p:nvSpPr>
          <p:cNvPr id="5" name="TextBox 4">
            <a:extLst>
              <a:ext uri="{FF2B5EF4-FFF2-40B4-BE49-F238E27FC236}">
                <a16:creationId xmlns:a16="http://schemas.microsoft.com/office/drawing/2014/main" id="{FDFBD1B8-3F0D-447E-7E6D-DE3C0137AF20}"/>
              </a:ext>
            </a:extLst>
          </p:cNvPr>
          <p:cNvSpPr txBox="1"/>
          <p:nvPr/>
        </p:nvSpPr>
        <p:spPr>
          <a:xfrm>
            <a:off x="2768958" y="3284113"/>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(https://neo4j.com/customer-stories/arhasi/)</a:t>
            </a:r>
          </a:p>
          <a:p>
            <a:pPr algn="ctr"/>
            <a:endParaRPr lang="en-US"/>
          </a:p>
        </p:txBody>
      </p:sp>
    </p:spTree>
    <p:extLst>
      <p:ext uri="{BB962C8B-B14F-4D97-AF65-F5344CB8AC3E}">
        <p14:creationId xmlns:p14="http://schemas.microsoft.com/office/powerpoint/2010/main" val="2664956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8A17F-7126-72FD-AE0B-586BF8466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8EE46-F22C-BA6D-1D87-F203AF889F1D}"/>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828809EF-60C3-E20C-1EA6-2D22D3707109}"/>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7" name="TextBox 6">
            <a:extLst>
              <a:ext uri="{FF2B5EF4-FFF2-40B4-BE49-F238E27FC236}">
                <a16:creationId xmlns:a16="http://schemas.microsoft.com/office/drawing/2014/main" id="{F10DEA05-26DF-1F77-6300-ED3E91E539A9}"/>
              </a:ext>
            </a:extLst>
          </p:cNvPr>
          <p:cNvSpPr txBox="1"/>
          <p:nvPr/>
        </p:nvSpPr>
        <p:spPr>
          <a:xfrm>
            <a:off x="372507" y="2559876"/>
            <a:ext cx="11738114"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400">
                <a:solidFill>
                  <a:srgbClr val="151E29"/>
                </a:solidFill>
                <a:ea typeface="+mn-lt"/>
                <a:cs typeface="+mn-lt"/>
              </a:rPr>
              <a:t> Knowledge Graphs  provide a structured representation of knowledge.</a:t>
            </a:r>
            <a:endParaRPr lang="en-US" sz="2400">
              <a:ea typeface="+mn-lt"/>
              <a:cs typeface="+mn-lt"/>
            </a:endParaRPr>
          </a:p>
          <a:p>
            <a:pPr>
              <a:buFont typeface=""/>
              <a:buChar char="•"/>
            </a:pPr>
            <a:r>
              <a:rPr lang="en-US" sz="2400">
                <a:ea typeface="+mn-lt"/>
                <a:cs typeface="+mn-lt"/>
              </a:rPr>
              <a:t> Knowledge Graphs support AI systems  in:</a:t>
            </a:r>
          </a:p>
          <a:p>
            <a:pPr lvl="1">
              <a:buFont typeface="Courier New"/>
              <a:buChar char="o"/>
            </a:pPr>
            <a:r>
              <a:rPr lang="en-US" sz="2400">
                <a:ea typeface="+mn-lt"/>
                <a:cs typeface="+mn-lt"/>
              </a:rPr>
              <a:t> identifying  relevant entities;</a:t>
            </a:r>
          </a:p>
          <a:p>
            <a:pPr lvl="1">
              <a:buFont typeface="Courier New"/>
              <a:buChar char="o"/>
            </a:pPr>
            <a:r>
              <a:rPr lang="en-US" sz="2400">
                <a:ea typeface="+mn-lt"/>
                <a:cs typeface="+mn-lt"/>
              </a:rPr>
              <a:t> understanding relationships between concepts;</a:t>
            </a:r>
          </a:p>
          <a:p>
            <a:pPr lvl="1">
              <a:buFont typeface="Courier New"/>
              <a:buChar char="o"/>
            </a:pPr>
            <a:r>
              <a:rPr lang="en-US" sz="2400">
                <a:ea typeface="+mn-lt"/>
                <a:cs typeface="+mn-lt"/>
              </a:rPr>
              <a:t> providing contextual information;</a:t>
            </a:r>
          </a:p>
          <a:p>
            <a:pPr lvl="1">
              <a:buFont typeface="Courier New"/>
              <a:buChar char="o"/>
            </a:pPr>
            <a:r>
              <a:rPr lang="en-US" sz="2400">
                <a:ea typeface="+mn-lt"/>
                <a:cs typeface="+mn-lt"/>
              </a:rPr>
              <a:t> connecting information from different sources;</a:t>
            </a:r>
          </a:p>
          <a:p>
            <a:pPr lvl="1">
              <a:buFont typeface="Courier New"/>
              <a:buChar char="o"/>
            </a:pPr>
            <a:r>
              <a:rPr lang="en-US" sz="2400">
                <a:ea typeface="+mn-lt"/>
                <a:cs typeface="+mn-lt"/>
              </a:rPr>
              <a:t> interpreting complex queries.</a:t>
            </a:r>
            <a:endParaRPr lang="en-US" sz="2400"/>
          </a:p>
          <a:p>
            <a:pPr lvl="1">
              <a:buFont typeface="Courier New"/>
              <a:buChar char="o"/>
            </a:pPr>
            <a:r>
              <a:rPr lang="en-US" sz="2400">
                <a:ea typeface="+mn-lt"/>
                <a:cs typeface="+mn-lt"/>
              </a:rPr>
              <a:t> reducing unsupported or inconsistent answers;</a:t>
            </a:r>
            <a:endParaRPr lang="en-US">
              <a:ea typeface="+mn-lt"/>
              <a:cs typeface="+mn-lt"/>
            </a:endParaRPr>
          </a:p>
          <a:p>
            <a:pPr lvl="1">
              <a:buFont typeface="Courier New"/>
              <a:buChar char="o"/>
            </a:pPr>
            <a:r>
              <a:rPr lang="en-US" sz="2400">
                <a:ea typeface="+mn-lt"/>
                <a:cs typeface="+mn-lt"/>
              </a:rPr>
              <a:t> improving information retrieval;</a:t>
            </a:r>
            <a:endParaRPr lang="en-US">
              <a:ea typeface="+mn-lt"/>
              <a:cs typeface="+mn-lt"/>
            </a:endParaRPr>
          </a:p>
          <a:p>
            <a:pPr lvl="1">
              <a:buFont typeface="Courier New"/>
              <a:buChar char="o"/>
            </a:pPr>
            <a:r>
              <a:rPr lang="en-US" sz="2400">
                <a:ea typeface="+mn-lt"/>
                <a:cs typeface="+mn-lt"/>
              </a:rPr>
              <a:t> verifying and explaining IA output.</a:t>
            </a:r>
            <a:endParaRPr lang="en-US"/>
          </a:p>
          <a:p>
            <a:pPr lvl="1">
              <a:buFont typeface="Courier New"/>
              <a:buChar char="o"/>
            </a:pPr>
            <a:endParaRPr lang="en-US" sz="2400">
              <a:ea typeface="+mn-lt"/>
              <a:cs typeface="+mn-lt"/>
            </a:endParaRPr>
          </a:p>
          <a:p>
            <a:pPr>
              <a:buFont typeface=""/>
              <a:buChar char="•"/>
            </a:pPr>
            <a:endParaRPr lang="en-US" sz="2400"/>
          </a:p>
          <a:p>
            <a:pPr algn="ctr"/>
            <a:endParaRPr lang="en-US"/>
          </a:p>
        </p:txBody>
      </p:sp>
    </p:spTree>
    <p:extLst>
      <p:ext uri="{BB962C8B-B14F-4D97-AF65-F5344CB8AC3E}">
        <p14:creationId xmlns:p14="http://schemas.microsoft.com/office/powerpoint/2010/main" val="3031143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F0169-E835-BF30-AC02-C924075E5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AFC03-8F2E-9162-D155-F8B294E05C13}"/>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467522C3-DA57-85BA-C8CB-D32FBE166FD7}"/>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7" name="TextBox 6">
            <a:extLst>
              <a:ext uri="{FF2B5EF4-FFF2-40B4-BE49-F238E27FC236}">
                <a16:creationId xmlns:a16="http://schemas.microsoft.com/office/drawing/2014/main" id="{451F753D-417D-67E2-87C2-5A2C5646B423}"/>
              </a:ext>
            </a:extLst>
          </p:cNvPr>
          <p:cNvSpPr txBox="1"/>
          <p:nvPr/>
        </p:nvSpPr>
        <p:spPr>
          <a:xfrm>
            <a:off x="340310" y="2559876"/>
            <a:ext cx="1177031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400">
                <a:ea typeface="+mn-lt"/>
                <a:cs typeface="+mn-lt"/>
              </a:rPr>
              <a:t>Knowledge Graphs </a:t>
            </a:r>
            <a:r>
              <a:rPr lang="en-US" sz="2400"/>
              <a:t>provide semantic layer.</a:t>
            </a:r>
            <a:endParaRPr lang="en-US"/>
          </a:p>
          <a:p>
            <a:pPr>
              <a:buFont typeface=""/>
              <a:buChar char="•"/>
            </a:pPr>
            <a:r>
              <a:rPr lang="en-US" sz="2400"/>
              <a:t>Knowledge Graphs support reasoning.</a:t>
            </a:r>
          </a:p>
          <a:p>
            <a:pPr>
              <a:buFont typeface=""/>
              <a:buChar char="•"/>
            </a:pPr>
            <a:r>
              <a:rPr lang="en-US" sz="2400">
                <a:solidFill>
                  <a:srgbClr val="151E29"/>
                </a:solidFill>
              </a:rPr>
              <a:t>Knowledge Graphs support a wide range of AI applications:</a:t>
            </a:r>
            <a:endParaRPr lang="en-US" sz="2400"/>
          </a:p>
          <a:p>
            <a:pPr marL="742950" lvl="1" indent="-285750">
              <a:buFont typeface="Courier New,monospace"/>
              <a:buChar char="o"/>
            </a:pPr>
            <a:r>
              <a:rPr lang="en-US" sz="2400">
                <a:solidFill>
                  <a:srgbClr val="151E29"/>
                </a:solidFill>
              </a:rPr>
              <a:t> Search engines</a:t>
            </a:r>
            <a:endParaRPr lang="en-US" sz="2400"/>
          </a:p>
          <a:p>
            <a:pPr marL="742950" lvl="1" indent="-285750">
              <a:buFont typeface="Courier New,monospace"/>
              <a:buChar char="o"/>
            </a:pPr>
            <a:r>
              <a:rPr lang="en-US" sz="2400">
                <a:solidFill>
                  <a:srgbClr val="151E29"/>
                </a:solidFill>
              </a:rPr>
              <a:t> Recommendation systems</a:t>
            </a:r>
            <a:endParaRPr lang="en-US" sz="2400"/>
          </a:p>
          <a:p>
            <a:pPr marL="742950" lvl="1" indent="-285750">
              <a:buFont typeface="Courier New,monospace"/>
              <a:buChar char="o"/>
            </a:pPr>
            <a:r>
              <a:rPr lang="en-US" sz="2400">
                <a:solidFill>
                  <a:srgbClr val="151E29"/>
                </a:solidFill>
              </a:rPr>
              <a:t> Virtual assistants</a:t>
            </a:r>
            <a:endParaRPr lang="en-US" sz="2400"/>
          </a:p>
          <a:p>
            <a:pPr marL="742950" lvl="1" indent="-285750">
              <a:buFont typeface="Courier New,monospace"/>
              <a:buChar char="o"/>
            </a:pPr>
            <a:r>
              <a:rPr lang="en-US" sz="2400">
                <a:solidFill>
                  <a:srgbClr val="151E29"/>
                </a:solidFill>
              </a:rPr>
              <a:t> Question answering</a:t>
            </a:r>
            <a:endParaRPr lang="en-US" sz="2400"/>
          </a:p>
          <a:p>
            <a:pPr marL="742950" lvl="1" indent="-285750">
              <a:buFont typeface="Courier New,monospace"/>
              <a:buChar char="o"/>
            </a:pPr>
            <a:r>
              <a:rPr lang="en-US" sz="2400">
                <a:solidFill>
                  <a:srgbClr val="151E29"/>
                </a:solidFill>
              </a:rPr>
              <a:t> Semantic search</a:t>
            </a:r>
            <a:endParaRPr lang="en-US" sz="2400"/>
          </a:p>
          <a:p>
            <a:pPr>
              <a:buFont typeface=""/>
              <a:buChar char="•"/>
            </a:pPr>
            <a:endParaRPr lang="en-US" sz="2400"/>
          </a:p>
          <a:p>
            <a:pPr algn="ctr"/>
            <a:endParaRPr lang="en-US"/>
          </a:p>
        </p:txBody>
      </p:sp>
    </p:spTree>
    <p:extLst>
      <p:ext uri="{BB962C8B-B14F-4D97-AF65-F5344CB8AC3E}">
        <p14:creationId xmlns:p14="http://schemas.microsoft.com/office/powerpoint/2010/main" val="3008975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683FD-B987-61D8-F2E9-E2930B96D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E32B9-036F-8A24-4C4E-66103CA70A4E}"/>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81098605-99F3-7719-AA3D-2943B4DFDBC5}"/>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7" name="TextBox 6">
            <a:extLst>
              <a:ext uri="{FF2B5EF4-FFF2-40B4-BE49-F238E27FC236}">
                <a16:creationId xmlns:a16="http://schemas.microsoft.com/office/drawing/2014/main" id="{FE480A4C-FDDF-4CB1-34E7-B18D3EC12B5A}"/>
              </a:ext>
            </a:extLst>
          </p:cNvPr>
          <p:cNvSpPr txBox="1"/>
          <p:nvPr/>
        </p:nvSpPr>
        <p:spPr>
          <a:xfrm>
            <a:off x="340310" y="2681796"/>
            <a:ext cx="11770311"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400">
                <a:solidFill>
                  <a:srgbClr val="151E29"/>
                </a:solidFill>
                <a:ea typeface="+mn-lt"/>
                <a:cs typeface="+mn-lt"/>
              </a:rPr>
              <a:t>Knowledge Graphs can complement Large Language Models (LLMs).</a:t>
            </a:r>
            <a:endParaRPr lang="en-US" sz="2400">
              <a:solidFill>
                <a:srgbClr val="000000"/>
              </a:solidFill>
              <a:ea typeface="+mn-lt"/>
              <a:cs typeface="+mn-lt"/>
            </a:endParaRPr>
          </a:p>
          <a:p>
            <a:pPr lvl="1">
              <a:buFont typeface="Courier New"/>
              <a:buChar char="o"/>
            </a:pPr>
            <a:r>
              <a:rPr lang="en-US" sz="2400">
                <a:solidFill>
                  <a:srgbClr val="151E29"/>
                </a:solidFill>
                <a:ea typeface="+mn-lt"/>
                <a:cs typeface="+mn-lt"/>
              </a:rPr>
              <a:t> understanding natural language;</a:t>
            </a:r>
            <a:endParaRPr lang="en-US"/>
          </a:p>
          <a:p>
            <a:pPr lvl="1">
              <a:buFont typeface="Courier New"/>
              <a:buChar char="o"/>
            </a:pPr>
            <a:r>
              <a:rPr lang="en-US" sz="2400">
                <a:solidFill>
                  <a:srgbClr val="151E29"/>
                </a:solidFill>
                <a:ea typeface="+mn-lt"/>
                <a:cs typeface="+mn-lt"/>
              </a:rPr>
              <a:t> generating text;</a:t>
            </a:r>
            <a:endParaRPr lang="en-US"/>
          </a:p>
          <a:p>
            <a:pPr lvl="1">
              <a:buFont typeface="Courier New"/>
              <a:buChar char="o"/>
            </a:pPr>
            <a:r>
              <a:rPr lang="en-US" sz="2400">
                <a:solidFill>
                  <a:srgbClr val="151E29"/>
                </a:solidFill>
                <a:ea typeface="+mn-lt"/>
                <a:cs typeface="+mn-lt"/>
              </a:rPr>
              <a:t> summarizing information;</a:t>
            </a:r>
            <a:endParaRPr lang="en-US"/>
          </a:p>
          <a:p>
            <a:pPr lvl="1">
              <a:buFont typeface="Courier New"/>
              <a:buChar char="o"/>
            </a:pPr>
            <a:r>
              <a:rPr lang="en-US" sz="2400">
                <a:solidFill>
                  <a:srgbClr val="151E29"/>
                </a:solidFill>
                <a:ea typeface="+mn-lt"/>
                <a:cs typeface="+mn-lt"/>
              </a:rPr>
              <a:t> interacting with users.</a:t>
            </a:r>
            <a:endParaRPr lang="en-US"/>
          </a:p>
          <a:p>
            <a:endParaRPr lang="en-US" sz="2400">
              <a:solidFill>
                <a:srgbClr val="151E29"/>
              </a:solidFill>
            </a:endParaRPr>
          </a:p>
          <a:p>
            <a:pPr>
              <a:buFont typeface=""/>
            </a:pPr>
            <a:endParaRPr lang="en-US" sz="2400">
              <a:solidFill>
                <a:srgbClr val="151E29"/>
              </a:solidFill>
            </a:endParaRPr>
          </a:p>
          <a:p>
            <a:pPr lvl="1"/>
            <a:endParaRPr lang="en-US">
              <a:solidFill>
                <a:srgbClr val="151E29"/>
              </a:solidFill>
              <a:ea typeface="+mn-lt"/>
              <a:cs typeface="+mn-lt"/>
            </a:endParaRPr>
          </a:p>
          <a:p>
            <a:pPr lvl="1" algn="ctr"/>
            <a:r>
              <a:rPr lang="en-US" sz="2400">
                <a:solidFill>
                  <a:srgbClr val="151E29"/>
                </a:solidFill>
                <a:ea typeface="+mn-lt"/>
                <a:cs typeface="+mn-lt"/>
              </a:rPr>
              <a:t>Knowledge Graphs </a:t>
            </a:r>
            <a:r>
              <a:rPr lang="en-US" sz="2400" b="1">
                <a:solidFill>
                  <a:srgbClr val="151E29"/>
                </a:solidFill>
                <a:ea typeface="+mn-lt"/>
                <a:cs typeface="+mn-lt"/>
              </a:rPr>
              <a:t>do not automatically eliminate AI errors or hallucinations</a:t>
            </a:r>
            <a:r>
              <a:rPr lang="en-US" sz="2400">
                <a:solidFill>
                  <a:srgbClr val="151E29"/>
                </a:solidFill>
                <a:ea typeface="+mn-lt"/>
                <a:cs typeface="+mn-lt"/>
              </a:rPr>
              <a:t>.</a:t>
            </a:r>
            <a:endParaRPr lang="en-US" sz="2400"/>
          </a:p>
          <a:p>
            <a:pPr algn="ctr"/>
            <a:endParaRPr lang="en-US"/>
          </a:p>
        </p:txBody>
      </p:sp>
    </p:spTree>
    <p:extLst>
      <p:ext uri="{BB962C8B-B14F-4D97-AF65-F5344CB8AC3E}">
        <p14:creationId xmlns:p14="http://schemas.microsoft.com/office/powerpoint/2010/main" val="3796318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26C2-9728-183A-D5FE-CADA230B94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F4549-FDFD-8A82-5619-52E88389B58E}"/>
              </a:ext>
            </a:extLst>
          </p:cNvPr>
          <p:cNvSpPr>
            <a:spLocks noGrp="1"/>
          </p:cNvSpPr>
          <p:nvPr>
            <p:ph type="title"/>
          </p:nvPr>
        </p:nvSpPr>
        <p:spPr>
          <a:xfrm>
            <a:off x="411480" y="991443"/>
            <a:ext cx="4443154" cy="1087819"/>
          </a:xfrm>
        </p:spPr>
        <p:txBody>
          <a:bodyPr anchor="b">
            <a:normAutofit/>
          </a:bodyPr>
          <a:lstStyle/>
          <a:p>
            <a:r>
              <a:rPr lang="en-US" sz="3400"/>
              <a:t>Why this course?</a:t>
            </a:r>
          </a:p>
        </p:txBody>
      </p:sp>
      <p:sp>
        <p:nvSpPr>
          <p:cNvPr id="3" name="Content Placeholder 2">
            <a:extLst>
              <a:ext uri="{FF2B5EF4-FFF2-40B4-BE49-F238E27FC236}">
                <a16:creationId xmlns:a16="http://schemas.microsoft.com/office/drawing/2014/main" id="{00E08913-C494-63E8-B722-83347D3A323D}"/>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a:t>       </a:t>
            </a:r>
            <a:endParaRPr lang="it-IT" sz="1400"/>
          </a:p>
          <a:p>
            <a:pPr marL="0" indent="0">
              <a:buNone/>
            </a:pPr>
            <a:r>
              <a:rPr lang="en-US" sz="1400"/>
              <a:t>    </a:t>
            </a:r>
            <a:endParaRPr lang="it-IT" sz="1400"/>
          </a:p>
          <a:p>
            <a:endParaRPr lang="en-US" sz="1400"/>
          </a:p>
          <a:p>
            <a:pPr marL="1828800" lvl="4" indent="0">
              <a:buNone/>
            </a:pPr>
            <a:r>
              <a:rPr lang="en-US" sz="1400"/>
              <a:t>     </a:t>
            </a:r>
          </a:p>
          <a:p>
            <a:pPr>
              <a:buNone/>
            </a:pPr>
            <a:r>
              <a:rPr lang="en-US" sz="1400"/>
              <a:t>  </a:t>
            </a:r>
          </a:p>
        </p:txBody>
      </p:sp>
      <p:sp>
        <p:nvSpPr>
          <p:cNvPr id="4" name="TextBox 3">
            <a:extLst>
              <a:ext uri="{FF2B5EF4-FFF2-40B4-BE49-F238E27FC236}">
                <a16:creationId xmlns:a16="http://schemas.microsoft.com/office/drawing/2014/main" id="{15D755CE-F37E-795C-3298-FCA66A63CD68}"/>
              </a:ext>
            </a:extLst>
          </p:cNvPr>
          <p:cNvSpPr txBox="1"/>
          <p:nvPr/>
        </p:nvSpPr>
        <p:spPr>
          <a:xfrm>
            <a:off x="413197" y="2511380"/>
            <a:ext cx="1147292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 Mapping Planetary Biodiversity </a:t>
            </a:r>
            <a:endParaRPr lang="en-US"/>
          </a:p>
          <a:p>
            <a:r>
              <a:rPr lang="en-US" sz="2400"/>
              <a:t>- Making Space Travel Safer </a:t>
            </a:r>
          </a:p>
          <a:p>
            <a:r>
              <a:rPr lang="en-US" sz="2400"/>
              <a:t>- Curing Rare Childhood Diseases </a:t>
            </a:r>
          </a:p>
          <a:p>
            <a:r>
              <a:rPr lang="en-US" sz="2400"/>
              <a:t>- Exposing Global Corruption </a:t>
            </a:r>
          </a:p>
          <a:p>
            <a:r>
              <a:rPr lang="en-US" sz="2400"/>
              <a:t>- Increasing Crop Yields </a:t>
            </a:r>
          </a:p>
          <a:p>
            <a:r>
              <a:rPr lang="en-US" sz="2400"/>
              <a:t>- Controlling Hospital Infections </a:t>
            </a:r>
          </a:p>
          <a:p>
            <a:r>
              <a:rPr lang="en-US" sz="2400"/>
              <a:t>- Safeguarding Democracy </a:t>
            </a:r>
          </a:p>
          <a:p>
            <a:r>
              <a:rPr lang="en-US" sz="2400"/>
              <a:t>- Facilitating Drug Discovery </a:t>
            </a:r>
          </a:p>
          <a:p>
            <a:r>
              <a:rPr lang="en-US" sz="2400"/>
              <a:t>- Tracking Pandemics </a:t>
            </a:r>
          </a:p>
          <a:p>
            <a:r>
              <a:rPr lang="en-US" sz="2400"/>
              <a:t>- Improving Diabetes Treatment </a:t>
            </a:r>
          </a:p>
        </p:txBody>
      </p:sp>
    </p:spTree>
    <p:extLst>
      <p:ext uri="{BB962C8B-B14F-4D97-AF65-F5344CB8AC3E}">
        <p14:creationId xmlns:p14="http://schemas.microsoft.com/office/powerpoint/2010/main" val="3319496132"/>
      </p:ext>
    </p:extLst>
  </p:cSld>
  <p:clrMapOvr>
    <a:masterClrMapping/>
  </p:clrMapOvr>
</p:sld>
</file>

<file path=ppt/theme/theme1.xml><?xml version="1.0" encoding="utf-8"?>
<a:theme xmlns:a="http://schemas.openxmlformats.org/drawingml/2006/main" name="Tema di Offic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870</Words>
  <Application>Microsoft Office PowerPoint</Application>
  <PresentationFormat>Widescreen</PresentationFormat>
  <Paragraphs>161</Paragraphs>
  <Slides>15</Slides>
  <Notes>0</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15</vt:i4>
      </vt:variant>
    </vt:vector>
  </HeadingPairs>
  <TitlesOfParts>
    <vt:vector size="24" baseType="lpstr">
      <vt:lpstr>Aptos</vt:lpstr>
      <vt:lpstr>Aptos Display</vt:lpstr>
      <vt:lpstr>Arial</vt:lpstr>
      <vt:lpstr>Calibri</vt:lpstr>
      <vt:lpstr>Courier New</vt:lpstr>
      <vt:lpstr>Courier New,monospace</vt:lpstr>
      <vt:lpstr>Public Sans</vt:lpstr>
      <vt:lpstr>syne-neo</vt:lpstr>
      <vt:lpstr>Tema di Office</vt:lpstr>
      <vt:lpstr>Preliminaries and motivations</vt:lpstr>
      <vt:lpstr>What does Knowledge mean?</vt:lpstr>
      <vt:lpstr>Presentazione standard di PowerPoint</vt:lpstr>
      <vt:lpstr>Presentazione standard di PowerPoint</vt:lpstr>
      <vt:lpstr>knowledge is power </vt:lpstr>
      <vt:lpstr>Why this course?</vt:lpstr>
      <vt:lpstr>Why this course?</vt:lpstr>
      <vt:lpstr>Why this course?</vt:lpstr>
      <vt:lpstr>Why this course?</vt:lpstr>
      <vt:lpstr>Why this course?</vt:lpstr>
      <vt:lpstr>Why this course?</vt:lpstr>
      <vt:lpstr>Why this course?</vt:lpstr>
      <vt:lpstr>Why this course?</vt:lpstr>
      <vt:lpstr>Why this course?</vt:lpstr>
      <vt:lpstr>Why this course?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Daniele Santamaria</cp:lastModifiedBy>
  <cp:revision>8</cp:revision>
  <dcterms:created xsi:type="dcterms:W3CDTF">2026-09-02T17:00:00Z</dcterms:created>
  <dcterms:modified xsi:type="dcterms:W3CDTF">2026-10-11T07:20:07Z</dcterms:modified>
</cp:coreProperties>
</file>