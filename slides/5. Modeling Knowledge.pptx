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0" r:id="rId2"/>
    <p:sldId id="348" r:id="rId3"/>
    <p:sldId id="319" r:id="rId4"/>
    <p:sldId id="349" r:id="rId5"/>
    <p:sldId id="351" r:id="rId6"/>
    <p:sldId id="350" r:id="rId7"/>
    <p:sldId id="327" r:id="rId8"/>
    <p:sldId id="329" r:id="rId9"/>
    <p:sldId id="352" r:id="rId10"/>
    <p:sldId id="353" r:id="rId11"/>
    <p:sldId id="389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32508-72B6-89BE-EED1-1694CC473212}" v="212" dt="2026-10-21T16:07:15.486"/>
    <p1510:client id="{94560561-452E-0634-2AA3-507263498DEA}" v="299" dt="2026-10-21T11:18:24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3105B-CEC4-D8D6-865B-67E46411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642DD8A-3AD3-05F0-75F4-752C2639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36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36190-C17C-703F-3911-008C0515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44FB2F3-FEDD-61BA-88F3-CB62E1C0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76615C-30DB-BFAA-B9D4-F06ADA51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Modeling Knowledge</a:t>
            </a:r>
            <a:endParaRPr lang="it-IT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D77FF4E-E88C-0C72-7DF1-D765222B6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D61088-C62A-75DF-EE75-6BA0A87818C4}"/>
              </a:ext>
            </a:extLst>
          </p:cNvPr>
          <p:cNvSpPr txBox="1"/>
          <p:nvPr/>
        </p:nvSpPr>
        <p:spPr>
          <a:xfrm>
            <a:off x="837713" y="1897520"/>
            <a:ext cx="10471545" cy="48320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During the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1970s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, knowledge bases were primarily developed through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prototyping approaches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, enabling the iterative acquisition and representation of domain-specific knowledge</a:t>
            </a:r>
            <a:r>
              <a:rPr lang="en-US" sz="28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it-IT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During the </a:t>
            </a:r>
            <a:r>
              <a:rPr lang="en-US" sz="2800" b="1">
                <a:ea typeface="+mn-lt"/>
                <a:cs typeface="+mn-lt"/>
              </a:rPr>
              <a:t>1990s</a:t>
            </a:r>
            <a:r>
              <a:rPr lang="en-US" sz="2800">
                <a:ea typeface="+mn-lt"/>
                <a:cs typeface="+mn-lt"/>
              </a:rPr>
              <a:t>, formal </a:t>
            </a:r>
            <a:r>
              <a:rPr lang="en-US" sz="2800" b="1">
                <a:ea typeface="+mn-lt"/>
                <a:cs typeface="+mn-lt"/>
              </a:rPr>
              <a:t>knowledge engineering methodologies</a:t>
            </a:r>
            <a:r>
              <a:rPr lang="en-US" sz="2800">
                <a:ea typeface="+mn-lt"/>
                <a:cs typeface="+mn-lt"/>
              </a:rPr>
              <a:t> emerged, providing systematic approaches for knowledge acquisition, representation, validation, and maintenance.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800"/>
          </a:p>
          <a:p>
            <a:pPr>
              <a:buFont typeface="Arial"/>
              <a:buChar char="•"/>
            </a:pPr>
            <a:r>
              <a:rPr lang="en-US" sz="2800"/>
              <a:t>KADS and Common KADS (1992) represent a milestone in this field.</a:t>
            </a:r>
          </a:p>
          <a:p>
            <a:pPr marL="457200" indent="-457200">
              <a:buFont typeface="Arial"/>
              <a:buChar char="•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79549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18C7A-B155-7F96-055E-81EC625A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3EE3F2E-BBF7-C2FB-A0DA-711C1B80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KADS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16B7F0-C5D4-239B-5CA2-2810F43AE91C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200" b="1">
                <a:solidFill>
                  <a:srgbClr val="000000"/>
                </a:solidFill>
                <a:latin typeface="Aptos"/>
                <a:cs typeface="Arial"/>
              </a:rPr>
              <a:t>Knowledge Acquisition and Documentation Structuring:</a:t>
            </a:r>
            <a:endParaRPr lang="en-US" sz="2200" b="1">
              <a:solidFill>
                <a:srgbClr val="000000"/>
              </a:solidFill>
              <a:latin typeface="Aptos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The organization model </a:t>
            </a:r>
            <a:r>
              <a:rPr lang="en-US" sz="2200" dirty="0"/>
              <a:t>supports the analysis of an organization. The goal is to identify problems, opportunities, and potential impacts of the KBS (knowledge based system) development. </a:t>
            </a:r>
            <a:endParaRPr lang="en-US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b="1"/>
              <a:t>The task model </a:t>
            </a:r>
            <a:r>
              <a:rPr lang="en-US" sz="2200"/>
              <a:t>describes tasks that are performed or will be performed in the organization.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 The agent model</a:t>
            </a:r>
            <a:r>
              <a:rPr lang="en-US" sz="2200"/>
              <a:t> describes the capabilities, norms, preferences, and permissions of agents. An agent is the executor of tasks. 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,Sans-Serif" panose="020B0604020202020204" pitchFamily="34" charset="0"/>
              <a:buChar char="•"/>
            </a:pPr>
            <a:r>
              <a:rPr lang="en-US" sz="2200" b="1" dirty="0"/>
              <a:t>The knowledge model</a:t>
            </a:r>
            <a:r>
              <a:rPr lang="en-US" sz="2200" dirty="0"/>
              <a:t> gives an implementation-independent description of </a:t>
            </a:r>
            <a:r>
              <a:rPr lang="en-US" sz="2200"/>
              <a:t>the knowledge</a:t>
            </a:r>
            <a:r>
              <a:rPr lang="en-US" sz="2200" dirty="0"/>
              <a:t> involved in a task.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,Sans-Serif" panose="020B0604020202020204" pitchFamily="34" charset="0"/>
              <a:buChar char="•"/>
            </a:pPr>
            <a:r>
              <a:rPr lang="en-US" sz="2200" b="1" dirty="0"/>
              <a:t>The communication model </a:t>
            </a:r>
            <a:r>
              <a:rPr lang="en-US" sz="2200" dirty="0"/>
              <a:t>describes the communicative transactions </a:t>
            </a:r>
            <a:r>
              <a:rPr lang="en-US" sz="2200"/>
              <a:t>between agents</a:t>
            </a:r>
            <a:r>
              <a:rPr lang="en-US" sz="2200" dirty="0"/>
              <a:t>. 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,Sans-Serif" panose="020B0604020202020204" pitchFamily="34" charset="0"/>
              <a:buChar char="•"/>
            </a:pPr>
            <a:r>
              <a:rPr lang="en-US" sz="2200" b="1" dirty="0"/>
              <a:t>The design model </a:t>
            </a:r>
            <a:r>
              <a:rPr lang="en-US" sz="2200" dirty="0"/>
              <a:t>describes the structure of the system that needs to </a:t>
            </a:r>
            <a:r>
              <a:rPr lang="en-US" sz="2200"/>
              <a:t>be constructed</a:t>
            </a:r>
            <a:r>
              <a:rPr lang="en-US" sz="2200" dirty="0"/>
              <a:t>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6291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69BA4-FC78-60D9-6E8E-610137FF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2355D09-4569-246E-BD23-D51483B3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556FFD6-DAB4-8056-E5B6-2F712853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KADS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A0F12011-5EC5-FD83-EC84-AB66F07B2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8">
            <a:extLst>
              <a:ext uri="{FF2B5EF4-FFF2-40B4-BE49-F238E27FC236}">
                <a16:creationId xmlns:a16="http://schemas.microsoft.com/office/drawing/2014/main" id="{E965F85B-44D0-4773-7AA8-F6BD1FD8EC36}"/>
              </a:ext>
            </a:extLst>
          </p:cNvPr>
          <p:cNvSpPr txBox="1"/>
          <p:nvPr/>
        </p:nvSpPr>
        <p:spPr>
          <a:xfrm>
            <a:off x="839392" y="2192994"/>
            <a:ext cx="10471545" cy="138499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,Sans-Serif"/>
              <a:buChar char="•"/>
            </a:pPr>
            <a:r>
              <a:rPr lang="en-US" sz="2800" b="1">
                <a:ea typeface="+mn-lt"/>
                <a:cs typeface="+mn-lt"/>
              </a:rPr>
              <a:t>The knowledge model: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b="1">
                <a:ea typeface="+mn-lt"/>
                <a:cs typeface="+mn-lt"/>
              </a:rPr>
              <a:t>domain knowledge</a:t>
            </a:r>
            <a:r>
              <a:rPr lang="en-US" sz="2800">
                <a:ea typeface="+mn-lt"/>
                <a:cs typeface="+mn-lt"/>
              </a:rPr>
              <a:t> represents the relevant domain knowledge and information, mostly static by nature</a:t>
            </a:r>
            <a:endParaRPr lang="en-US" sz="2800" b="1"/>
          </a:p>
        </p:txBody>
      </p:sp>
      <p:pic>
        <p:nvPicPr>
          <p:cNvPr id="5" name="Immagine 4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A796BD03-CD11-3BF3-E371-E02B57712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476" y="3711893"/>
            <a:ext cx="5802443" cy="280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5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9B300-C0AC-51FA-0395-701F8291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B40894F-CF55-2D5E-F529-AB85A228F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9729E6-5F3D-9F37-1E04-10922CC4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KADS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AC5DF1A3-C03B-9C80-E287-F76C4B87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6">
            <a:extLst>
              <a:ext uri="{FF2B5EF4-FFF2-40B4-BE49-F238E27FC236}">
                <a16:creationId xmlns:a16="http://schemas.microsoft.com/office/drawing/2014/main" id="{19AF4E53-7049-AD54-04B2-5B5CE07F9D41}"/>
              </a:ext>
            </a:extLst>
          </p:cNvPr>
          <p:cNvSpPr txBox="1"/>
          <p:nvPr/>
        </p:nvSpPr>
        <p:spPr>
          <a:xfrm>
            <a:off x="595802" y="2230467"/>
            <a:ext cx="5499807" cy="224676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,Sans-Serif"/>
              <a:buChar char="•"/>
            </a:pPr>
            <a:r>
              <a:rPr lang="en-US" sz="2800" b="1">
                <a:ea typeface="+mn-lt"/>
                <a:cs typeface="+mn-lt"/>
              </a:rPr>
              <a:t>The knowledge model: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b="1">
                <a:ea typeface="+mn-lt"/>
                <a:cs typeface="+mn-lt"/>
              </a:rPr>
              <a:t>task knowledge</a:t>
            </a:r>
            <a:r>
              <a:rPr lang="en-US" sz="2800">
                <a:ea typeface="+mn-lt"/>
                <a:cs typeface="+mn-lt"/>
              </a:rPr>
              <a:t> is goal oriented and provides a higher level of functional decomposition. </a:t>
            </a:r>
            <a:endParaRPr lang="en-US" sz="2800"/>
          </a:p>
        </p:txBody>
      </p:sp>
      <p:pic>
        <p:nvPicPr>
          <p:cNvPr id="4" name="Immagine 3" descr="Immagine che contiene diagramma, linea, schizzo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5FCA8C9E-D951-8709-9FBD-E8C8333D2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47" y="2136098"/>
            <a:ext cx="5276609" cy="37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9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560E3-81FB-0A60-BE74-C9C7CF836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26E4855-6B4E-898A-7D7B-E02BCB49A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67B95F-4139-814F-86F6-E69C86D2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KADS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C7428F-D428-5615-28EE-07F065F8E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8F30396-4A07-7A0F-F6FD-5DB8989D12E7}"/>
              </a:ext>
            </a:extLst>
          </p:cNvPr>
          <p:cNvSpPr txBox="1"/>
          <p:nvPr/>
        </p:nvSpPr>
        <p:spPr>
          <a:xfrm>
            <a:off x="839392" y="2192994"/>
            <a:ext cx="1047154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,Sans-Serif"/>
              <a:buChar char="•"/>
            </a:pPr>
            <a:r>
              <a:rPr lang="en-US" sz="2800" b="1">
                <a:ea typeface="+mn-lt"/>
                <a:cs typeface="+mn-lt"/>
              </a:rPr>
              <a:t>The knowledge model: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b="1">
                <a:ea typeface="+mn-lt"/>
                <a:cs typeface="+mn-lt"/>
              </a:rPr>
              <a:t>inference knowledge</a:t>
            </a:r>
            <a:r>
              <a:rPr lang="en-US" sz="2800">
                <a:ea typeface="+mn-lt"/>
                <a:cs typeface="+mn-lt"/>
              </a:rPr>
              <a:t> models inference actions that are basic reasoning steps that can be made with the domain knowledge and are applied by tasks.</a:t>
            </a:r>
            <a:endParaRPr lang="en-US" sz="2800"/>
          </a:p>
        </p:txBody>
      </p:sp>
      <p:pic>
        <p:nvPicPr>
          <p:cNvPr id="8" name="Immagine 7" descr="Immagine che contiene testo, schermata, Carattere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7B2C63AB-8F41-17AB-F438-BB0C48E7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200"/>
          <a:stretch>
            <a:fillRect/>
          </a:stretch>
        </p:blipFill>
        <p:spPr>
          <a:xfrm>
            <a:off x="3169249" y="4124637"/>
            <a:ext cx="5778553" cy="231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1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38EF2-7667-7DA2-31AC-2298A8FF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1EA3DB7-4373-1B2C-9B73-1D090143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Ontologies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0769C-303C-6121-98BB-C7DCEC61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C53FA7C-EAD5-03B3-A640-C0CBF9DF6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Ontologies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DCEC98E-E3C7-DDE1-8BBA-CA0B39A8CB26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Ontologies  is the branch of philosophy that studies concepts such as existence, being, becoming, and reality.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It includes the questions of how entities are grouped into basic categories and which of these entities exist on the most fundamental level.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Ontology is sometimes referred to as the science of being.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 goal is to build a model of the world.</a:t>
            </a:r>
          </a:p>
        </p:txBody>
      </p:sp>
    </p:spTree>
    <p:extLst>
      <p:ext uri="{BB962C8B-B14F-4D97-AF65-F5344CB8AC3E}">
        <p14:creationId xmlns:p14="http://schemas.microsoft.com/office/powerpoint/2010/main" val="414006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FE605-3738-DBFF-40D1-77FD1314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A7CA35F-3628-A962-28B4-7C70848FD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B79CFFC-C6F1-88C0-5FE1-EA35DA6C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Ontologies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0D02BF44-0FC6-99F0-EC39-F0D285F3A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6">
            <a:extLst>
              <a:ext uri="{FF2B5EF4-FFF2-40B4-BE49-F238E27FC236}">
                <a16:creationId xmlns:a16="http://schemas.microsoft.com/office/drawing/2014/main" id="{2AE4CE8E-2F4C-DC98-DC79-B90D57A5CD9D}"/>
              </a:ext>
            </a:extLst>
          </p:cNvPr>
          <p:cNvSpPr txBox="1"/>
          <p:nvPr/>
        </p:nvSpPr>
        <p:spPr>
          <a:xfrm>
            <a:off x="654417" y="2136778"/>
            <a:ext cx="10894023" cy="310854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,Sans-Serif"/>
              <a:buChar char="•"/>
            </a:pPr>
            <a:r>
              <a:rPr lang="en-US" sz="2800">
                <a:ea typeface="+mn-lt"/>
                <a:cs typeface="+mn-lt"/>
              </a:rPr>
              <a:t>An ontology is  formal, explicit specification of a shared conceptualization: </a:t>
            </a:r>
            <a:endParaRPr lang="it-IT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conceptualization: an abstract model of some part of the world;</a:t>
            </a:r>
            <a:endParaRPr lang="it-IT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formal: machine-understandable (e.g., formalized with logic);</a:t>
            </a:r>
            <a:endParaRPr lang="it-IT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explicit: concepts and constraints are explicitly defined;</a:t>
            </a:r>
            <a:endParaRPr lang="it-IT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shared: captures the knowledge on which a group of people have a consensus;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230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15A68-30F5-601C-6157-2FFD3C15A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21FAC8D-3759-0C83-CF39-8563C0543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9D60630-5FD2-21F7-13BD-DB758C31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Ontologies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A4E1CC02-7489-F20E-ADD2-B50A5C14E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F9D5E29-DA8E-BBD1-D13C-63F39E05D0CA}"/>
              </a:ext>
            </a:extLst>
          </p:cNvPr>
          <p:cNvSpPr txBox="1"/>
          <p:nvPr/>
        </p:nvSpPr>
        <p:spPr>
          <a:xfrm>
            <a:off x="374390" y="1936173"/>
            <a:ext cx="4925951" cy="44935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ea typeface="+mn-lt"/>
                <a:cs typeface="+mn-lt"/>
              </a:rPr>
              <a:t>Challenges:</a:t>
            </a:r>
          </a:p>
          <a:p>
            <a:pPr marL="114300" indent="-114300">
              <a:buFont typeface="Calibri"/>
              <a:buChar char="-"/>
            </a:pPr>
            <a:r>
              <a:rPr lang="en-US" sz="1600" b="1">
                <a:ea typeface="+mn-lt"/>
                <a:cs typeface="+mn-lt"/>
              </a:rPr>
              <a:t>Acquisition</a:t>
            </a:r>
            <a:r>
              <a:rPr lang="en-US" sz="1600">
                <a:ea typeface="+mn-lt"/>
                <a:cs typeface="+mn-lt"/>
              </a:rPr>
              <a:t>: Collecting and integrating knowledge from different sources.</a:t>
            </a:r>
            <a:endParaRPr lang="it-IT" sz="1600"/>
          </a:p>
          <a:p>
            <a:pPr marL="114300" indent="-114300">
              <a:buFont typeface="Calibri"/>
              <a:buChar char="-"/>
            </a:pPr>
            <a:r>
              <a:rPr lang="en-US" sz="1600" b="1">
                <a:ea typeface="+mn-lt"/>
                <a:cs typeface="+mn-lt"/>
              </a:rPr>
              <a:t>Quality</a:t>
            </a:r>
            <a:r>
              <a:rPr lang="en-US" sz="1600">
                <a:ea typeface="+mn-lt"/>
                <a:cs typeface="+mn-lt"/>
              </a:rPr>
              <a:t>: Ensuring data is accurate, consistent, and accessible.</a:t>
            </a:r>
            <a:endParaRPr lang="en-US" sz="1600"/>
          </a:p>
          <a:p>
            <a:pPr marL="114300" indent="-114300">
              <a:buFont typeface="Calibri"/>
              <a:buChar char="-"/>
            </a:pPr>
            <a:r>
              <a:rPr lang="en-US" sz="1600" b="1">
                <a:ea typeface="+mn-lt"/>
                <a:cs typeface="+mn-lt"/>
              </a:rPr>
              <a:t>Brittleness</a:t>
            </a:r>
            <a:r>
              <a:rPr lang="en-US" sz="1600">
                <a:ea typeface="+mn-lt"/>
                <a:cs typeface="+mn-lt"/>
              </a:rPr>
              <a:t>: Systems can break when data structures or assumptions change.</a:t>
            </a:r>
            <a:endParaRPr lang="en-US" sz="1600"/>
          </a:p>
          <a:p>
            <a:pPr marL="114300" indent="-114300">
              <a:buFont typeface="Calibri"/>
              <a:buChar char="-"/>
            </a:pPr>
            <a:r>
              <a:rPr lang="en-US" sz="1600" b="1">
                <a:ea typeface="+mn-lt"/>
                <a:cs typeface="+mn-lt"/>
              </a:rPr>
              <a:t>Maintenance</a:t>
            </a:r>
            <a:r>
              <a:rPr lang="en-US" sz="1600">
                <a:ea typeface="+mn-lt"/>
                <a:cs typeface="+mn-lt"/>
              </a:rPr>
              <a:t>: Keeping knowledge and relationships up to date.</a:t>
            </a:r>
            <a:endParaRPr lang="en-US" sz="1600"/>
          </a:p>
          <a:p>
            <a:pPr marL="114300" indent="-114300">
              <a:buFont typeface="Calibri"/>
              <a:buChar char="-"/>
            </a:pPr>
            <a:r>
              <a:rPr lang="en-US" sz="1600" b="1">
                <a:ea typeface="+mn-lt"/>
                <a:cs typeface="+mn-lt"/>
              </a:rPr>
              <a:t>Performance</a:t>
            </a:r>
            <a:r>
              <a:rPr lang="en-US" sz="1600">
                <a:ea typeface="+mn-lt"/>
                <a:cs typeface="+mn-lt"/>
              </a:rPr>
              <a:t>: Ensuring knowledge-based systems operate efficiently.</a:t>
            </a:r>
            <a:endParaRPr lang="en-US" sz="1600"/>
          </a:p>
          <a:p>
            <a:endParaRPr lang="en-US" sz="2000" dirty="0"/>
          </a:p>
          <a:p>
            <a:endParaRPr lang="en-US" sz="3600"/>
          </a:p>
          <a:p>
            <a:endParaRPr lang="en-US" sz="3600"/>
          </a:p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EDF4C79-ADEC-CC51-4431-BBF9D8299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015" y="1461232"/>
            <a:ext cx="6785556" cy="5352511"/>
          </a:xfrm>
          <a:prstGeom prst="rect">
            <a:avLst/>
          </a:prstGeom>
        </p:spPr>
      </p:pic>
      <p:sp>
        <p:nvSpPr>
          <p:cNvPr id="3" name="CasellaDiTesto 10">
            <a:extLst>
              <a:ext uri="{FF2B5EF4-FFF2-40B4-BE49-F238E27FC236}">
                <a16:creationId xmlns:a16="http://schemas.microsoft.com/office/drawing/2014/main" id="{20111FA5-2CE6-2685-DD4F-4692D06864BA}"/>
              </a:ext>
            </a:extLst>
          </p:cNvPr>
          <p:cNvSpPr txBox="1"/>
          <p:nvPr/>
        </p:nvSpPr>
        <p:spPr>
          <a:xfrm>
            <a:off x="16373" y="6323217"/>
            <a:ext cx="5620705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00000"/>
                </a:solidFill>
                <a:latin typeface="Aptos"/>
              </a:rPr>
              <a:t>Ontology and Semantic Web are </a:t>
            </a:r>
            <a:r>
              <a:rPr lang="en-US" sz="2000" b="1">
                <a:solidFill>
                  <a:srgbClr val="000000"/>
                </a:solidFill>
                <a:latin typeface="Aptos"/>
              </a:rPr>
              <a:t>strictly</a:t>
            </a:r>
            <a:r>
              <a:rPr lang="en-US" sz="2000" b="1" dirty="0">
                <a:solidFill>
                  <a:srgbClr val="000000"/>
                </a:solidFill>
                <a:latin typeface="Aptos"/>
              </a:rPr>
              <a:t> related</a:t>
            </a:r>
            <a:r>
              <a:rPr lang="en-US" sz="2000" b="1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9175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8954E-E228-1BCB-A5A8-0164AC21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1CBB9BE-E2BE-7B49-293C-7A90F82E7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D9DF7F1-8484-05FE-AEED-39E12F01B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Knowledge: Ontologies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6A9880A-0C6D-BE30-6ABF-89B7D00C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W3C Semantic Web Activity Homepage">
            <a:extLst>
              <a:ext uri="{FF2B5EF4-FFF2-40B4-BE49-F238E27FC236}">
                <a16:creationId xmlns:a16="http://schemas.microsoft.com/office/drawing/2014/main" id="{194E775C-8341-2D29-484C-727F86E16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504" y="1824596"/>
            <a:ext cx="4628492" cy="4851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FCAD43-2600-4E24-BE8A-82BD1007DA27}"/>
              </a:ext>
            </a:extLst>
          </p:cNvPr>
          <p:cNvSpPr txBox="1"/>
          <p:nvPr/>
        </p:nvSpPr>
        <p:spPr>
          <a:xfrm>
            <a:off x="668593" y="1806677"/>
            <a:ext cx="609600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600"/>
              <a:t>The </a:t>
            </a:r>
            <a:r>
              <a:rPr lang="en-US" sz="1600" b="1"/>
              <a:t>Semantic Web</a:t>
            </a:r>
            <a:r>
              <a:rPr lang="en-US" sz="1600" dirty="0"/>
              <a:t>, sometimes known as </a:t>
            </a:r>
            <a:r>
              <a:rPr lang="en-US" sz="1600" b="1"/>
              <a:t>Web 3.0</a:t>
            </a:r>
            <a:r>
              <a:rPr lang="en-US" sz="1600"/>
              <a:t>, is an extension of the World Wide Web through standards set by </a:t>
            </a:r>
            <a:r>
              <a:rPr lang="en-US" sz="1600" dirty="0"/>
              <a:t>the World Wide Web Consortium (W3C). The goal of the Semantic Web is to make Internet data machine-readable.</a:t>
            </a:r>
            <a:endParaRPr lang="it-IT"/>
          </a:p>
          <a:p>
            <a:endParaRPr lang="en-US" sz="1600" dirty="0"/>
          </a:p>
          <a:p>
            <a:pPr marL="285750" indent="-285750">
              <a:buFont typeface="Calibri"/>
              <a:buChar char="-"/>
            </a:pPr>
            <a:r>
              <a:rPr lang="en-US" sz="1600"/>
              <a:t>Tim Berner's Lee, James Hendler, and Ora Lassila: The </a:t>
            </a:r>
            <a:r>
              <a:rPr lang="en-US" sz="1600" dirty="0"/>
              <a:t>Semantic Web is an extension of the current web in which information is given well defined meaning, better enabling computers and people to work in co-operation. [Lee et. al., 2001] </a:t>
            </a:r>
          </a:p>
          <a:p>
            <a:endParaRPr lang="en-US" sz="1600" dirty="0"/>
          </a:p>
          <a:p>
            <a:pPr marL="285750" indent="-285750">
              <a:buFont typeface="Calibri"/>
              <a:buChar char="-"/>
            </a:pPr>
            <a:r>
              <a:rPr lang="en-US" sz="1600"/>
              <a:t>W3C and Tim Berner's Lee: The Semantic Web is </a:t>
            </a:r>
            <a:r>
              <a:rPr lang="en-US" sz="1600" dirty="0"/>
              <a:t>a vision: the idea of having data on the web defined and linked in a way that it can be used by machines not just for display purposes , but for automation, integration, and reuse of data across various applications. </a:t>
            </a:r>
          </a:p>
          <a:p>
            <a:endParaRPr lang="en-US" sz="1600" dirty="0"/>
          </a:p>
          <a:p>
            <a:pPr marL="285750" indent="-285750">
              <a:buFont typeface="Calibri"/>
              <a:buChar char="-"/>
            </a:pPr>
            <a:r>
              <a:rPr lang="en-US" sz="1600"/>
              <a:t>Tim Berner's Lee: The Semantic Web will bring </a:t>
            </a:r>
            <a:r>
              <a:rPr lang="en-US" sz="1600" dirty="0"/>
              <a:t>structure to the meaningful content of web pages, creating an environment where software agents roaming from page to page can readily carry out sophisticated tasks for users [Shadbolt et al., 2006].</a:t>
            </a:r>
          </a:p>
        </p:txBody>
      </p:sp>
    </p:spTree>
    <p:extLst>
      <p:ext uri="{BB962C8B-B14F-4D97-AF65-F5344CB8AC3E}">
        <p14:creationId xmlns:p14="http://schemas.microsoft.com/office/powerpoint/2010/main" val="3770816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Arial,Sans-Serif</vt:lpstr>
      <vt:lpstr>Calibri</vt:lpstr>
      <vt:lpstr>Courier New</vt:lpstr>
      <vt:lpstr>Tema di Office</vt:lpstr>
      <vt:lpstr>Modeling Knowledge</vt:lpstr>
      <vt:lpstr>Modeling Knowledge</vt:lpstr>
      <vt:lpstr>Modeling Knowledge: KADS</vt:lpstr>
      <vt:lpstr>Modeling Knowledge: KADS</vt:lpstr>
      <vt:lpstr>Modeling Knowledge: KADS</vt:lpstr>
      <vt:lpstr>Modeling Knowledge: KADS</vt:lpstr>
      <vt:lpstr>Modeling Knowledge: Ontologies</vt:lpstr>
      <vt:lpstr>Modeling Knowledge: Ontologies</vt:lpstr>
      <vt:lpstr>Modeling Knowledge: Ontologies</vt:lpstr>
      <vt:lpstr>Modeling Knowledge: Ontologies</vt:lpstr>
      <vt:lpstr>Modeling Knowledge: Ontologies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 and Reasoning</dc:title>
  <dc:creator/>
  <cp:lastModifiedBy>Daniele Francesco Santamaria</cp:lastModifiedBy>
  <cp:revision>781</cp:revision>
  <dcterms:created xsi:type="dcterms:W3CDTF">2026-09-02T17:00:00Z</dcterms:created>
  <dcterms:modified xsi:type="dcterms:W3CDTF">2026-10-22T06:56:23Z</dcterms:modified>
</cp:coreProperties>
</file>