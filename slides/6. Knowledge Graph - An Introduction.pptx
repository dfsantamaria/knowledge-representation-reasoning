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1" r:id="rId3"/>
    <p:sldId id="339" r:id="rId4"/>
    <p:sldId id="300" r:id="rId5"/>
    <p:sldId id="259" r:id="rId6"/>
    <p:sldId id="296" r:id="rId7"/>
    <p:sldId id="288" r:id="rId8"/>
    <p:sldId id="290" r:id="rId9"/>
    <p:sldId id="292" r:id="rId10"/>
    <p:sldId id="293" r:id="rId11"/>
    <p:sldId id="291" r:id="rId12"/>
    <p:sldId id="340" r:id="rId13"/>
    <p:sldId id="299" r:id="rId14"/>
    <p:sldId id="294" r:id="rId15"/>
    <p:sldId id="337" r:id="rId16"/>
    <p:sldId id="338" r:id="rId17"/>
    <p:sldId id="336" r:id="rId18"/>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78" dt="2026-10-30T08:07:54.442"/>
    <p1510:client id="{1D378715-A14E-74A0-20E5-52B564121B7F}" v="91" dt="2026-10-30T09:12:32.911"/>
    <p1510:client id="{4A63A002-F8B5-3472-606B-6F02656DA352}" v="8" dt="2026-10-28T17:17:14.608"/>
    <p1510:client id="{6043BA6D-66D8-8BEC-380A-AF283DBD7A2D}" v="379" dt="2026-10-28T15:43:32.416"/>
    <p1510:client id="{8C52D30D-33D0-AD97-0914-DA048FDB0ABA}" v="1282" dt="2026-10-29T15:25:14.265"/>
    <p1510:client id="{C36BD570-A2F0-D18E-B673-CC713D22135A}" v="8" dt="2026-10-28T14:50:36.99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0" d="100"/>
          <a:sy n="60" d="100"/>
        </p:scale>
        <p:origin x="892" y="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a:t>
            </a:r>
            <a:endParaRPr lang="de-DE"/>
          </a:p>
        </p:txBody>
      </p:sp>
      <p:sp>
        <p:nvSpPr>
          <p:cNvPr id="3" name="Sottotito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endParaRPr lang="de-DE"/>
          </a:p>
        </p:txBody>
      </p:sp>
      <p:sp>
        <p:nvSpPr>
          <p:cNvPr id="4" name="Segnaposto data 3"/>
          <p:cNvSpPr>
            <a:spLocks noGrp="1"/>
          </p:cNvSpPr>
          <p:nvPr>
            <p:ph type="dt" sz="half" idx="10"/>
          </p:nvPr>
        </p:nvSpPr>
        <p:spPr/>
        <p:txBody>
          <a:bodyPr/>
          <a:lstStyle/>
          <a:p>
            <a:fld id="{F64A8E5F-40E5-4553-9F3C-699F1A5B8145}" type="datetimeFigureOut">
              <a:rPr lang="de-DE" smtClean="0"/>
              <a:t>30.10.2026</a:t>
            </a:fld>
            <a:endParaRPr lang="de-DE"/>
          </a:p>
        </p:txBody>
      </p:sp>
      <p:sp>
        <p:nvSpPr>
          <p:cNvPr id="5" name="Segnaposto piè di pagina 4"/>
          <p:cNvSpPr>
            <a:spLocks noGrp="1"/>
          </p:cNvSpPr>
          <p:nvPr>
            <p:ph type="ftr" sz="quarter" idx="11"/>
          </p:nvPr>
        </p:nvSpPr>
        <p:spPr/>
        <p:txBody>
          <a:bodyPr/>
          <a:lstStyle/>
          <a:p>
            <a:endParaRPr lang="de-DE"/>
          </a:p>
        </p:txBody>
      </p:sp>
      <p:sp>
        <p:nvSpPr>
          <p:cNvPr id="6" name="Segnaposto numero diapositiva 5"/>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31861926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endParaRPr lang="de-DE"/>
          </a:p>
        </p:txBody>
      </p:sp>
      <p:sp>
        <p:nvSpPr>
          <p:cNvPr id="3" name="Segnaposto contenuto 2"/>
          <p:cNvSpPr>
            <a:spLocks noGrp="1"/>
          </p:cNvSpPr>
          <p:nvPr>
            <p:ph idx="1"/>
          </p:nvPr>
        </p:nvSpPr>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4" name="Segnaposto data 3"/>
          <p:cNvSpPr>
            <a:spLocks noGrp="1"/>
          </p:cNvSpPr>
          <p:nvPr>
            <p:ph type="dt" sz="half" idx="10"/>
          </p:nvPr>
        </p:nvSpPr>
        <p:spPr/>
        <p:txBody>
          <a:bodyPr/>
          <a:lstStyle/>
          <a:p>
            <a:fld id="{F64A8E5F-40E5-4553-9F3C-699F1A5B8145}" type="datetimeFigureOut">
              <a:rPr lang="de-DE" smtClean="0"/>
              <a:t>30.10.2026</a:t>
            </a:fld>
            <a:endParaRPr lang="de-DE"/>
          </a:p>
        </p:txBody>
      </p:sp>
      <p:sp>
        <p:nvSpPr>
          <p:cNvPr id="5" name="Segnaposto piè di pagina 4"/>
          <p:cNvSpPr>
            <a:spLocks noGrp="1"/>
          </p:cNvSpPr>
          <p:nvPr>
            <p:ph type="ftr" sz="quarter" idx="11"/>
          </p:nvPr>
        </p:nvSpPr>
        <p:spPr/>
        <p:txBody>
          <a:bodyPr/>
          <a:lstStyle/>
          <a:p>
            <a:endParaRPr lang="de-DE"/>
          </a:p>
        </p:txBody>
      </p:sp>
      <p:sp>
        <p:nvSpPr>
          <p:cNvPr id="6" name="Segnaposto numero diapositiva 5"/>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1263181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a:t>
            </a:r>
            <a:endParaRPr lang="de-DE"/>
          </a:p>
        </p:txBody>
      </p:sp>
      <p:sp>
        <p:nvSpPr>
          <p:cNvPr id="3" name="Segnaposto testo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stili del testo dello schema</a:t>
            </a:r>
          </a:p>
        </p:txBody>
      </p:sp>
      <p:sp>
        <p:nvSpPr>
          <p:cNvPr id="4" name="Segnaposto data 3"/>
          <p:cNvSpPr>
            <a:spLocks noGrp="1"/>
          </p:cNvSpPr>
          <p:nvPr>
            <p:ph type="dt" sz="half" idx="10"/>
          </p:nvPr>
        </p:nvSpPr>
        <p:spPr/>
        <p:txBody>
          <a:bodyPr/>
          <a:lstStyle/>
          <a:p>
            <a:fld id="{F64A8E5F-40E5-4553-9F3C-699F1A5B8145}" type="datetimeFigureOut">
              <a:rPr lang="de-DE" smtClean="0"/>
              <a:t>30.10.2026</a:t>
            </a:fld>
            <a:endParaRPr lang="de-DE"/>
          </a:p>
        </p:txBody>
      </p:sp>
      <p:sp>
        <p:nvSpPr>
          <p:cNvPr id="5" name="Segnaposto piè di pagina 4"/>
          <p:cNvSpPr>
            <a:spLocks noGrp="1"/>
          </p:cNvSpPr>
          <p:nvPr>
            <p:ph type="ftr" sz="quarter" idx="11"/>
          </p:nvPr>
        </p:nvSpPr>
        <p:spPr/>
        <p:txBody>
          <a:bodyPr/>
          <a:lstStyle/>
          <a:p>
            <a:endParaRPr lang="de-DE"/>
          </a:p>
        </p:txBody>
      </p:sp>
      <p:sp>
        <p:nvSpPr>
          <p:cNvPr id="6" name="Segnaposto numero diapositiva 5"/>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35773935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endParaRPr lang="de-DE"/>
          </a:p>
        </p:txBody>
      </p:sp>
      <p:sp>
        <p:nvSpPr>
          <p:cNvPr id="3" name="Segnaposto contenuto 2"/>
          <p:cNvSpPr>
            <a:spLocks noGrp="1"/>
          </p:cNvSpPr>
          <p:nvPr>
            <p:ph sz="half" idx="1"/>
          </p:nvPr>
        </p:nvSpPr>
        <p:spPr>
          <a:xfrm>
            <a:off x="838200" y="1825625"/>
            <a:ext cx="5181600" cy="435133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4" name="Segnaposto contenuto 3"/>
          <p:cNvSpPr>
            <a:spLocks noGrp="1"/>
          </p:cNvSpPr>
          <p:nvPr>
            <p:ph sz="half" idx="2"/>
          </p:nvPr>
        </p:nvSpPr>
        <p:spPr>
          <a:xfrm>
            <a:off x="6172200" y="1825625"/>
            <a:ext cx="5181600" cy="435133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5" name="Segnaposto data 4"/>
          <p:cNvSpPr>
            <a:spLocks noGrp="1"/>
          </p:cNvSpPr>
          <p:nvPr>
            <p:ph type="dt" sz="half" idx="10"/>
          </p:nvPr>
        </p:nvSpPr>
        <p:spPr/>
        <p:txBody>
          <a:bodyPr/>
          <a:lstStyle/>
          <a:p>
            <a:fld id="{F64A8E5F-40E5-4553-9F3C-699F1A5B8145}" type="datetimeFigureOut">
              <a:rPr lang="de-DE" smtClean="0"/>
              <a:t>30.10.2026</a:t>
            </a:fld>
            <a:endParaRPr lang="de-DE"/>
          </a:p>
        </p:txBody>
      </p:sp>
      <p:sp>
        <p:nvSpPr>
          <p:cNvPr id="6" name="Segnaposto piè di pagina 5"/>
          <p:cNvSpPr>
            <a:spLocks noGrp="1"/>
          </p:cNvSpPr>
          <p:nvPr>
            <p:ph type="ftr" sz="quarter" idx="11"/>
          </p:nvPr>
        </p:nvSpPr>
        <p:spPr/>
        <p:txBody>
          <a:bodyPr/>
          <a:lstStyle/>
          <a:p>
            <a:endParaRPr lang="de-DE"/>
          </a:p>
        </p:txBody>
      </p:sp>
      <p:sp>
        <p:nvSpPr>
          <p:cNvPr id="7" name="Segnaposto numero diapositiva 6"/>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12840897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a:xfrm>
            <a:off x="839788" y="365125"/>
            <a:ext cx="10515600" cy="1325563"/>
          </a:xfrm>
        </p:spPr>
        <p:txBody>
          <a:bodyPr/>
          <a:lstStyle/>
          <a:p>
            <a:r>
              <a:rPr lang="it-IT"/>
              <a:t>Fare clic per modificare lo stile del titolo</a:t>
            </a:r>
            <a:endParaRPr lang="de-DE"/>
          </a:p>
        </p:txBody>
      </p:sp>
      <p:sp>
        <p:nvSpPr>
          <p:cNvPr id="3" name="Segnaposto tes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4" name="Segnaposto contenuto 3"/>
          <p:cNvSpPr>
            <a:spLocks noGrp="1"/>
          </p:cNvSpPr>
          <p:nvPr>
            <p:ph sz="half" idx="2"/>
          </p:nvPr>
        </p:nvSpPr>
        <p:spPr>
          <a:xfrm>
            <a:off x="839788" y="2505075"/>
            <a:ext cx="5157787" cy="368458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5" name="Segnaposto tes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6" name="Segnaposto contenuto 5"/>
          <p:cNvSpPr>
            <a:spLocks noGrp="1"/>
          </p:cNvSpPr>
          <p:nvPr>
            <p:ph sz="quarter" idx="4"/>
          </p:nvPr>
        </p:nvSpPr>
        <p:spPr>
          <a:xfrm>
            <a:off x="6172200" y="2505075"/>
            <a:ext cx="5183188" cy="3684588"/>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7" name="Segnaposto data 6"/>
          <p:cNvSpPr>
            <a:spLocks noGrp="1"/>
          </p:cNvSpPr>
          <p:nvPr>
            <p:ph type="dt" sz="half" idx="10"/>
          </p:nvPr>
        </p:nvSpPr>
        <p:spPr/>
        <p:txBody>
          <a:bodyPr/>
          <a:lstStyle/>
          <a:p>
            <a:fld id="{F64A8E5F-40E5-4553-9F3C-699F1A5B8145}" type="datetimeFigureOut">
              <a:rPr lang="de-DE" smtClean="0"/>
              <a:t>30.10.2026</a:t>
            </a:fld>
            <a:endParaRPr lang="de-DE"/>
          </a:p>
        </p:txBody>
      </p:sp>
      <p:sp>
        <p:nvSpPr>
          <p:cNvPr id="8" name="Segnaposto piè di pagina 7"/>
          <p:cNvSpPr>
            <a:spLocks noGrp="1"/>
          </p:cNvSpPr>
          <p:nvPr>
            <p:ph type="ftr" sz="quarter" idx="11"/>
          </p:nvPr>
        </p:nvSpPr>
        <p:spPr/>
        <p:txBody>
          <a:bodyPr/>
          <a:lstStyle/>
          <a:p>
            <a:endParaRPr lang="de-DE"/>
          </a:p>
        </p:txBody>
      </p:sp>
      <p:sp>
        <p:nvSpPr>
          <p:cNvPr id="9" name="Segnaposto numero diapositiva 8"/>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27479829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endParaRPr lang="de-DE"/>
          </a:p>
        </p:txBody>
      </p:sp>
      <p:sp>
        <p:nvSpPr>
          <p:cNvPr id="3" name="Segnaposto data 2"/>
          <p:cNvSpPr>
            <a:spLocks noGrp="1"/>
          </p:cNvSpPr>
          <p:nvPr>
            <p:ph type="dt" sz="half" idx="10"/>
          </p:nvPr>
        </p:nvSpPr>
        <p:spPr/>
        <p:txBody>
          <a:bodyPr/>
          <a:lstStyle/>
          <a:p>
            <a:fld id="{F64A8E5F-40E5-4553-9F3C-699F1A5B8145}" type="datetimeFigureOut">
              <a:rPr lang="de-DE" smtClean="0"/>
              <a:t>30.10.2026</a:t>
            </a:fld>
            <a:endParaRPr lang="de-DE"/>
          </a:p>
        </p:txBody>
      </p:sp>
      <p:sp>
        <p:nvSpPr>
          <p:cNvPr id="4" name="Segnaposto piè di pagina 3"/>
          <p:cNvSpPr>
            <a:spLocks noGrp="1"/>
          </p:cNvSpPr>
          <p:nvPr>
            <p:ph type="ftr" sz="quarter" idx="11"/>
          </p:nvPr>
        </p:nvSpPr>
        <p:spPr/>
        <p:txBody>
          <a:bodyPr/>
          <a:lstStyle/>
          <a:p>
            <a:endParaRPr lang="de-DE"/>
          </a:p>
        </p:txBody>
      </p:sp>
      <p:sp>
        <p:nvSpPr>
          <p:cNvPr id="5" name="Segnaposto numero diapositiva 4"/>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3317825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F64A8E5F-40E5-4553-9F3C-699F1A5B8145}" type="datetimeFigureOut">
              <a:rPr lang="de-DE" smtClean="0"/>
              <a:t>30.10.2026</a:t>
            </a:fld>
            <a:endParaRPr lang="de-DE"/>
          </a:p>
        </p:txBody>
      </p:sp>
      <p:sp>
        <p:nvSpPr>
          <p:cNvPr id="3" name="Segnaposto piè di pagina 2"/>
          <p:cNvSpPr>
            <a:spLocks noGrp="1"/>
          </p:cNvSpPr>
          <p:nvPr>
            <p:ph type="ftr" sz="quarter" idx="11"/>
          </p:nvPr>
        </p:nvSpPr>
        <p:spPr/>
        <p:txBody>
          <a:bodyPr/>
          <a:lstStyle/>
          <a:p>
            <a:endParaRPr lang="de-DE"/>
          </a:p>
        </p:txBody>
      </p:sp>
      <p:sp>
        <p:nvSpPr>
          <p:cNvPr id="4" name="Segnaposto numero diapositiva 3"/>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18940951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a:t>
            </a:r>
            <a:endParaRPr lang="de-DE"/>
          </a:p>
        </p:txBody>
      </p:sp>
      <p:sp>
        <p:nvSpPr>
          <p:cNvPr id="3" name="Segnaposto contenut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4" name="Segnaposto tes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stili del testo dello schema</a:t>
            </a:r>
          </a:p>
        </p:txBody>
      </p:sp>
      <p:sp>
        <p:nvSpPr>
          <p:cNvPr id="5" name="Segnaposto data 4"/>
          <p:cNvSpPr>
            <a:spLocks noGrp="1"/>
          </p:cNvSpPr>
          <p:nvPr>
            <p:ph type="dt" sz="half" idx="10"/>
          </p:nvPr>
        </p:nvSpPr>
        <p:spPr/>
        <p:txBody>
          <a:bodyPr/>
          <a:lstStyle/>
          <a:p>
            <a:fld id="{F64A8E5F-40E5-4553-9F3C-699F1A5B8145}" type="datetimeFigureOut">
              <a:rPr lang="de-DE" smtClean="0"/>
              <a:t>30.10.2026</a:t>
            </a:fld>
            <a:endParaRPr lang="de-DE"/>
          </a:p>
        </p:txBody>
      </p:sp>
      <p:sp>
        <p:nvSpPr>
          <p:cNvPr id="6" name="Segnaposto piè di pagina 5"/>
          <p:cNvSpPr>
            <a:spLocks noGrp="1"/>
          </p:cNvSpPr>
          <p:nvPr>
            <p:ph type="ftr" sz="quarter" idx="11"/>
          </p:nvPr>
        </p:nvSpPr>
        <p:spPr/>
        <p:txBody>
          <a:bodyPr/>
          <a:lstStyle/>
          <a:p>
            <a:endParaRPr lang="de-DE"/>
          </a:p>
        </p:txBody>
      </p:sp>
      <p:sp>
        <p:nvSpPr>
          <p:cNvPr id="7" name="Segnaposto numero diapositiva 6"/>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2365816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a:t>
            </a:r>
            <a:endParaRPr lang="de-DE"/>
          </a:p>
        </p:txBody>
      </p:sp>
      <p:sp>
        <p:nvSpPr>
          <p:cNvPr id="3" name="Segnaposto immagin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Segnaposto tes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stili del testo dello schema</a:t>
            </a:r>
          </a:p>
        </p:txBody>
      </p:sp>
      <p:sp>
        <p:nvSpPr>
          <p:cNvPr id="5" name="Segnaposto data 4"/>
          <p:cNvSpPr>
            <a:spLocks noGrp="1"/>
          </p:cNvSpPr>
          <p:nvPr>
            <p:ph type="dt" sz="half" idx="10"/>
          </p:nvPr>
        </p:nvSpPr>
        <p:spPr/>
        <p:txBody>
          <a:bodyPr/>
          <a:lstStyle/>
          <a:p>
            <a:fld id="{F64A8E5F-40E5-4553-9F3C-699F1A5B8145}" type="datetimeFigureOut">
              <a:rPr lang="de-DE" smtClean="0"/>
              <a:t>30.10.2026</a:t>
            </a:fld>
            <a:endParaRPr lang="de-DE"/>
          </a:p>
        </p:txBody>
      </p:sp>
      <p:sp>
        <p:nvSpPr>
          <p:cNvPr id="6" name="Segnaposto piè di pagina 5"/>
          <p:cNvSpPr>
            <a:spLocks noGrp="1"/>
          </p:cNvSpPr>
          <p:nvPr>
            <p:ph type="ftr" sz="quarter" idx="11"/>
          </p:nvPr>
        </p:nvSpPr>
        <p:spPr/>
        <p:txBody>
          <a:bodyPr/>
          <a:lstStyle/>
          <a:p>
            <a:endParaRPr lang="de-DE"/>
          </a:p>
        </p:txBody>
      </p:sp>
      <p:sp>
        <p:nvSpPr>
          <p:cNvPr id="7" name="Segnaposto numero diapositiva 6"/>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16885766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endParaRPr lang="de-DE"/>
          </a:p>
        </p:txBody>
      </p:sp>
      <p:sp>
        <p:nvSpPr>
          <p:cNvPr id="3" name="Segnaposto testo verticale 2"/>
          <p:cNvSpPr>
            <a:spLocks noGrp="1"/>
          </p:cNvSpPr>
          <p:nvPr>
            <p:ph type="body" orient="vert" idx="1"/>
          </p:nvPr>
        </p:nvSpPr>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4" name="Segnaposto data 3"/>
          <p:cNvSpPr>
            <a:spLocks noGrp="1"/>
          </p:cNvSpPr>
          <p:nvPr>
            <p:ph type="dt" sz="half" idx="10"/>
          </p:nvPr>
        </p:nvSpPr>
        <p:spPr/>
        <p:txBody>
          <a:bodyPr/>
          <a:lstStyle/>
          <a:p>
            <a:fld id="{F64A8E5F-40E5-4553-9F3C-699F1A5B8145}" type="datetimeFigureOut">
              <a:rPr lang="de-DE" smtClean="0"/>
              <a:t>30.10.2026</a:t>
            </a:fld>
            <a:endParaRPr lang="de-DE"/>
          </a:p>
        </p:txBody>
      </p:sp>
      <p:sp>
        <p:nvSpPr>
          <p:cNvPr id="5" name="Segnaposto piè di pagina 4"/>
          <p:cNvSpPr>
            <a:spLocks noGrp="1"/>
          </p:cNvSpPr>
          <p:nvPr>
            <p:ph type="ftr" sz="quarter" idx="11"/>
          </p:nvPr>
        </p:nvSpPr>
        <p:spPr/>
        <p:txBody>
          <a:bodyPr/>
          <a:lstStyle/>
          <a:p>
            <a:endParaRPr lang="de-DE"/>
          </a:p>
        </p:txBody>
      </p:sp>
      <p:sp>
        <p:nvSpPr>
          <p:cNvPr id="6" name="Segnaposto numero diapositiva 5"/>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3424469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8724900" y="365125"/>
            <a:ext cx="2628900" cy="5811838"/>
          </a:xfrm>
        </p:spPr>
        <p:txBody>
          <a:bodyPr vert="eaVert"/>
          <a:lstStyle/>
          <a:p>
            <a:r>
              <a:rPr lang="it-IT"/>
              <a:t>Fare clic per modificare lo stile del titolo</a:t>
            </a:r>
            <a:endParaRPr lang="de-DE"/>
          </a:p>
        </p:txBody>
      </p:sp>
      <p:sp>
        <p:nvSpPr>
          <p:cNvPr id="3" name="Segnaposto testo verticale 2"/>
          <p:cNvSpPr>
            <a:spLocks noGrp="1"/>
          </p:cNvSpPr>
          <p:nvPr>
            <p:ph type="body" orient="vert" idx="1"/>
          </p:nvPr>
        </p:nvSpPr>
        <p:spPr>
          <a:xfrm>
            <a:off x="838200" y="365125"/>
            <a:ext cx="7734300" cy="5811838"/>
          </a:xfrm>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4" name="Segnaposto data 3"/>
          <p:cNvSpPr>
            <a:spLocks noGrp="1"/>
          </p:cNvSpPr>
          <p:nvPr>
            <p:ph type="dt" sz="half" idx="10"/>
          </p:nvPr>
        </p:nvSpPr>
        <p:spPr/>
        <p:txBody>
          <a:bodyPr/>
          <a:lstStyle/>
          <a:p>
            <a:fld id="{F64A8E5F-40E5-4553-9F3C-699F1A5B8145}" type="datetimeFigureOut">
              <a:rPr lang="de-DE" smtClean="0"/>
              <a:t>30.10.2026</a:t>
            </a:fld>
            <a:endParaRPr lang="de-DE"/>
          </a:p>
        </p:txBody>
      </p:sp>
      <p:sp>
        <p:nvSpPr>
          <p:cNvPr id="5" name="Segnaposto piè di pagina 4"/>
          <p:cNvSpPr>
            <a:spLocks noGrp="1"/>
          </p:cNvSpPr>
          <p:nvPr>
            <p:ph type="ftr" sz="quarter" idx="11"/>
          </p:nvPr>
        </p:nvSpPr>
        <p:spPr/>
        <p:txBody>
          <a:bodyPr/>
          <a:lstStyle/>
          <a:p>
            <a:endParaRPr lang="de-DE"/>
          </a:p>
        </p:txBody>
      </p:sp>
      <p:sp>
        <p:nvSpPr>
          <p:cNvPr id="6" name="Segnaposto numero diapositiva 5"/>
          <p:cNvSpPr>
            <a:spLocks noGrp="1"/>
          </p:cNvSpPr>
          <p:nvPr>
            <p:ph type="sldNum" sz="quarter" idx="12"/>
          </p:nvPr>
        </p:nvSpPr>
        <p:spPr/>
        <p:txBody>
          <a:bodyPr/>
          <a:lstStyle/>
          <a:p>
            <a:fld id="{66CD45B7-DFE2-4393-8D37-380FC36BF3AA}" type="slidenum">
              <a:rPr lang="de-DE" smtClean="0"/>
              <a:t>‹N›</a:t>
            </a:fld>
            <a:endParaRPr lang="de-DE"/>
          </a:p>
        </p:txBody>
      </p:sp>
    </p:spTree>
    <p:extLst>
      <p:ext uri="{BB962C8B-B14F-4D97-AF65-F5344CB8AC3E}">
        <p14:creationId xmlns:p14="http://schemas.microsoft.com/office/powerpoint/2010/main" val="10268423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a:t>
            </a:r>
            <a:endParaRPr lang="de-DE"/>
          </a:p>
        </p:txBody>
      </p:sp>
      <p:sp>
        <p:nvSpPr>
          <p:cNvPr id="3" name="Segnaposto tes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de-DE"/>
          </a:p>
        </p:txBody>
      </p:sp>
      <p:sp>
        <p:nvSpPr>
          <p:cNvPr id="4" name="Segnaposto dat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64A8E5F-40E5-4553-9F3C-699F1A5B8145}" type="datetimeFigureOut">
              <a:rPr lang="de-DE" smtClean="0"/>
              <a:t>30.10.2026</a:t>
            </a:fld>
            <a:endParaRPr lang="de-DE"/>
          </a:p>
        </p:txBody>
      </p:sp>
      <p:sp>
        <p:nvSpPr>
          <p:cNvPr id="5" name="Segnaposto piè di pa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DE"/>
          </a:p>
        </p:txBody>
      </p:sp>
      <p:sp>
        <p:nvSpPr>
          <p:cNvPr id="6" name="Segnaposto numero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6CD45B7-DFE2-4393-8D37-380FC36BF3AA}" type="slidenum">
              <a:rPr lang="de-DE" smtClean="0"/>
              <a:t>‹N›</a:t>
            </a:fld>
            <a:endParaRPr lang="de-DE"/>
          </a:p>
        </p:txBody>
      </p:sp>
    </p:spTree>
    <p:extLst>
      <p:ext uri="{BB962C8B-B14F-4D97-AF65-F5344CB8AC3E}">
        <p14:creationId xmlns:p14="http://schemas.microsoft.com/office/powerpoint/2010/main" val="18019314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0.jpe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p:cNvSpPr>
            <a:spLocks noGrp="1"/>
          </p:cNvSpPr>
          <p:nvPr>
            <p:ph type="ctrTitle"/>
          </p:nvPr>
        </p:nvSpPr>
        <p:spPr>
          <a:xfrm>
            <a:off x="5297762" y="640080"/>
            <a:ext cx="6251110" cy="3566160"/>
          </a:xfrm>
        </p:spPr>
        <p:txBody>
          <a:bodyPr anchor="b">
            <a:normAutofit/>
          </a:bodyPr>
          <a:lstStyle/>
          <a:p>
            <a:pPr algn="l"/>
            <a:r>
              <a:rPr lang="de-DE" sz="5400"/>
              <a:t>Knowledge Graph: Introduction</a:t>
            </a:r>
          </a:p>
        </p:txBody>
      </p:sp>
      <p:pic>
        <p:nvPicPr>
          <p:cNvPr id="4" name="Picture 3" descr="Formule matematiche complesse su una lavagna">
            <a:extLst>
              <a:ext uri="{FF2B5EF4-FFF2-40B4-BE49-F238E27FC236}">
                <a16:creationId xmlns:a16="http://schemas.microsoft.com/office/drawing/2014/main" id="{76F31039-0DAC-DF21-6F15-BC937D514EE3}"/>
              </a:ext>
            </a:extLst>
          </p:cNvPr>
          <p:cNvPicPr>
            <a:picLocks noChangeAspect="1"/>
          </p:cNvPicPr>
          <p:nvPr/>
        </p:nvPicPr>
        <p:blipFill>
          <a:blip r:embed="rId2"/>
          <a:srcRect l="18020" r="32468" b="-9"/>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0"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2862" y="4409267"/>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625839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071C334-4571-A716-746B-D982B147B43E}"/>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477CF70-B8A6-8ABB-F9FE-71751019EA34}"/>
              </a:ext>
            </a:extLst>
          </p:cNvPr>
          <p:cNvSpPr>
            <a:spLocks noGrp="1"/>
          </p:cNvSpPr>
          <p:nvPr>
            <p:ph type="title"/>
          </p:nvPr>
        </p:nvSpPr>
        <p:spPr>
          <a:xfrm>
            <a:off x="838200" y="365125"/>
            <a:ext cx="10515600" cy="1325563"/>
          </a:xfrm>
        </p:spPr>
        <p:txBody>
          <a:bodyPr>
            <a:normAutofit/>
          </a:bodyPr>
          <a:lstStyle/>
          <a:p>
            <a:r>
              <a:rPr lang="en-US" sz="5400"/>
              <a:t>Knowledge Graph: Roadmap</a:t>
            </a:r>
          </a:p>
        </p:txBody>
      </p:sp>
      <p:sp>
        <p:nvSpPr>
          <p:cNvPr id="19"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C8D8378-BCEA-7A0B-8281-3B021823E9A5}"/>
              </a:ext>
            </a:extLst>
          </p:cNvPr>
          <p:cNvSpPr>
            <a:spLocks noGrp="1"/>
          </p:cNvSpPr>
          <p:nvPr>
            <p:ph idx="1"/>
          </p:nvPr>
        </p:nvSpPr>
        <p:spPr>
          <a:xfrm>
            <a:off x="838200" y="1929384"/>
            <a:ext cx="10515600" cy="4251960"/>
          </a:xfrm>
        </p:spPr>
        <p:txBody>
          <a:bodyPr vert="horz" lIns="91440" tIns="45720" rIns="91440" bIns="45720" rtlCol="0">
            <a:normAutofit/>
          </a:bodyPr>
          <a:lstStyle/>
          <a:p>
            <a:r>
              <a:rPr lang="en-US" sz="2200" b="1">
                <a:ea typeface="+mn-lt"/>
                <a:cs typeface="+mn-lt"/>
              </a:rPr>
              <a:t>1736</a:t>
            </a:r>
            <a:r>
              <a:rPr lang="en-US" sz="2200">
                <a:ea typeface="+mn-lt"/>
                <a:cs typeface="+mn-lt"/>
              </a:rPr>
              <a:t>. Graph theory was born: Leonhard Euler formulated the </a:t>
            </a:r>
            <a:r>
              <a:rPr lang="en-US" sz="2200" i="1">
                <a:ea typeface="+mn-lt"/>
                <a:cs typeface="+mn-lt"/>
              </a:rPr>
              <a:t>Königsberg Bridge Problem</a:t>
            </a:r>
            <a:r>
              <a:rPr lang="en-US" sz="2200">
                <a:ea typeface="+mn-lt"/>
                <a:cs typeface="+mn-lt"/>
              </a:rPr>
              <a:t>. </a:t>
            </a:r>
            <a:endParaRPr lang="en-US" sz="2200"/>
          </a:p>
          <a:p>
            <a:r>
              <a:rPr lang="en-US" sz="2200" b="1">
                <a:ea typeface="+mn-lt"/>
                <a:cs typeface="+mn-lt"/>
              </a:rPr>
              <a:t>1960-1970</a:t>
            </a:r>
            <a:r>
              <a:rPr lang="en-US" sz="2200">
                <a:ea typeface="+mn-lt"/>
                <a:cs typeface="+mn-lt"/>
              </a:rPr>
              <a:t>. Formalization of Semantic Network and first applications.</a:t>
            </a:r>
          </a:p>
          <a:p>
            <a:r>
              <a:rPr lang="en-US" sz="2200" b="1">
                <a:ea typeface="+mn-lt"/>
                <a:cs typeface="+mn-lt"/>
              </a:rPr>
              <a:t>1976</a:t>
            </a:r>
            <a:r>
              <a:rPr lang="en-US" sz="2200">
                <a:ea typeface="+mn-lt"/>
                <a:cs typeface="+mn-lt"/>
              </a:rPr>
              <a:t>. John F. Sowa published his first paper on Conceptual Graphs. </a:t>
            </a:r>
          </a:p>
          <a:p>
            <a:r>
              <a:rPr lang="en-US" sz="2200" b="1">
                <a:ea typeface="+mn-lt"/>
                <a:cs typeface="+mn-lt"/>
              </a:rPr>
              <a:t>1982.</a:t>
            </a:r>
            <a:r>
              <a:rPr lang="en-US" sz="2200">
                <a:ea typeface="+mn-lt"/>
                <a:cs typeface="+mn-lt"/>
              </a:rPr>
              <a:t> Knowledge Graphs were invented in the Netherlands. The theory of Knowledge Graphs was initiated by C. Hoede, a mathematician at the University of Twente, and F.N. Stokman, a mathematical sociologist at the University of Groningen. </a:t>
            </a:r>
          </a:p>
          <a:p>
            <a:r>
              <a:rPr lang="en-US" sz="2200">
                <a:ea typeface="+mn-lt"/>
                <a:cs typeface="+mn-lt"/>
              </a:rPr>
              <a:t> </a:t>
            </a:r>
            <a:r>
              <a:rPr lang="en-US" sz="2200" b="1">
                <a:ea typeface="+mn-lt"/>
                <a:cs typeface="+mn-lt"/>
              </a:rPr>
              <a:t>1999.</a:t>
            </a:r>
            <a:r>
              <a:rPr lang="en-US" sz="2200">
                <a:ea typeface="+mn-lt"/>
                <a:cs typeface="+mn-lt"/>
              </a:rPr>
              <a:t> Resource Description Framework (RDF) Model was published as a W3C Recommendation to lay a foundation for a Semantic Web. </a:t>
            </a:r>
            <a:endParaRPr lang="en-US" sz="2200"/>
          </a:p>
        </p:txBody>
      </p:sp>
    </p:spTree>
    <p:extLst>
      <p:ext uri="{BB962C8B-B14F-4D97-AF65-F5344CB8AC3E}">
        <p14:creationId xmlns:p14="http://schemas.microsoft.com/office/powerpoint/2010/main" val="22582884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68A7F6E-C31B-FDCA-B0A3-EAD6A22FE50D}"/>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29595978-BFDA-E7B3-8238-DE8F580C94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0398C3-4B27-47B4-93E4-AE28F28C7D04}"/>
              </a:ext>
            </a:extLst>
          </p:cNvPr>
          <p:cNvSpPr>
            <a:spLocks noGrp="1"/>
          </p:cNvSpPr>
          <p:nvPr>
            <p:ph type="title"/>
          </p:nvPr>
        </p:nvSpPr>
        <p:spPr>
          <a:xfrm>
            <a:off x="838200" y="365125"/>
            <a:ext cx="10515600" cy="1325563"/>
          </a:xfrm>
        </p:spPr>
        <p:txBody>
          <a:bodyPr>
            <a:normAutofit/>
          </a:bodyPr>
          <a:lstStyle/>
          <a:p>
            <a:r>
              <a:rPr lang="en-US" sz="5400"/>
              <a:t>Knowledge Graph: Roadmap</a:t>
            </a:r>
          </a:p>
        </p:txBody>
      </p:sp>
      <p:sp>
        <p:nvSpPr>
          <p:cNvPr id="19" name="sketch line">
            <a:extLst>
              <a:ext uri="{FF2B5EF4-FFF2-40B4-BE49-F238E27FC236}">
                <a16:creationId xmlns:a16="http://schemas.microsoft.com/office/drawing/2014/main" id="{B5AF5A2A-0C36-BB8F-D0E8-8E8339273E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2">
            <a:extLst>
              <a:ext uri="{FF2B5EF4-FFF2-40B4-BE49-F238E27FC236}">
                <a16:creationId xmlns:a16="http://schemas.microsoft.com/office/drawing/2014/main" id="{0605ECE1-80AC-88C8-06CE-BD295317FB2C}"/>
              </a:ext>
            </a:extLst>
          </p:cNvPr>
          <p:cNvSpPr>
            <a:spLocks noGrp="1"/>
          </p:cNvSpPr>
          <p:nvPr/>
        </p:nvSpPr>
        <p:spPr>
          <a:xfrm>
            <a:off x="427370" y="1874303"/>
            <a:ext cx="11595122" cy="4302660"/>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200" b="1">
                <a:ea typeface="+mn-lt"/>
                <a:cs typeface="+mn-lt"/>
              </a:rPr>
              <a:t>2001</a:t>
            </a:r>
            <a:r>
              <a:rPr lang="en-US" sz="2200">
                <a:ea typeface="+mn-lt"/>
                <a:cs typeface="+mn-lt"/>
              </a:rPr>
              <a:t>. Tim Berners-Lee, Jim Hendler and Ora Lassila published their ground-breaking article "The Semantic Web"  in the Scientific American Magazine. </a:t>
            </a:r>
          </a:p>
          <a:p>
            <a:r>
              <a:rPr lang="en-US" sz="2200" b="1" dirty="0">
                <a:ea typeface="+mn-lt"/>
                <a:cs typeface="+mn-lt"/>
              </a:rPr>
              <a:t>2006</a:t>
            </a:r>
            <a:r>
              <a:rPr lang="en-US" sz="2200" dirty="0">
                <a:ea typeface="+mn-lt"/>
                <a:cs typeface="+mn-lt"/>
              </a:rPr>
              <a:t>. the </a:t>
            </a:r>
            <a:r>
              <a:rPr lang="en-US" sz="2200" dirty="0" err="1">
                <a:ea typeface="+mn-lt"/>
                <a:cs typeface="+mn-lt"/>
              </a:rPr>
              <a:t>DBpedia</a:t>
            </a:r>
            <a:r>
              <a:rPr lang="en-US" sz="2200" dirty="0">
                <a:ea typeface="+mn-lt"/>
                <a:cs typeface="+mn-lt"/>
              </a:rPr>
              <a:t> project created a seed for the emergence of the Linked Open Data cloud by transforming Wikipedia content into linked data. </a:t>
            </a:r>
          </a:p>
          <a:p>
            <a:r>
              <a:rPr lang="en-US" sz="2200" b="1">
                <a:ea typeface="+mn-lt"/>
                <a:cs typeface="+mn-lt"/>
              </a:rPr>
              <a:t>2010</a:t>
            </a:r>
            <a:r>
              <a:rPr lang="en-US" sz="2200">
                <a:ea typeface="+mn-lt"/>
                <a:cs typeface="+mn-lt"/>
              </a:rPr>
              <a:t>. The Labelled Property Graph model was developed. </a:t>
            </a:r>
          </a:p>
          <a:p>
            <a:r>
              <a:rPr lang="en-US" sz="2200" b="1" dirty="0">
                <a:ea typeface="+mn-lt"/>
                <a:cs typeface="+mn-lt"/>
              </a:rPr>
              <a:t>2012.</a:t>
            </a:r>
            <a:r>
              <a:rPr lang="en-US" sz="2200" dirty="0">
                <a:ea typeface="+mn-lt"/>
                <a:cs typeface="+mn-lt"/>
              </a:rPr>
              <a:t> Google introduced their Knowledge Graph, and since then a lot of companies have started to build their own projects using knowledge graphs in various </a:t>
            </a:r>
            <a:r>
              <a:rPr lang="en-US" sz="2200" dirty="0" err="1">
                <a:ea typeface="+mn-lt"/>
                <a:cs typeface="+mn-lt"/>
              </a:rPr>
              <a:t>flavours</a:t>
            </a:r>
            <a:r>
              <a:rPr lang="en-US" sz="2200" dirty="0">
                <a:ea typeface="+mn-lt"/>
                <a:cs typeface="+mn-lt"/>
              </a:rPr>
              <a:t>.</a:t>
            </a:r>
          </a:p>
          <a:p>
            <a:r>
              <a:rPr lang="en-US" sz="2200" b="1" dirty="0">
                <a:ea typeface="+mn-lt"/>
                <a:cs typeface="+mn-lt"/>
              </a:rPr>
              <a:t>2018</a:t>
            </a:r>
            <a:r>
              <a:rPr lang="en-US" sz="2200" dirty="0">
                <a:ea typeface="+mn-lt"/>
                <a:cs typeface="+mn-lt"/>
              </a:rPr>
              <a:t>. The </a:t>
            </a:r>
            <a:r>
              <a:rPr lang="en-US" sz="2200" dirty="0" err="1">
                <a:ea typeface="+mn-lt"/>
                <a:cs typeface="+mn-lt"/>
              </a:rPr>
              <a:t>GraphQL</a:t>
            </a:r>
            <a:r>
              <a:rPr lang="en-US" sz="2200" dirty="0">
                <a:ea typeface="+mn-lt"/>
                <a:cs typeface="+mn-lt"/>
              </a:rPr>
              <a:t>* Manifesto was published to agree on a standard for a property graph query language (ISO/IEC 39075). </a:t>
            </a:r>
          </a:p>
          <a:p>
            <a:r>
              <a:rPr lang="en-US" sz="2200" b="1">
                <a:ea typeface="+mn-lt"/>
                <a:cs typeface="+mn-lt"/>
              </a:rPr>
              <a:t>2019.</a:t>
            </a:r>
            <a:r>
              <a:rPr lang="en-US" sz="2200">
                <a:ea typeface="+mn-lt"/>
                <a:cs typeface="+mn-lt"/>
              </a:rPr>
              <a:t> Knowledge graphs had become mainstream, involving several disciplines.</a:t>
            </a:r>
          </a:p>
          <a:p>
            <a:endParaRPr lang="en-US" sz="2200"/>
          </a:p>
        </p:txBody>
      </p:sp>
      <p:sp>
        <p:nvSpPr>
          <p:cNvPr id="7" name="CasellaDiTesto 3">
            <a:extLst>
              <a:ext uri="{FF2B5EF4-FFF2-40B4-BE49-F238E27FC236}">
                <a16:creationId xmlns:a16="http://schemas.microsoft.com/office/drawing/2014/main" id="{6605F0EA-6C0D-4827-F230-D79DB483E959}"/>
              </a:ext>
            </a:extLst>
          </p:cNvPr>
          <p:cNvSpPr txBox="1"/>
          <p:nvPr/>
        </p:nvSpPr>
        <p:spPr>
          <a:xfrm>
            <a:off x="427138" y="6486981"/>
            <a:ext cx="5437694" cy="36933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a:t>*</a:t>
            </a:r>
            <a:r>
              <a:rPr lang="it-IT" err="1">
                <a:solidFill>
                  <a:srgbClr val="000000"/>
                </a:solidFill>
                <a:latin typeface="Aptos"/>
              </a:rPr>
              <a:t>not</a:t>
            </a:r>
            <a:r>
              <a:rPr lang="it-IT">
                <a:solidFill>
                  <a:srgbClr val="000000"/>
                </a:solidFill>
                <a:latin typeface="Aptos"/>
              </a:rPr>
              <a:t> to be </a:t>
            </a:r>
            <a:r>
              <a:rPr lang="it-IT" err="1">
                <a:solidFill>
                  <a:srgbClr val="000000"/>
                </a:solidFill>
                <a:latin typeface="Aptos"/>
              </a:rPr>
              <a:t>confused</a:t>
            </a:r>
            <a:r>
              <a:rPr lang="it-IT">
                <a:solidFill>
                  <a:srgbClr val="000000"/>
                </a:solidFill>
                <a:latin typeface="Aptos"/>
              </a:rPr>
              <a:t> with </a:t>
            </a:r>
            <a:r>
              <a:rPr lang="it-IT" err="1">
                <a:solidFill>
                  <a:srgbClr val="000000"/>
                </a:solidFill>
                <a:latin typeface="Aptos"/>
              </a:rPr>
              <a:t>GraphQL</a:t>
            </a:r>
            <a:r>
              <a:rPr lang="it-IT">
                <a:solidFill>
                  <a:srgbClr val="000000"/>
                </a:solidFill>
                <a:latin typeface="Aptos"/>
              </a:rPr>
              <a:t> for </a:t>
            </a:r>
            <a:r>
              <a:rPr lang="it-IT" err="1">
                <a:solidFill>
                  <a:srgbClr val="000000"/>
                </a:solidFill>
                <a:latin typeface="Aptos"/>
              </a:rPr>
              <a:t>querying</a:t>
            </a:r>
            <a:r>
              <a:rPr lang="it-IT">
                <a:solidFill>
                  <a:srgbClr val="000000"/>
                </a:solidFill>
                <a:latin typeface="Aptos"/>
              </a:rPr>
              <a:t> </a:t>
            </a:r>
            <a:r>
              <a:rPr lang="it-IT" err="1">
                <a:solidFill>
                  <a:srgbClr val="000000"/>
                </a:solidFill>
                <a:latin typeface="Aptos"/>
              </a:rPr>
              <a:t>APIs</a:t>
            </a:r>
            <a:r>
              <a:rPr lang="it-IT">
                <a:solidFill>
                  <a:srgbClr val="000000"/>
                </a:solidFill>
                <a:latin typeface="Aptos"/>
              </a:rPr>
              <a:t>.</a:t>
            </a:r>
          </a:p>
        </p:txBody>
      </p:sp>
    </p:spTree>
    <p:extLst>
      <p:ext uri="{BB962C8B-B14F-4D97-AF65-F5344CB8AC3E}">
        <p14:creationId xmlns:p14="http://schemas.microsoft.com/office/powerpoint/2010/main" val="5625457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DD59682-DB85-911D-4B09-F893A80D49D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3CE5116-F927-F796-7AC3-ED23B8E47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A025E512-F114-058B-BFE5-39E2B7172F2A}"/>
              </a:ext>
            </a:extLst>
          </p:cNvPr>
          <p:cNvSpPr>
            <a:spLocks noGrp="1"/>
          </p:cNvSpPr>
          <p:nvPr>
            <p:ph type="ctrTitle"/>
          </p:nvPr>
        </p:nvSpPr>
        <p:spPr>
          <a:xfrm>
            <a:off x="5297762" y="640080"/>
            <a:ext cx="6251110" cy="3566160"/>
          </a:xfrm>
        </p:spPr>
        <p:txBody>
          <a:bodyPr anchor="b">
            <a:normAutofit/>
          </a:bodyPr>
          <a:lstStyle/>
          <a:p>
            <a:pPr algn="l"/>
            <a:r>
              <a:rPr lang="de-DE" sz="5400"/>
              <a:t>Data Models</a:t>
            </a:r>
            <a:endParaRPr lang="it-IT"/>
          </a:p>
        </p:txBody>
      </p:sp>
      <p:pic>
        <p:nvPicPr>
          <p:cNvPr id="4" name="Picture 3" descr="Formule matematiche complesse su una lavagna">
            <a:extLst>
              <a:ext uri="{FF2B5EF4-FFF2-40B4-BE49-F238E27FC236}">
                <a16:creationId xmlns:a16="http://schemas.microsoft.com/office/drawing/2014/main" id="{E77B60E8-8FF6-0F4E-0B56-EE47F1258983}"/>
              </a:ext>
            </a:extLst>
          </p:cNvPr>
          <p:cNvPicPr>
            <a:picLocks noChangeAspect="1"/>
          </p:cNvPicPr>
          <p:nvPr/>
        </p:nvPicPr>
        <p:blipFill>
          <a:blip r:embed="rId2"/>
          <a:srcRect l="18020" r="32468" b="-9"/>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0" name="sketchy line">
            <a:extLst>
              <a:ext uri="{FF2B5EF4-FFF2-40B4-BE49-F238E27FC236}">
                <a16:creationId xmlns:a16="http://schemas.microsoft.com/office/drawing/2014/main" id="{A1B5B17D-E8A7-B941-F0D8-8DA96890D2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2862" y="4409267"/>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303799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F860D10-E0D5-E58B-B637-6B9A68C0BFF6}"/>
            </a:ext>
          </a:extLst>
        </p:cNvPr>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43A711D5-20A5-A7AB-44E5-63526A6C2515}"/>
              </a:ext>
            </a:extLst>
          </p:cNvPr>
          <p:cNvSpPr>
            <a:spLocks noGrp="1"/>
          </p:cNvSpPr>
          <p:nvPr>
            <p:ph type="ctrTitle"/>
          </p:nvPr>
        </p:nvSpPr>
        <p:spPr>
          <a:xfrm>
            <a:off x="838200" y="365125"/>
            <a:ext cx="10515600" cy="1325563"/>
          </a:xfrm>
        </p:spPr>
        <p:txBody>
          <a:bodyPr vert="horz" lIns="91440" tIns="45720" rIns="91440" bIns="45720" rtlCol="0" anchor="ctr">
            <a:normAutofit/>
          </a:bodyPr>
          <a:lstStyle/>
          <a:p>
            <a:pPr algn="l"/>
            <a:r>
              <a:rPr lang="en-US" sz="5400" kern="1200">
                <a:latin typeface="+mj-lt"/>
                <a:ea typeface="+mj-ea"/>
                <a:cs typeface="+mj-cs"/>
              </a:rPr>
              <a:t>Knowledge Graph</a:t>
            </a:r>
            <a:r>
              <a:rPr lang="en-US" sz="5400"/>
              <a:t>: Definitions</a:t>
            </a:r>
            <a:endParaRPr lang="en-US" sz="5400" kern="1200">
              <a:latin typeface="+mj-lt"/>
              <a:ea typeface="+mj-ea"/>
              <a:cs typeface="+mj-cs"/>
            </a:endParaRPr>
          </a:p>
        </p:txBody>
      </p:sp>
      <p:sp>
        <p:nvSpPr>
          <p:cNvPr id="28"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ottotitolo 2">
            <a:extLst>
              <a:ext uri="{FF2B5EF4-FFF2-40B4-BE49-F238E27FC236}">
                <a16:creationId xmlns:a16="http://schemas.microsoft.com/office/drawing/2014/main" id="{DBD6B697-4BFF-5779-1B70-E57C276E3301}"/>
              </a:ext>
            </a:extLst>
          </p:cNvPr>
          <p:cNvSpPr>
            <a:spLocks noGrp="1"/>
          </p:cNvSpPr>
          <p:nvPr>
            <p:ph type="subTitle" idx="1"/>
          </p:nvPr>
        </p:nvSpPr>
        <p:spPr>
          <a:xfrm>
            <a:off x="838200" y="1929384"/>
            <a:ext cx="10515600" cy="4413324"/>
          </a:xfrm>
        </p:spPr>
        <p:txBody>
          <a:bodyPr vert="horz" lIns="91440" tIns="45720" rIns="91440" bIns="45720" rtlCol="0" anchor="t">
            <a:normAutofit/>
          </a:bodyPr>
          <a:lstStyle/>
          <a:p>
            <a:pPr marL="628650" indent="-228600" algn="l">
              <a:buFont typeface="Calibri" panose="020B0604020202020204" pitchFamily="34" charset="0"/>
              <a:buChar char="-"/>
            </a:pPr>
            <a:endParaRPr lang="en-US" sz="2200"/>
          </a:p>
          <a:p>
            <a:pPr marL="342900" indent="-342900" algn="l">
              <a:buFont typeface="Calibri" panose="020B0604020202020204" pitchFamily="34" charset="0"/>
              <a:buChar char="-"/>
            </a:pPr>
            <a:r>
              <a:rPr lang="en-US" sz="2200">
                <a:ea typeface="+mn-lt"/>
                <a:cs typeface="+mn-lt"/>
              </a:rPr>
              <a:t>Euler circles and Venn diagrams  helped humans to reason through visual insights.</a:t>
            </a:r>
            <a:endParaRPr lang="en-US"/>
          </a:p>
          <a:p>
            <a:pPr marL="342900" indent="-342900" algn="l">
              <a:buFont typeface="Calibri" panose="020B0604020202020204" pitchFamily="34" charset="0"/>
              <a:buChar char="-"/>
            </a:pPr>
            <a:r>
              <a:rPr lang="en-US" sz="2200">
                <a:ea typeface="+mn-lt"/>
                <a:cs typeface="+mn-lt"/>
              </a:rPr>
              <a:t>Semantic networks  and Conceptual Graphs:</a:t>
            </a:r>
          </a:p>
          <a:p>
            <a:pPr marL="800100" lvl="1" indent="-285750" algn="l">
              <a:buFont typeface="Courier New" panose="020B0604020202020204" pitchFamily="34" charset="0"/>
              <a:buChar char="o"/>
            </a:pPr>
            <a:r>
              <a:rPr lang="en-US" sz="1800">
                <a:ea typeface="+mn-lt"/>
                <a:cs typeface="+mn-lt"/>
              </a:rPr>
              <a:t>knowledge representation through diagrams (specifically graphs) and visual means; </a:t>
            </a:r>
          </a:p>
          <a:p>
            <a:pPr marL="800100" lvl="1" indent="-285750" algn="l">
              <a:buFont typeface="Courier New" panose="020B0604020202020204" pitchFamily="34" charset="0"/>
              <a:buChar char="o"/>
            </a:pPr>
            <a:r>
              <a:rPr lang="en-US" sz="1800">
                <a:ea typeface="+mn-lt"/>
                <a:cs typeface="+mn-lt"/>
              </a:rPr>
              <a:t>computational procedures and algorithms to perform formal reasoning; </a:t>
            </a:r>
          </a:p>
          <a:p>
            <a:pPr marL="800100" lvl="1" indent="-285750" algn="l">
              <a:buFont typeface="Courier New" panose="020B0604020202020204" pitchFamily="34" charset="0"/>
              <a:buChar char="o"/>
            </a:pPr>
            <a:r>
              <a:rPr lang="en-US" sz="1800">
                <a:ea typeface="+mn-lt"/>
                <a:cs typeface="+mn-lt"/>
              </a:rPr>
              <a:t>combinations of formal (logical) and statistical forms of reasoning; </a:t>
            </a:r>
          </a:p>
          <a:p>
            <a:pPr marL="800100" lvl="1" indent="-285750" algn="l">
              <a:buFont typeface="Courier New" panose="020B0604020202020204" pitchFamily="34" charset="0"/>
              <a:buChar char="o"/>
            </a:pPr>
            <a:r>
              <a:rPr lang="en-US" sz="1800">
                <a:ea typeface="+mn-lt"/>
                <a:cs typeface="+mn-lt"/>
              </a:rPr>
              <a:t>relevance of different types of data (e.g., images, sound) as sources of knowledge.</a:t>
            </a:r>
            <a:endParaRPr lang="en-US" sz="1800"/>
          </a:p>
          <a:p>
            <a:pPr marL="342900" indent="-342900" algn="l">
              <a:buFont typeface="Calibri" panose="020B0604020202020204" pitchFamily="34" charset="0"/>
              <a:buChar char="-"/>
            </a:pPr>
            <a:r>
              <a:rPr lang="en-US" sz="2200">
                <a:ea typeface="+mn-lt"/>
                <a:cs typeface="+mn-lt"/>
              </a:rPr>
              <a:t>Knowledge graph is a graph where nodes represent entities, and edges represent relationships between those entities. Usually, it is a </a:t>
            </a:r>
            <a:r>
              <a:rPr lang="en-US" sz="2200" b="1">
                <a:ea typeface="+mn-lt"/>
                <a:cs typeface="+mn-lt"/>
              </a:rPr>
              <a:t>directed</a:t>
            </a:r>
            <a:r>
              <a:rPr lang="en-US" sz="2200">
                <a:ea typeface="+mn-lt"/>
                <a:cs typeface="+mn-lt"/>
              </a:rPr>
              <a:t> </a:t>
            </a:r>
            <a:r>
              <a:rPr lang="en-US" sz="2200" b="1">
                <a:ea typeface="+mn-lt"/>
                <a:cs typeface="+mn-lt"/>
              </a:rPr>
              <a:t>edge</a:t>
            </a:r>
            <a:r>
              <a:rPr lang="en-US" sz="2200">
                <a:ea typeface="+mn-lt"/>
                <a:cs typeface="+mn-lt"/>
              </a:rPr>
              <a:t> </a:t>
            </a:r>
            <a:r>
              <a:rPr lang="en-US" sz="2200" b="1">
                <a:ea typeface="+mn-lt"/>
                <a:cs typeface="+mn-lt"/>
              </a:rPr>
              <a:t>labelled (property) graph</a:t>
            </a:r>
            <a:r>
              <a:rPr lang="en-US" sz="2200">
                <a:ea typeface="+mn-lt"/>
                <a:cs typeface="+mn-lt"/>
              </a:rPr>
              <a:t> (2014)</a:t>
            </a:r>
            <a:endParaRPr lang="en-US" sz="2200"/>
          </a:p>
          <a:p>
            <a:pPr marL="342900" indent="-342900" algn="l">
              <a:buFont typeface="Calibri" panose="020B0604020202020204" pitchFamily="34" charset="0"/>
              <a:buChar char="-"/>
            </a:pPr>
            <a:r>
              <a:rPr lang="en-US" sz="2200">
                <a:ea typeface="+mn-lt"/>
                <a:cs typeface="+mn-lt"/>
              </a:rPr>
              <a:t>A knowledge graph is a graph-structured knowledge base (KB) (2016) --  KB is any logical formalism that can assert what is true in the considered domain.</a:t>
            </a:r>
          </a:p>
          <a:p>
            <a:pPr marL="628650" indent="-228600" algn="l">
              <a:buFont typeface="Calibri" panose="020B0604020202020204" pitchFamily="34" charset="0"/>
              <a:buChar char="-"/>
            </a:pPr>
            <a:endParaRPr lang="en-US" sz="2200"/>
          </a:p>
        </p:txBody>
      </p:sp>
    </p:spTree>
    <p:extLst>
      <p:ext uri="{BB962C8B-B14F-4D97-AF65-F5344CB8AC3E}">
        <p14:creationId xmlns:p14="http://schemas.microsoft.com/office/powerpoint/2010/main" val="5233273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9E2EB68-DB2A-A827-D5E3-6E39AA5C0B46}"/>
            </a:ext>
          </a:extLst>
        </p:cNvPr>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627E173A-64E9-D00F-487F-7A312A262F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72E785BE-7764-6C39-D8A9-276903809E3A}"/>
              </a:ext>
            </a:extLst>
          </p:cNvPr>
          <p:cNvSpPr>
            <a:spLocks noGrp="1"/>
          </p:cNvSpPr>
          <p:nvPr>
            <p:ph type="ctrTitle"/>
          </p:nvPr>
        </p:nvSpPr>
        <p:spPr>
          <a:xfrm>
            <a:off x="838200" y="365125"/>
            <a:ext cx="10515600" cy="1325563"/>
          </a:xfrm>
        </p:spPr>
        <p:txBody>
          <a:bodyPr vert="horz" lIns="91440" tIns="45720" rIns="91440" bIns="45720" rtlCol="0" anchor="ctr">
            <a:normAutofit/>
          </a:bodyPr>
          <a:lstStyle/>
          <a:p>
            <a:pPr algn="l"/>
            <a:r>
              <a:rPr lang="en-US" sz="5400" kern="1200">
                <a:latin typeface="+mj-lt"/>
                <a:ea typeface="+mj-ea"/>
                <a:cs typeface="+mj-cs"/>
              </a:rPr>
              <a:t>Knowledge Graph</a:t>
            </a:r>
            <a:r>
              <a:rPr lang="en-US" sz="5400"/>
              <a:t>: Definitions</a:t>
            </a:r>
            <a:endParaRPr lang="en-US" sz="5400" kern="1200">
              <a:latin typeface="+mj-lt"/>
              <a:ea typeface="+mj-ea"/>
              <a:cs typeface="+mj-cs"/>
            </a:endParaRPr>
          </a:p>
        </p:txBody>
      </p:sp>
      <p:sp>
        <p:nvSpPr>
          <p:cNvPr id="28" name="sketch line">
            <a:extLst>
              <a:ext uri="{FF2B5EF4-FFF2-40B4-BE49-F238E27FC236}">
                <a16:creationId xmlns:a16="http://schemas.microsoft.com/office/drawing/2014/main" id="{ED8E4336-D052-4D1F-D8BA-886CCBBE5D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ottotitolo 2">
            <a:extLst>
              <a:ext uri="{FF2B5EF4-FFF2-40B4-BE49-F238E27FC236}">
                <a16:creationId xmlns:a16="http://schemas.microsoft.com/office/drawing/2014/main" id="{0C749B6E-8BDC-D50E-66E0-708EB752BC2A}"/>
              </a:ext>
            </a:extLst>
          </p:cNvPr>
          <p:cNvSpPr>
            <a:spLocks noGrp="1"/>
          </p:cNvSpPr>
          <p:nvPr>
            <p:ph type="subTitle" idx="1"/>
          </p:nvPr>
        </p:nvSpPr>
        <p:spPr>
          <a:xfrm>
            <a:off x="838200" y="1929384"/>
            <a:ext cx="10515600" cy="4251960"/>
          </a:xfrm>
        </p:spPr>
        <p:txBody>
          <a:bodyPr vert="horz" lIns="91440" tIns="45720" rIns="91440" bIns="45720" rtlCol="0" anchor="t">
            <a:normAutofit/>
          </a:bodyPr>
          <a:lstStyle/>
          <a:p>
            <a:pPr marL="628650" indent="-228600" algn="l">
              <a:buChar char="•"/>
            </a:pPr>
            <a:endParaRPr lang="en-US" sz="2200"/>
          </a:p>
          <a:p>
            <a:pPr marL="628650" indent="-228600" algn="l">
              <a:buChar char="•"/>
            </a:pPr>
            <a:endParaRPr lang="en-US" sz="2200"/>
          </a:p>
        </p:txBody>
      </p:sp>
      <p:pic>
        <p:nvPicPr>
          <p:cNvPr id="4" name="Picture 3" descr="Immagine che contiene testo, schermata, Carattere, linea&#10;&#10;Il contenuto generato dall&amp;#39;IA potrebbe non essere corretto.">
            <a:extLst>
              <a:ext uri="{FF2B5EF4-FFF2-40B4-BE49-F238E27FC236}">
                <a16:creationId xmlns:a16="http://schemas.microsoft.com/office/drawing/2014/main" id="{F6126492-0DFD-89D4-EDF4-344D58BBE272}"/>
              </a:ext>
            </a:extLst>
          </p:cNvPr>
          <p:cNvPicPr>
            <a:picLocks noChangeAspect="1"/>
          </p:cNvPicPr>
          <p:nvPr/>
        </p:nvPicPr>
        <p:blipFill>
          <a:blip r:embed="rId2"/>
          <a:srcRect r="67" b="140"/>
          <a:stretch>
            <a:fillRect/>
          </a:stretch>
        </p:blipFill>
        <p:spPr>
          <a:xfrm>
            <a:off x="1057495" y="1811822"/>
            <a:ext cx="10293190" cy="4966376"/>
          </a:xfrm>
          <a:prstGeom prst="rect">
            <a:avLst/>
          </a:prstGeom>
        </p:spPr>
      </p:pic>
    </p:spTree>
    <p:extLst>
      <p:ext uri="{BB962C8B-B14F-4D97-AF65-F5344CB8AC3E}">
        <p14:creationId xmlns:p14="http://schemas.microsoft.com/office/powerpoint/2010/main" val="15481492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EC7BCEB-381E-A3EA-1DF2-6E7148A93D34}"/>
            </a:ext>
          </a:extLst>
        </p:cNvPr>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8E77F0B3-3D82-FECE-860F-2F1BC3818F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04CAFC1B-C800-FD31-CB18-BEAEB0FDAAB0}"/>
              </a:ext>
            </a:extLst>
          </p:cNvPr>
          <p:cNvSpPr>
            <a:spLocks noGrp="1"/>
          </p:cNvSpPr>
          <p:nvPr>
            <p:ph type="ctrTitle"/>
          </p:nvPr>
        </p:nvSpPr>
        <p:spPr>
          <a:xfrm>
            <a:off x="838200" y="365125"/>
            <a:ext cx="10515600" cy="1325563"/>
          </a:xfrm>
        </p:spPr>
        <p:txBody>
          <a:bodyPr vert="horz" lIns="91440" tIns="45720" rIns="91440" bIns="45720" rtlCol="0" anchor="ctr">
            <a:normAutofit/>
          </a:bodyPr>
          <a:lstStyle/>
          <a:p>
            <a:pPr algn="l"/>
            <a:r>
              <a:rPr lang="en-US" sz="5400" kern="1200">
                <a:latin typeface="+mj-lt"/>
                <a:ea typeface="+mj-ea"/>
                <a:cs typeface="+mj-cs"/>
              </a:rPr>
              <a:t>Knowledge Graph</a:t>
            </a:r>
            <a:r>
              <a:rPr lang="en-US" sz="5400"/>
              <a:t>: Definitions</a:t>
            </a:r>
            <a:endParaRPr lang="en-US" sz="5400" kern="1200">
              <a:latin typeface="+mj-lt"/>
              <a:ea typeface="+mj-ea"/>
              <a:cs typeface="+mj-cs"/>
            </a:endParaRPr>
          </a:p>
        </p:txBody>
      </p:sp>
      <p:sp>
        <p:nvSpPr>
          <p:cNvPr id="28" name="sketch line">
            <a:extLst>
              <a:ext uri="{FF2B5EF4-FFF2-40B4-BE49-F238E27FC236}">
                <a16:creationId xmlns:a16="http://schemas.microsoft.com/office/drawing/2014/main" id="{7684B7EA-A579-2BF7-52C6-3C83B946BA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ottotitolo 2">
            <a:extLst>
              <a:ext uri="{FF2B5EF4-FFF2-40B4-BE49-F238E27FC236}">
                <a16:creationId xmlns:a16="http://schemas.microsoft.com/office/drawing/2014/main" id="{4369954C-17D8-9FCD-8835-89E9DFEED7B2}"/>
              </a:ext>
            </a:extLst>
          </p:cNvPr>
          <p:cNvSpPr>
            <a:spLocks noGrp="1"/>
          </p:cNvSpPr>
          <p:nvPr>
            <p:ph type="subTitle" idx="1"/>
          </p:nvPr>
        </p:nvSpPr>
        <p:spPr>
          <a:xfrm>
            <a:off x="449425" y="1672792"/>
            <a:ext cx="11440885" cy="4811796"/>
          </a:xfrm>
        </p:spPr>
        <p:txBody>
          <a:bodyPr vert="horz" lIns="91440" tIns="45720" rIns="91440" bIns="45720" rtlCol="0" anchor="t">
            <a:normAutofit fontScale="92500" lnSpcReduction="10000"/>
          </a:bodyPr>
          <a:lstStyle/>
          <a:p>
            <a:pPr marL="628650" indent="-228600" algn="l">
              <a:buChar char="•"/>
            </a:pPr>
            <a:endParaRPr lang="en-US" sz="2200"/>
          </a:p>
          <a:p>
            <a:pPr marL="285750" indent="-285750" algn="l">
              <a:buFont typeface="Arial,Sans-Serif" panose="020B0604020202020204" pitchFamily="34" charset="0"/>
              <a:buChar char="•"/>
            </a:pPr>
            <a:r>
              <a:rPr lang="en-US" sz="2200" i="1" dirty="0"/>
              <a:t>A knowledge graph is a structure amounting to a set of objects in which some pairs of the objects are in some sense related (</a:t>
            </a:r>
            <a:r>
              <a:rPr lang="en-US" sz="2200" dirty="0"/>
              <a:t>Ehrlinger and </a:t>
            </a:r>
            <a:r>
              <a:rPr lang="en-US" sz="2200" dirty="0" err="1"/>
              <a:t>Wöß</a:t>
            </a:r>
            <a:r>
              <a:rPr lang="en-US" sz="2200" dirty="0"/>
              <a:t>, 2016).</a:t>
            </a:r>
            <a:endParaRPr lang="en-US" dirty="0"/>
          </a:p>
          <a:p>
            <a:pPr marL="285750" indent="-285750" algn="l">
              <a:buFont typeface="Arial,Sans-Serif" panose="020B0604020202020204" pitchFamily="34" charset="0"/>
              <a:buChar char="•"/>
            </a:pPr>
            <a:r>
              <a:rPr lang="en-US" sz="2200">
                <a:ea typeface="+mn-lt"/>
                <a:cs typeface="+mn-lt"/>
              </a:rPr>
              <a:t>A knowledge graph is a structure  intended to accumulate and convey knowledge of the real world, whose nodes represent entities of interest and whose edges represent relations between these entities.</a:t>
            </a:r>
            <a:endParaRPr lang="en-US" sz="2200" err="1"/>
          </a:p>
          <a:p>
            <a:pPr marL="285750" indent="-285750" algn="l">
              <a:lnSpc>
                <a:spcPct val="100000"/>
              </a:lnSpc>
              <a:buFont typeface="Arial,Sans-Serif" panose="020B0604020202020204" pitchFamily="34" charset="0"/>
              <a:buChar char="•"/>
            </a:pPr>
            <a:r>
              <a:rPr lang="en-US" sz="2200">
                <a:ea typeface="+mn-lt"/>
                <a:cs typeface="+mn-lt"/>
              </a:rPr>
              <a:t>A knowledge graph mainly describes real world entities and their interrelations, organized in a graph; defines possible classes and relations of entities in a schema; allows for potentially interrelating arbitrary entities with each other; covers various topical domains.</a:t>
            </a:r>
            <a:endParaRPr lang="it-IT" sz="2200">
              <a:ea typeface="+mn-lt"/>
              <a:cs typeface="+mn-lt"/>
            </a:endParaRPr>
          </a:p>
          <a:p>
            <a:pPr marL="285750" indent="-285750" algn="l">
              <a:lnSpc>
                <a:spcPct val="100000"/>
              </a:lnSpc>
              <a:buFont typeface="Arial,Sans-Serif" panose="020B0604020202020204" pitchFamily="34" charset="0"/>
              <a:buChar char="•"/>
            </a:pPr>
            <a:r>
              <a:rPr lang="en-US" sz="2200">
                <a:ea typeface="+mn-lt"/>
                <a:cs typeface="+mn-lt"/>
              </a:rPr>
              <a:t>A knowledge graph describes objects of interest and connections between them. Many practical implementations impose constraints on the links in knowledge graphs by defining a schema or ontology. Knowledge graphs and similar structures usually provide a shared substrate of knowledge within an organization, allowing different products and applications to use similar vocabulary and to reuse definitions and descriptions that others create. Furthermore, they usually provide a compact formal representation that developers can use to infer new facts and build up the knowledge.</a:t>
            </a:r>
            <a:endParaRPr lang="it-IT" sz="2200">
              <a:ea typeface="+mn-lt"/>
              <a:cs typeface="+mn-lt"/>
            </a:endParaRPr>
          </a:p>
          <a:p>
            <a:pPr marL="285750" indent="-285750" algn="l">
              <a:buFont typeface="Arial,Sans-Serif" panose="020B0604020202020204" pitchFamily="34" charset="0"/>
              <a:buChar char="•"/>
            </a:pPr>
            <a:endParaRPr lang="en-US" sz="2000" dirty="0"/>
          </a:p>
          <a:p>
            <a:pPr marL="285750" indent="-285750" algn="l">
              <a:buFont typeface="Arial,Sans-Serif" panose="020B0604020202020204" pitchFamily="34" charset="0"/>
              <a:buChar char="•"/>
            </a:pPr>
            <a:endParaRPr lang="en-US" sz="2200"/>
          </a:p>
          <a:p>
            <a:pPr algn="l"/>
            <a:endParaRPr lang="en-US" sz="2800"/>
          </a:p>
          <a:p>
            <a:pPr marL="628650" indent="-228600" algn="l">
              <a:buChar char="•"/>
            </a:pPr>
            <a:endParaRPr lang="en-US" sz="2200"/>
          </a:p>
        </p:txBody>
      </p:sp>
    </p:spTree>
    <p:extLst>
      <p:ext uri="{BB962C8B-B14F-4D97-AF65-F5344CB8AC3E}">
        <p14:creationId xmlns:p14="http://schemas.microsoft.com/office/powerpoint/2010/main" val="2377237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85D82AC-72A1-F52B-D096-C536CA0104C5}"/>
            </a:ext>
          </a:extLst>
        </p:cNvPr>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01D720C2-440A-2714-F848-7B69E7F758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25044789-0EB3-EE01-51AB-7C1EFFE77DA2}"/>
              </a:ext>
            </a:extLst>
          </p:cNvPr>
          <p:cNvSpPr>
            <a:spLocks noGrp="1"/>
          </p:cNvSpPr>
          <p:nvPr>
            <p:ph type="ctrTitle"/>
          </p:nvPr>
        </p:nvSpPr>
        <p:spPr>
          <a:xfrm>
            <a:off x="838200" y="365125"/>
            <a:ext cx="10515600" cy="1325563"/>
          </a:xfrm>
        </p:spPr>
        <p:txBody>
          <a:bodyPr vert="horz" lIns="91440" tIns="45720" rIns="91440" bIns="45720" rtlCol="0" anchor="ctr">
            <a:normAutofit/>
          </a:bodyPr>
          <a:lstStyle/>
          <a:p>
            <a:pPr algn="l"/>
            <a:r>
              <a:rPr lang="en-US" sz="5400" kern="1200">
                <a:latin typeface="+mj-lt"/>
                <a:ea typeface="+mj-ea"/>
                <a:cs typeface="+mj-cs"/>
              </a:rPr>
              <a:t>Knowledge Graph</a:t>
            </a:r>
            <a:r>
              <a:rPr lang="en-US" sz="5400"/>
              <a:t>: Definitions</a:t>
            </a:r>
            <a:endParaRPr lang="en-US" sz="5400" kern="1200">
              <a:latin typeface="+mj-lt"/>
              <a:ea typeface="+mj-ea"/>
              <a:cs typeface="+mj-cs"/>
            </a:endParaRPr>
          </a:p>
        </p:txBody>
      </p:sp>
      <p:sp>
        <p:nvSpPr>
          <p:cNvPr id="28" name="sketch line">
            <a:extLst>
              <a:ext uri="{FF2B5EF4-FFF2-40B4-BE49-F238E27FC236}">
                <a16:creationId xmlns:a16="http://schemas.microsoft.com/office/drawing/2014/main" id="{4E2124A6-97E3-861F-D9F1-C53B5982CB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ottotitolo 2">
            <a:extLst>
              <a:ext uri="{FF2B5EF4-FFF2-40B4-BE49-F238E27FC236}">
                <a16:creationId xmlns:a16="http://schemas.microsoft.com/office/drawing/2014/main" id="{A6DEC048-EE89-CCB8-F4BD-9D1A1B7DB333}"/>
              </a:ext>
            </a:extLst>
          </p:cNvPr>
          <p:cNvSpPr>
            <a:spLocks noGrp="1"/>
          </p:cNvSpPr>
          <p:nvPr>
            <p:ph type="subTitle" idx="1"/>
          </p:nvPr>
        </p:nvSpPr>
        <p:spPr>
          <a:xfrm>
            <a:off x="838200" y="1929384"/>
            <a:ext cx="10704136" cy="4251960"/>
          </a:xfrm>
        </p:spPr>
        <p:txBody>
          <a:bodyPr vert="horz" lIns="91440" tIns="45720" rIns="91440" bIns="45720" rtlCol="0" anchor="t">
            <a:normAutofit/>
          </a:bodyPr>
          <a:lstStyle/>
          <a:p>
            <a:pPr marL="342900" indent="-342900" algn="l">
              <a:buFont typeface="Calibri" panose="020B0604020202020204" pitchFamily="34" charset="0"/>
              <a:buChar char="-"/>
            </a:pPr>
            <a:r>
              <a:rPr lang="en-US" sz="2200">
                <a:ea typeface="+mn-lt"/>
                <a:cs typeface="+mn-lt"/>
              </a:rPr>
              <a:t>A knowledge graph is a semi-structured data model characterized by three components: </a:t>
            </a:r>
            <a:endParaRPr lang="en-US">
              <a:ea typeface="+mn-lt"/>
              <a:cs typeface="+mn-lt"/>
            </a:endParaRPr>
          </a:p>
          <a:p>
            <a:pPr marL="800100" lvl="1" indent="-285750" algn="l">
              <a:buFont typeface="Courier New" panose="020B0604020202020204" pitchFamily="34" charset="0"/>
              <a:buChar char="o"/>
            </a:pPr>
            <a:r>
              <a:rPr lang="en-US" sz="1800">
                <a:ea typeface="+mn-lt"/>
                <a:cs typeface="+mn-lt"/>
              </a:rPr>
              <a:t>(</a:t>
            </a:r>
            <a:r>
              <a:rPr lang="en-US" sz="1800" err="1">
                <a:ea typeface="+mn-lt"/>
                <a:cs typeface="+mn-lt"/>
              </a:rPr>
              <a:t>i</a:t>
            </a:r>
            <a:r>
              <a:rPr lang="en-US" sz="1800">
                <a:ea typeface="+mn-lt"/>
                <a:cs typeface="+mn-lt"/>
              </a:rPr>
              <a:t>) a ground </a:t>
            </a:r>
            <a:r>
              <a:rPr lang="en-US" sz="1800" b="1">
                <a:ea typeface="+mn-lt"/>
                <a:cs typeface="+mn-lt"/>
              </a:rPr>
              <a:t>extensional</a:t>
            </a:r>
            <a:r>
              <a:rPr lang="en-US" sz="1800">
                <a:ea typeface="+mn-lt"/>
                <a:cs typeface="+mn-lt"/>
              </a:rPr>
              <a:t> component, that is, a set of relational constructs for schema and data (which can be effectively modeled as graphs or generalizations thereof); </a:t>
            </a:r>
            <a:endParaRPr lang="en-US">
              <a:ea typeface="+mn-lt"/>
              <a:cs typeface="+mn-lt"/>
            </a:endParaRPr>
          </a:p>
          <a:p>
            <a:pPr marL="800100" lvl="1" indent="-285750" algn="l">
              <a:buFont typeface="Courier New" panose="020B0604020202020204" pitchFamily="34" charset="0"/>
              <a:buChar char="o"/>
            </a:pPr>
            <a:r>
              <a:rPr lang="en-US" sz="1800">
                <a:ea typeface="+mn-lt"/>
                <a:cs typeface="+mn-lt"/>
              </a:rPr>
              <a:t>(ii) an </a:t>
            </a:r>
            <a:r>
              <a:rPr lang="en-US" sz="1800" b="1" err="1">
                <a:ea typeface="+mn-lt"/>
                <a:cs typeface="+mn-lt"/>
              </a:rPr>
              <a:t>intensional</a:t>
            </a:r>
            <a:r>
              <a:rPr lang="en-US" sz="1800">
                <a:ea typeface="+mn-lt"/>
                <a:cs typeface="+mn-lt"/>
              </a:rPr>
              <a:t> component, that is, a set of inference rules over the constructs of the ground extensional component;</a:t>
            </a:r>
            <a:endParaRPr lang="en-US">
              <a:ea typeface="+mn-lt"/>
              <a:cs typeface="+mn-lt"/>
            </a:endParaRPr>
          </a:p>
          <a:p>
            <a:pPr marL="800100" lvl="1" indent="-285750" algn="l">
              <a:buFont typeface="Courier New" panose="020B0604020202020204" pitchFamily="34" charset="0"/>
              <a:buChar char="o"/>
            </a:pPr>
            <a:r>
              <a:rPr lang="en-US" sz="1800">
                <a:ea typeface="+mn-lt"/>
                <a:cs typeface="+mn-lt"/>
              </a:rPr>
              <a:t>(iii) a </a:t>
            </a:r>
            <a:r>
              <a:rPr lang="en-US" sz="1800" b="1">
                <a:ea typeface="+mn-lt"/>
                <a:cs typeface="+mn-lt"/>
              </a:rPr>
              <a:t>derived extensional</a:t>
            </a:r>
            <a:r>
              <a:rPr lang="en-US" sz="1800">
                <a:ea typeface="+mn-lt"/>
                <a:cs typeface="+mn-lt"/>
              </a:rPr>
              <a:t> component that can be produced as the result of the application of the inference rules over the ground extensional component (with the so-called “reasoning” process).</a:t>
            </a:r>
            <a:endParaRPr lang="en-US"/>
          </a:p>
          <a:p>
            <a:pPr marL="400050" algn="l"/>
            <a:endParaRPr lang="en-US" sz="2200"/>
          </a:p>
        </p:txBody>
      </p:sp>
    </p:spTree>
    <p:extLst>
      <p:ext uri="{BB962C8B-B14F-4D97-AF65-F5344CB8AC3E}">
        <p14:creationId xmlns:p14="http://schemas.microsoft.com/office/powerpoint/2010/main" val="1329304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5F90F6F-6771-6681-41EF-9D3685A549F3}"/>
            </a:ext>
          </a:extLst>
        </p:cNvPr>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531909FA-165C-895A-D1E2-19D579BA39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 typeface="Arial"/>
              <a:buChar char="•"/>
            </a:pPr>
            <a:endParaRPr lang="en-US"/>
          </a:p>
        </p:txBody>
      </p:sp>
      <p:sp>
        <p:nvSpPr>
          <p:cNvPr id="2" name="Titolo 1">
            <a:extLst>
              <a:ext uri="{FF2B5EF4-FFF2-40B4-BE49-F238E27FC236}">
                <a16:creationId xmlns:a16="http://schemas.microsoft.com/office/drawing/2014/main" id="{12D825E8-C0DD-2AA6-1049-1AB7014D5229}"/>
              </a:ext>
            </a:extLst>
          </p:cNvPr>
          <p:cNvSpPr>
            <a:spLocks noGrp="1"/>
          </p:cNvSpPr>
          <p:nvPr>
            <p:ph type="ctrTitle"/>
          </p:nvPr>
        </p:nvSpPr>
        <p:spPr>
          <a:xfrm>
            <a:off x="838200" y="365125"/>
            <a:ext cx="10515600" cy="1325563"/>
          </a:xfrm>
        </p:spPr>
        <p:txBody>
          <a:bodyPr vert="horz" lIns="91440" tIns="45720" rIns="91440" bIns="45720" rtlCol="0" anchor="ctr">
            <a:normAutofit/>
          </a:bodyPr>
          <a:lstStyle/>
          <a:p>
            <a:pPr algn="l"/>
            <a:r>
              <a:rPr lang="en-US" sz="5400" kern="1200">
                <a:latin typeface="+mj-lt"/>
                <a:ea typeface="+mj-ea"/>
                <a:cs typeface="+mj-cs"/>
              </a:rPr>
              <a:t>Knowledge Graph</a:t>
            </a:r>
            <a:r>
              <a:rPr lang="en-US" sz="5400"/>
              <a:t>: Data Models</a:t>
            </a:r>
            <a:endParaRPr lang="en-US" sz="5400" kern="1200">
              <a:latin typeface="+mj-lt"/>
              <a:ea typeface="+mj-ea"/>
              <a:cs typeface="+mj-cs"/>
            </a:endParaRPr>
          </a:p>
        </p:txBody>
      </p:sp>
      <p:sp>
        <p:nvSpPr>
          <p:cNvPr id="28" name="sketch line">
            <a:extLst>
              <a:ext uri="{FF2B5EF4-FFF2-40B4-BE49-F238E27FC236}">
                <a16:creationId xmlns:a16="http://schemas.microsoft.com/office/drawing/2014/main" id="{03304949-4E6D-40E8-07DE-4958B1A719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ottotitolo 2">
            <a:extLst>
              <a:ext uri="{FF2B5EF4-FFF2-40B4-BE49-F238E27FC236}">
                <a16:creationId xmlns:a16="http://schemas.microsoft.com/office/drawing/2014/main" id="{2AA3AA3D-6249-E17D-1C4F-88DB11AA7F65}"/>
              </a:ext>
            </a:extLst>
          </p:cNvPr>
          <p:cNvSpPr>
            <a:spLocks noGrp="1"/>
          </p:cNvSpPr>
          <p:nvPr>
            <p:ph type="subTitle" idx="1"/>
          </p:nvPr>
        </p:nvSpPr>
        <p:spPr>
          <a:xfrm>
            <a:off x="351020" y="1929384"/>
            <a:ext cx="11002780" cy="4251960"/>
          </a:xfrm>
        </p:spPr>
        <p:txBody>
          <a:bodyPr vert="horz" lIns="91440" tIns="45720" rIns="91440" bIns="45720" rtlCol="0" anchor="t">
            <a:normAutofit/>
          </a:bodyPr>
          <a:lstStyle/>
          <a:p>
            <a:pPr marL="400050" indent="-171450" algn="l">
              <a:buChar char="•"/>
            </a:pPr>
            <a:r>
              <a:rPr lang="en-US" sz="2200">
                <a:ea typeface="+mn-lt"/>
                <a:cs typeface="+mn-lt"/>
              </a:rPr>
              <a:t>Directed edge-labelled graphs. A directed edge-labelled graph (also known as multi-relational graph o </a:t>
            </a:r>
            <a:r>
              <a:rPr lang="en-US" sz="2200" b="1">
                <a:ea typeface="+mn-lt"/>
                <a:cs typeface="+mn-lt"/>
              </a:rPr>
              <a:t>del graph</a:t>
            </a:r>
            <a:r>
              <a:rPr lang="en-US" sz="2200">
                <a:ea typeface="+mn-lt"/>
                <a:cs typeface="+mn-lt"/>
              </a:rPr>
              <a:t>)  is defined as a set of nodes and a set of directed labelled edges between those nodes. </a:t>
            </a:r>
            <a:endParaRPr lang="en-US"/>
          </a:p>
        </p:txBody>
      </p:sp>
      <p:pic>
        <p:nvPicPr>
          <p:cNvPr id="4" name="Picture 3">
            <a:extLst>
              <a:ext uri="{FF2B5EF4-FFF2-40B4-BE49-F238E27FC236}">
                <a16:creationId xmlns:a16="http://schemas.microsoft.com/office/drawing/2014/main" id="{96408AE0-9693-6D0C-84EB-49E716203DAB}"/>
              </a:ext>
            </a:extLst>
          </p:cNvPr>
          <p:cNvPicPr>
            <a:picLocks noChangeAspect="1"/>
          </p:cNvPicPr>
          <p:nvPr/>
        </p:nvPicPr>
        <p:blipFill>
          <a:blip r:embed="rId2"/>
          <a:stretch>
            <a:fillRect/>
          </a:stretch>
        </p:blipFill>
        <p:spPr>
          <a:xfrm>
            <a:off x="6380583" y="3873777"/>
            <a:ext cx="5624946" cy="2687537"/>
          </a:xfrm>
          <a:prstGeom prst="rect">
            <a:avLst/>
          </a:prstGeom>
        </p:spPr>
      </p:pic>
      <p:pic>
        <p:nvPicPr>
          <p:cNvPr id="6" name="Immagine 5">
            <a:extLst>
              <a:ext uri="{FF2B5EF4-FFF2-40B4-BE49-F238E27FC236}">
                <a16:creationId xmlns:a16="http://schemas.microsoft.com/office/drawing/2014/main" id="{147AD6E9-69DE-FCC8-4640-B4CDEEC09386}"/>
              </a:ext>
            </a:extLst>
          </p:cNvPr>
          <p:cNvPicPr>
            <a:picLocks noChangeAspect="1"/>
          </p:cNvPicPr>
          <p:nvPr/>
        </p:nvPicPr>
        <p:blipFill>
          <a:blip r:embed="rId3"/>
          <a:stretch>
            <a:fillRect/>
          </a:stretch>
        </p:blipFill>
        <p:spPr>
          <a:xfrm>
            <a:off x="4252495" y="2766908"/>
            <a:ext cx="7653561" cy="1095734"/>
          </a:xfrm>
          <a:prstGeom prst="rect">
            <a:avLst/>
          </a:prstGeom>
        </p:spPr>
      </p:pic>
      <p:sp>
        <p:nvSpPr>
          <p:cNvPr id="5" name="CasellaDiTesto 4">
            <a:extLst>
              <a:ext uri="{FF2B5EF4-FFF2-40B4-BE49-F238E27FC236}">
                <a16:creationId xmlns:a16="http://schemas.microsoft.com/office/drawing/2014/main" id="{059652CE-C265-AA53-5BF4-5C2E32A5CEC3}"/>
              </a:ext>
            </a:extLst>
          </p:cNvPr>
          <p:cNvSpPr txBox="1"/>
          <p:nvPr/>
        </p:nvSpPr>
        <p:spPr>
          <a:xfrm>
            <a:off x="462362" y="4625627"/>
            <a:ext cx="6096000" cy="172354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00050" lvl="0" indent="-171450" algn="l" rtl="0">
              <a:buFont typeface="Arial,Sans-Serif"/>
              <a:buChar char="•"/>
            </a:pPr>
            <a:r>
              <a:rPr lang="en-US" sz="2200" b="0" i="0" u="none" strike="noStrike" baseline="0">
                <a:solidFill>
                  <a:srgbClr val="000000"/>
                </a:solidFill>
                <a:latin typeface="Aptos"/>
                <a:ea typeface="Arial"/>
                <a:cs typeface="Arial"/>
              </a:rPr>
              <a:t>In the case of knowledge graphs, nodes are used to represent entities and edges are used to represent (binary)  relations between those entities. </a:t>
            </a:r>
            <a:endParaRPr lang="en-US" sz="2200" b="0" i="0">
              <a:solidFill>
                <a:srgbClr val="000000"/>
              </a:solidFill>
              <a:latin typeface="Aptos"/>
              <a:ea typeface="Arial"/>
              <a:cs typeface="Arial"/>
            </a:endParaRPr>
          </a:p>
          <a:p>
            <a:pPr algn="ctr"/>
            <a:endParaRPr lang="it-IT"/>
          </a:p>
        </p:txBody>
      </p:sp>
      <p:sp>
        <p:nvSpPr>
          <p:cNvPr id="7" name="CasellaDiTesto 6">
            <a:extLst>
              <a:ext uri="{FF2B5EF4-FFF2-40B4-BE49-F238E27FC236}">
                <a16:creationId xmlns:a16="http://schemas.microsoft.com/office/drawing/2014/main" id="{197C6D14-8521-9DF8-72AD-41335B59CEEF}"/>
              </a:ext>
            </a:extLst>
          </p:cNvPr>
          <p:cNvSpPr txBox="1"/>
          <p:nvPr/>
        </p:nvSpPr>
        <p:spPr>
          <a:xfrm>
            <a:off x="175381" y="6422571"/>
            <a:ext cx="6096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see Python </a:t>
            </a:r>
            <a:r>
              <a:rPr lang="en-US" b="1" dirty="0" err="1"/>
              <a:t>NetworkX.DiGraph</a:t>
            </a:r>
          </a:p>
          <a:p>
            <a:pPr algn="ctr"/>
            <a:endParaRPr lang="it-IT"/>
          </a:p>
        </p:txBody>
      </p:sp>
    </p:spTree>
    <p:extLst>
      <p:ext uri="{BB962C8B-B14F-4D97-AF65-F5344CB8AC3E}">
        <p14:creationId xmlns:p14="http://schemas.microsoft.com/office/powerpoint/2010/main" val="9083758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C0288B7-325C-6CBF-723D-90880D3CC21F}"/>
            </a:ext>
          </a:extLst>
        </p:cNvPr>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1DD61155-D15E-3683-28AA-5F1689DB7B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 typeface="Arial"/>
              <a:buChar char="•"/>
            </a:pPr>
            <a:endParaRPr lang="en-US"/>
          </a:p>
        </p:txBody>
      </p:sp>
      <p:sp>
        <p:nvSpPr>
          <p:cNvPr id="2" name="Titolo 1">
            <a:extLst>
              <a:ext uri="{FF2B5EF4-FFF2-40B4-BE49-F238E27FC236}">
                <a16:creationId xmlns:a16="http://schemas.microsoft.com/office/drawing/2014/main" id="{37B8A479-A721-741F-1AE1-0594CBD1D10B}"/>
              </a:ext>
            </a:extLst>
          </p:cNvPr>
          <p:cNvSpPr>
            <a:spLocks noGrp="1"/>
          </p:cNvSpPr>
          <p:nvPr>
            <p:ph type="ctrTitle"/>
          </p:nvPr>
        </p:nvSpPr>
        <p:spPr>
          <a:xfrm>
            <a:off x="838200" y="365125"/>
            <a:ext cx="10515600" cy="1325563"/>
          </a:xfrm>
        </p:spPr>
        <p:txBody>
          <a:bodyPr vert="horz" lIns="91440" tIns="45720" rIns="91440" bIns="45720" rtlCol="0" anchor="ctr">
            <a:normAutofit/>
          </a:bodyPr>
          <a:lstStyle/>
          <a:p>
            <a:pPr algn="l"/>
            <a:r>
              <a:rPr lang="en-US" sz="5400" kern="1200">
                <a:latin typeface="+mj-lt"/>
                <a:ea typeface="+mj-ea"/>
                <a:cs typeface="+mj-cs"/>
              </a:rPr>
              <a:t>Knowledge Graph</a:t>
            </a:r>
            <a:r>
              <a:rPr lang="en-US" sz="5400"/>
              <a:t>: Data Models</a:t>
            </a:r>
            <a:endParaRPr lang="en-US" sz="5400" kern="1200">
              <a:latin typeface="+mj-lt"/>
              <a:ea typeface="+mj-ea"/>
              <a:cs typeface="+mj-cs"/>
            </a:endParaRPr>
          </a:p>
        </p:txBody>
      </p:sp>
      <p:sp>
        <p:nvSpPr>
          <p:cNvPr id="28" name="sketch line">
            <a:extLst>
              <a:ext uri="{FF2B5EF4-FFF2-40B4-BE49-F238E27FC236}">
                <a16:creationId xmlns:a16="http://schemas.microsoft.com/office/drawing/2014/main" id="{A783C7AE-8AFA-AFE1-F0CE-B4F5808486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ottotitolo 2">
            <a:extLst>
              <a:ext uri="{FF2B5EF4-FFF2-40B4-BE49-F238E27FC236}">
                <a16:creationId xmlns:a16="http://schemas.microsoft.com/office/drawing/2014/main" id="{03E47370-5BFC-4FBC-4D91-25E2457E3140}"/>
              </a:ext>
            </a:extLst>
          </p:cNvPr>
          <p:cNvSpPr>
            <a:spLocks noGrp="1"/>
          </p:cNvSpPr>
          <p:nvPr>
            <p:ph type="subTitle" idx="1"/>
          </p:nvPr>
        </p:nvSpPr>
        <p:spPr>
          <a:xfrm>
            <a:off x="119398" y="1929384"/>
            <a:ext cx="11739810" cy="4251960"/>
          </a:xfrm>
        </p:spPr>
        <p:txBody>
          <a:bodyPr vert="horz" lIns="91440" tIns="45720" rIns="91440" bIns="45720" rtlCol="0" anchor="t">
            <a:normAutofit/>
          </a:bodyPr>
          <a:lstStyle/>
          <a:p>
            <a:pPr marL="742950" indent="-342900" algn="l">
              <a:buChar char="•"/>
            </a:pPr>
            <a:r>
              <a:rPr lang="en-US" sz="2200" dirty="0">
                <a:ea typeface="+mn-lt"/>
                <a:cs typeface="+mn-lt"/>
              </a:rPr>
              <a:t> A </a:t>
            </a:r>
            <a:r>
              <a:rPr lang="en-US" sz="2200" b="1" dirty="0">
                <a:ea typeface="+mn-lt"/>
                <a:cs typeface="+mn-lt"/>
              </a:rPr>
              <a:t>heterogeneous graph</a:t>
            </a:r>
            <a:r>
              <a:rPr lang="en-US" sz="2200" dirty="0">
                <a:ea typeface="+mn-lt"/>
                <a:cs typeface="+mn-lt"/>
              </a:rPr>
              <a:t>  (or heterogeneous information network ) is a graph where each node and edge is assigned one type. Heterogeneous graphs are thus akin to del graphs– with edge labels corresponding to edge types– but where the type of node forms part of the graph model itself, rather than being expressed as a special relation. An edge is called homogeneous if it is between two nodes of the same type (e.g., </a:t>
            </a:r>
            <a:r>
              <a:rPr lang="en-US" sz="2200" i="1" dirty="0">
                <a:ea typeface="+mn-lt"/>
                <a:cs typeface="+mn-lt"/>
              </a:rPr>
              <a:t>borders</a:t>
            </a:r>
            <a:r>
              <a:rPr lang="en-US" sz="2200" dirty="0">
                <a:ea typeface="+mn-lt"/>
                <a:cs typeface="+mn-lt"/>
              </a:rPr>
              <a:t>); </a:t>
            </a:r>
            <a:r>
              <a:rPr lang="en-US" sz="2200">
                <a:ea typeface="+mn-lt"/>
                <a:cs typeface="+mn-lt"/>
              </a:rPr>
              <a:t>otherwise,</a:t>
            </a:r>
            <a:r>
              <a:rPr lang="en-US" sz="2200" dirty="0">
                <a:ea typeface="+mn-lt"/>
                <a:cs typeface="+mn-lt"/>
              </a:rPr>
              <a:t> it is called heterogeneous (e.g., </a:t>
            </a:r>
            <a:r>
              <a:rPr lang="en-US" sz="2200" i="1" dirty="0">
                <a:ea typeface="+mn-lt"/>
                <a:cs typeface="+mn-lt"/>
              </a:rPr>
              <a:t>capital</a:t>
            </a:r>
            <a:r>
              <a:rPr lang="en-US" sz="2200" dirty="0">
                <a:ea typeface="+mn-lt"/>
                <a:cs typeface="+mn-lt"/>
              </a:rPr>
              <a:t>).</a:t>
            </a:r>
          </a:p>
        </p:txBody>
      </p:sp>
      <p:pic>
        <p:nvPicPr>
          <p:cNvPr id="5" name="Picture 4">
            <a:extLst>
              <a:ext uri="{FF2B5EF4-FFF2-40B4-BE49-F238E27FC236}">
                <a16:creationId xmlns:a16="http://schemas.microsoft.com/office/drawing/2014/main" id="{6CA83321-8542-7EDA-CA6F-AF185AB56EEB}"/>
              </a:ext>
            </a:extLst>
          </p:cNvPr>
          <p:cNvPicPr>
            <a:picLocks noChangeAspect="1"/>
          </p:cNvPicPr>
          <p:nvPr/>
        </p:nvPicPr>
        <p:blipFill>
          <a:blip r:embed="rId2"/>
          <a:stretch>
            <a:fillRect/>
          </a:stretch>
        </p:blipFill>
        <p:spPr>
          <a:xfrm>
            <a:off x="6326885" y="3946465"/>
            <a:ext cx="5637069" cy="2716358"/>
          </a:xfrm>
          <a:prstGeom prst="rect">
            <a:avLst/>
          </a:prstGeom>
        </p:spPr>
      </p:pic>
      <p:sp>
        <p:nvSpPr>
          <p:cNvPr id="6" name="CasellaDiTesto 5">
            <a:extLst>
              <a:ext uri="{FF2B5EF4-FFF2-40B4-BE49-F238E27FC236}">
                <a16:creationId xmlns:a16="http://schemas.microsoft.com/office/drawing/2014/main" id="{B9E434DF-5D12-7319-98E8-92BC6F5D97AD}"/>
              </a:ext>
            </a:extLst>
          </p:cNvPr>
          <p:cNvSpPr txBox="1"/>
          <p:nvPr/>
        </p:nvSpPr>
        <p:spPr>
          <a:xfrm>
            <a:off x="54429" y="6513287"/>
            <a:ext cx="7559524"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t>see </a:t>
            </a:r>
            <a:r>
              <a:rPr lang="en-US" sz="1200" b="1" i="1" dirty="0"/>
              <a:t>Heterogeneous Graph Neural Networks (HGNN),</a:t>
            </a:r>
            <a:r>
              <a:rPr lang="en-US" sz="1200" b="1" dirty="0"/>
              <a:t>  </a:t>
            </a:r>
            <a:r>
              <a:rPr lang="en-US" sz="1200" b="1" dirty="0" err="1"/>
              <a:t>NetworkX.DiGraph</a:t>
            </a:r>
            <a:r>
              <a:rPr lang="en-US" sz="1200" b="1" dirty="0"/>
              <a:t>, </a:t>
            </a:r>
            <a:r>
              <a:rPr lang="en-US" sz="1200" b="1" dirty="0" err="1">
                <a:ea typeface="+mn-lt"/>
                <a:cs typeface="+mn-lt"/>
              </a:rPr>
              <a:t>PyTorch</a:t>
            </a:r>
            <a:r>
              <a:rPr lang="en-US" sz="1200" b="1" dirty="0">
                <a:ea typeface="+mn-lt"/>
                <a:cs typeface="+mn-lt"/>
              </a:rPr>
              <a:t> Geometric</a:t>
            </a:r>
            <a:endParaRPr lang="en-US" sz="1200" b="1" dirty="0"/>
          </a:p>
          <a:p>
            <a:endParaRPr lang="en-US" b="1" i="1" dirty="0"/>
          </a:p>
          <a:p>
            <a:pPr algn="ctr"/>
            <a:endParaRPr lang="it-IT"/>
          </a:p>
        </p:txBody>
      </p:sp>
      <p:pic>
        <p:nvPicPr>
          <p:cNvPr id="4" name="Immagine 3">
            <a:extLst>
              <a:ext uri="{FF2B5EF4-FFF2-40B4-BE49-F238E27FC236}">
                <a16:creationId xmlns:a16="http://schemas.microsoft.com/office/drawing/2014/main" id="{D8534135-2C4F-9777-A8C7-48B2C777266F}"/>
              </a:ext>
            </a:extLst>
          </p:cNvPr>
          <p:cNvPicPr>
            <a:picLocks noChangeAspect="1"/>
          </p:cNvPicPr>
          <p:nvPr/>
        </p:nvPicPr>
        <p:blipFill>
          <a:blip r:embed="rId3"/>
          <a:stretch>
            <a:fillRect/>
          </a:stretch>
        </p:blipFill>
        <p:spPr>
          <a:xfrm>
            <a:off x="127592" y="4397955"/>
            <a:ext cx="6737462" cy="1254685"/>
          </a:xfrm>
          <a:prstGeom prst="rect">
            <a:avLst/>
          </a:prstGeom>
        </p:spPr>
      </p:pic>
    </p:spTree>
    <p:extLst>
      <p:ext uri="{BB962C8B-B14F-4D97-AF65-F5344CB8AC3E}">
        <p14:creationId xmlns:p14="http://schemas.microsoft.com/office/powerpoint/2010/main" val="16339462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550C33D-8C07-7DA1-53F1-40133E0A3168}"/>
            </a:ext>
          </a:extLst>
        </p:cNvPr>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81EFBCE3-F5E4-97BB-7165-774BF36F7B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CF8F4B22-422C-BE50-887A-4E15A54032F6}"/>
              </a:ext>
            </a:extLst>
          </p:cNvPr>
          <p:cNvSpPr>
            <a:spLocks noGrp="1"/>
          </p:cNvSpPr>
          <p:nvPr>
            <p:ph type="ctrTitle"/>
          </p:nvPr>
        </p:nvSpPr>
        <p:spPr>
          <a:xfrm>
            <a:off x="838200" y="365125"/>
            <a:ext cx="10515600" cy="1325563"/>
          </a:xfrm>
        </p:spPr>
        <p:txBody>
          <a:bodyPr vert="horz" lIns="91440" tIns="45720" rIns="91440" bIns="45720" rtlCol="0" anchor="ctr">
            <a:normAutofit/>
          </a:bodyPr>
          <a:lstStyle/>
          <a:p>
            <a:pPr algn="l"/>
            <a:r>
              <a:rPr lang="en-US" sz="5400" kern="1200">
                <a:latin typeface="+mj-lt"/>
                <a:ea typeface="+mj-ea"/>
                <a:cs typeface="+mj-cs"/>
              </a:rPr>
              <a:t>Knowledge Graph</a:t>
            </a:r>
            <a:r>
              <a:rPr lang="en-US" sz="5400"/>
              <a:t>: Data Models</a:t>
            </a:r>
            <a:endParaRPr lang="it-IT">
              <a:ea typeface="+mj-ea"/>
              <a:cs typeface="+mj-cs"/>
            </a:endParaRPr>
          </a:p>
        </p:txBody>
      </p:sp>
      <p:sp>
        <p:nvSpPr>
          <p:cNvPr id="28" name="sketch line">
            <a:extLst>
              <a:ext uri="{FF2B5EF4-FFF2-40B4-BE49-F238E27FC236}">
                <a16:creationId xmlns:a16="http://schemas.microsoft.com/office/drawing/2014/main" id="{A213FC8E-6B45-ACA7-DB29-98B8014F59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Immagine 2" descr="Immagine che contiene testo, Carattere, schermata, bianco&#10;&#10;Il contenuto generato dall&amp;#39;IA potrebbe non essere corretto.">
            <a:extLst>
              <a:ext uri="{FF2B5EF4-FFF2-40B4-BE49-F238E27FC236}">
                <a16:creationId xmlns:a16="http://schemas.microsoft.com/office/drawing/2014/main" id="{BBE9F2FE-815E-8201-E5EF-49CBB3806EFF}"/>
              </a:ext>
            </a:extLst>
          </p:cNvPr>
          <p:cNvPicPr>
            <a:picLocks noChangeAspect="1"/>
          </p:cNvPicPr>
          <p:nvPr/>
        </p:nvPicPr>
        <p:blipFill>
          <a:blip r:embed="rId2"/>
          <a:stretch>
            <a:fillRect/>
          </a:stretch>
        </p:blipFill>
        <p:spPr>
          <a:xfrm>
            <a:off x="499164" y="1901315"/>
            <a:ext cx="7858125" cy="1876425"/>
          </a:xfrm>
          <a:prstGeom prst="rect">
            <a:avLst/>
          </a:prstGeom>
        </p:spPr>
      </p:pic>
      <p:pic>
        <p:nvPicPr>
          <p:cNvPr id="4" name="Immagine 3" descr="Immagine che contiene testo, schermata, diagramma, cerchio&#10;&#10;Il contenuto generato dall&amp;#39;IA potrebbe non essere corretto.">
            <a:extLst>
              <a:ext uri="{FF2B5EF4-FFF2-40B4-BE49-F238E27FC236}">
                <a16:creationId xmlns:a16="http://schemas.microsoft.com/office/drawing/2014/main" id="{F1D95CA6-3324-4BDB-ED06-C325FCD4B375}"/>
              </a:ext>
            </a:extLst>
          </p:cNvPr>
          <p:cNvPicPr>
            <a:picLocks noChangeAspect="1"/>
          </p:cNvPicPr>
          <p:nvPr/>
        </p:nvPicPr>
        <p:blipFill>
          <a:blip r:embed="rId3"/>
          <a:stretch>
            <a:fillRect/>
          </a:stretch>
        </p:blipFill>
        <p:spPr>
          <a:xfrm>
            <a:off x="6659172" y="3919150"/>
            <a:ext cx="5520547" cy="2738887"/>
          </a:xfrm>
          <a:prstGeom prst="rect">
            <a:avLst/>
          </a:prstGeom>
        </p:spPr>
      </p:pic>
    </p:spTree>
    <p:extLst>
      <p:ext uri="{BB962C8B-B14F-4D97-AF65-F5344CB8AC3E}">
        <p14:creationId xmlns:p14="http://schemas.microsoft.com/office/powerpoint/2010/main" val="14000271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09389CB-4938-9303-86FC-A780F51291F9}"/>
            </a:ext>
          </a:extLst>
        </p:cNvPr>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8C33C115-B7FC-97FD-2560-A3EB38A85D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BE4FA877-B8E0-3202-70CA-ACD67A909AB2}"/>
              </a:ext>
            </a:extLst>
          </p:cNvPr>
          <p:cNvSpPr>
            <a:spLocks noGrp="1"/>
          </p:cNvSpPr>
          <p:nvPr>
            <p:ph type="ctrTitle"/>
          </p:nvPr>
        </p:nvSpPr>
        <p:spPr>
          <a:xfrm>
            <a:off x="838200" y="365125"/>
            <a:ext cx="10515600" cy="1325563"/>
          </a:xfrm>
        </p:spPr>
        <p:txBody>
          <a:bodyPr vert="horz" lIns="91440" tIns="45720" rIns="91440" bIns="45720" rtlCol="0" anchor="ctr">
            <a:normAutofit/>
          </a:bodyPr>
          <a:lstStyle/>
          <a:p>
            <a:pPr algn="l"/>
            <a:r>
              <a:rPr lang="en-US" sz="5400" kern="1200">
                <a:latin typeface="+mj-lt"/>
                <a:ea typeface="+mj-ea"/>
                <a:cs typeface="+mj-cs"/>
              </a:rPr>
              <a:t>Knowledge Graph</a:t>
            </a:r>
            <a:r>
              <a:rPr lang="en-US" sz="5400"/>
              <a:t>: Data Models</a:t>
            </a:r>
            <a:endParaRPr lang="it-IT">
              <a:ea typeface="+mj-ea"/>
              <a:cs typeface="+mj-cs"/>
            </a:endParaRPr>
          </a:p>
        </p:txBody>
      </p:sp>
      <p:sp>
        <p:nvSpPr>
          <p:cNvPr id="28" name="sketch line">
            <a:extLst>
              <a:ext uri="{FF2B5EF4-FFF2-40B4-BE49-F238E27FC236}">
                <a16:creationId xmlns:a16="http://schemas.microsoft.com/office/drawing/2014/main" id="{853D6DB4-927D-F8BC-5D8B-081434B47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magine 5" descr="Immagine che contiene testo, Carattere, schermata, bianco&#10;&#10;Il contenuto generato dall&amp;#39;IA potrebbe non essere corretto.">
            <a:extLst>
              <a:ext uri="{FF2B5EF4-FFF2-40B4-BE49-F238E27FC236}">
                <a16:creationId xmlns:a16="http://schemas.microsoft.com/office/drawing/2014/main" id="{C150E070-3F9F-A549-62E4-61F775C87263}"/>
              </a:ext>
            </a:extLst>
          </p:cNvPr>
          <p:cNvPicPr>
            <a:picLocks noChangeAspect="1"/>
          </p:cNvPicPr>
          <p:nvPr/>
        </p:nvPicPr>
        <p:blipFill>
          <a:blip r:embed="rId2"/>
          <a:stretch>
            <a:fillRect/>
          </a:stretch>
        </p:blipFill>
        <p:spPr>
          <a:xfrm>
            <a:off x="2112903" y="1939013"/>
            <a:ext cx="8588758" cy="2712656"/>
          </a:xfrm>
          <a:prstGeom prst="rect">
            <a:avLst/>
          </a:prstGeom>
        </p:spPr>
      </p:pic>
    </p:spTree>
    <p:extLst>
      <p:ext uri="{BB962C8B-B14F-4D97-AF65-F5344CB8AC3E}">
        <p14:creationId xmlns:p14="http://schemas.microsoft.com/office/powerpoint/2010/main" val="34581060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8550214-493A-AA28-EDFD-6B70A7E9D139}"/>
            </a:ext>
          </a:extLst>
        </p:cNvPr>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sX0" fmla="*/ 0 w 3291840"/>
              <a:gd name="csY0" fmla="*/ 0 h 18288"/>
              <a:gd name="csX1" fmla="*/ 658368 w 3291840"/>
              <a:gd name="csY1" fmla="*/ 0 h 18288"/>
              <a:gd name="csX2" fmla="*/ 1283818 w 3291840"/>
              <a:gd name="csY2" fmla="*/ 0 h 18288"/>
              <a:gd name="csX3" fmla="*/ 1909267 w 3291840"/>
              <a:gd name="csY3" fmla="*/ 0 h 18288"/>
              <a:gd name="csX4" fmla="*/ 2633472 w 3291840"/>
              <a:gd name="csY4" fmla="*/ 0 h 18288"/>
              <a:gd name="csX5" fmla="*/ 3291840 w 3291840"/>
              <a:gd name="csY5" fmla="*/ 0 h 18288"/>
              <a:gd name="csX6" fmla="*/ 3291840 w 3291840"/>
              <a:gd name="csY6" fmla="*/ 18288 h 18288"/>
              <a:gd name="csX7" fmla="*/ 2633472 w 3291840"/>
              <a:gd name="csY7" fmla="*/ 18288 h 18288"/>
              <a:gd name="csX8" fmla="*/ 2073859 w 3291840"/>
              <a:gd name="csY8" fmla="*/ 18288 h 18288"/>
              <a:gd name="csX9" fmla="*/ 1448410 w 3291840"/>
              <a:gd name="csY9" fmla="*/ 18288 h 18288"/>
              <a:gd name="csX10" fmla="*/ 822960 w 3291840"/>
              <a:gd name="csY10" fmla="*/ 18288 h 18288"/>
              <a:gd name="csX11" fmla="*/ 0 w 3291840"/>
              <a:gd name="csY11" fmla="*/ 18288 h 18288"/>
              <a:gd name="csX12" fmla="*/ 0 w 329184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magine 4">
            <a:extLst>
              <a:ext uri="{FF2B5EF4-FFF2-40B4-BE49-F238E27FC236}">
                <a16:creationId xmlns:a16="http://schemas.microsoft.com/office/drawing/2014/main" id="{0BB5544D-EE59-D1C4-845D-D39A925823E4}"/>
              </a:ext>
            </a:extLst>
          </p:cNvPr>
          <p:cNvPicPr>
            <a:picLocks noChangeAspect="1"/>
          </p:cNvPicPr>
          <p:nvPr/>
        </p:nvPicPr>
        <p:blipFill>
          <a:blip r:embed="rId2"/>
          <a:srcRect r="70" b="-275"/>
          <a:stretch>
            <a:fillRect/>
          </a:stretch>
        </p:blipFill>
        <p:spPr>
          <a:xfrm>
            <a:off x="1637540" y="4610479"/>
            <a:ext cx="8460698" cy="2250201"/>
          </a:xfrm>
          <a:prstGeom prst="rect">
            <a:avLst/>
          </a:prstGeom>
        </p:spPr>
      </p:pic>
      <p:pic>
        <p:nvPicPr>
          <p:cNvPr id="3" name="Immagine 2" descr="Immagine che contiene testo, Carattere, schermata, bianco&#10;&#10;Il contenuto generato dall&amp;#39;IA potrebbe non essere corretto.">
            <a:extLst>
              <a:ext uri="{FF2B5EF4-FFF2-40B4-BE49-F238E27FC236}">
                <a16:creationId xmlns:a16="http://schemas.microsoft.com/office/drawing/2014/main" id="{45F91107-B37B-D334-8D17-C51A827988BE}"/>
              </a:ext>
            </a:extLst>
          </p:cNvPr>
          <p:cNvPicPr>
            <a:picLocks noChangeAspect="1"/>
          </p:cNvPicPr>
          <p:nvPr/>
        </p:nvPicPr>
        <p:blipFill>
          <a:blip r:embed="rId3"/>
          <a:stretch>
            <a:fillRect/>
          </a:stretch>
        </p:blipFill>
        <p:spPr>
          <a:xfrm>
            <a:off x="-3153" y="-2237"/>
            <a:ext cx="5626224" cy="1776274"/>
          </a:xfrm>
          <a:prstGeom prst="rect">
            <a:avLst/>
          </a:prstGeom>
        </p:spPr>
      </p:pic>
      <p:pic>
        <p:nvPicPr>
          <p:cNvPr id="10" name="Immagine 9">
            <a:extLst>
              <a:ext uri="{FF2B5EF4-FFF2-40B4-BE49-F238E27FC236}">
                <a16:creationId xmlns:a16="http://schemas.microsoft.com/office/drawing/2014/main" id="{DDF0FEA0-215E-2EA5-5DF2-30E0B0E8DCBF}"/>
              </a:ext>
            </a:extLst>
          </p:cNvPr>
          <p:cNvPicPr>
            <a:picLocks noChangeAspect="1"/>
          </p:cNvPicPr>
          <p:nvPr/>
        </p:nvPicPr>
        <p:blipFill>
          <a:blip r:embed="rId4"/>
          <a:stretch>
            <a:fillRect/>
          </a:stretch>
        </p:blipFill>
        <p:spPr>
          <a:xfrm>
            <a:off x="123812" y="2159129"/>
            <a:ext cx="11492981" cy="2310881"/>
          </a:xfrm>
          <a:prstGeom prst="rect">
            <a:avLst/>
          </a:prstGeom>
        </p:spPr>
      </p:pic>
    </p:spTree>
    <p:extLst>
      <p:ext uri="{BB962C8B-B14F-4D97-AF65-F5344CB8AC3E}">
        <p14:creationId xmlns:p14="http://schemas.microsoft.com/office/powerpoint/2010/main" val="5179313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3CA0927-26DD-8773-1AC6-25F5287E2606}"/>
            </a:ext>
          </a:extLst>
        </p:cNvPr>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46906C39-407F-DFB7-3AEB-71D0B9737D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 typeface="Arial"/>
              <a:buChar char="•"/>
            </a:pPr>
            <a:endParaRPr lang="en-US"/>
          </a:p>
        </p:txBody>
      </p:sp>
      <p:sp>
        <p:nvSpPr>
          <p:cNvPr id="2" name="Titolo 1">
            <a:extLst>
              <a:ext uri="{FF2B5EF4-FFF2-40B4-BE49-F238E27FC236}">
                <a16:creationId xmlns:a16="http://schemas.microsoft.com/office/drawing/2014/main" id="{E6A95317-29D0-7595-6716-B7A91E918180}"/>
              </a:ext>
            </a:extLst>
          </p:cNvPr>
          <p:cNvSpPr>
            <a:spLocks noGrp="1"/>
          </p:cNvSpPr>
          <p:nvPr>
            <p:ph type="ctrTitle"/>
          </p:nvPr>
        </p:nvSpPr>
        <p:spPr>
          <a:xfrm>
            <a:off x="838200" y="365125"/>
            <a:ext cx="10515600" cy="1325563"/>
          </a:xfrm>
        </p:spPr>
        <p:txBody>
          <a:bodyPr vert="horz" lIns="91440" tIns="45720" rIns="91440" bIns="45720" rtlCol="0" anchor="ctr">
            <a:normAutofit/>
          </a:bodyPr>
          <a:lstStyle/>
          <a:p>
            <a:pPr algn="l"/>
            <a:r>
              <a:rPr lang="en-US" sz="5400" kern="1200">
                <a:latin typeface="+mj-lt"/>
                <a:ea typeface="+mj-ea"/>
                <a:cs typeface="+mj-cs"/>
              </a:rPr>
              <a:t>Knowledge Graph</a:t>
            </a:r>
            <a:r>
              <a:rPr lang="en-US" sz="5400"/>
              <a:t>: Data Models</a:t>
            </a:r>
            <a:endParaRPr lang="en-US">
              <a:ea typeface="+mj-ea"/>
              <a:cs typeface="+mj-cs"/>
            </a:endParaRPr>
          </a:p>
        </p:txBody>
      </p:sp>
      <p:sp>
        <p:nvSpPr>
          <p:cNvPr id="28" name="sketch line">
            <a:extLst>
              <a:ext uri="{FF2B5EF4-FFF2-40B4-BE49-F238E27FC236}">
                <a16:creationId xmlns:a16="http://schemas.microsoft.com/office/drawing/2014/main" id="{3A37363F-4EE0-0258-3543-6E4547845C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ottotitolo 2">
            <a:extLst>
              <a:ext uri="{FF2B5EF4-FFF2-40B4-BE49-F238E27FC236}">
                <a16:creationId xmlns:a16="http://schemas.microsoft.com/office/drawing/2014/main" id="{FE7C360F-29C1-EF22-4804-B8DF789D78BC}"/>
              </a:ext>
            </a:extLst>
          </p:cNvPr>
          <p:cNvSpPr>
            <a:spLocks noGrp="1"/>
          </p:cNvSpPr>
          <p:nvPr>
            <p:ph type="subTitle" idx="1"/>
          </p:nvPr>
        </p:nvSpPr>
        <p:spPr>
          <a:xfrm>
            <a:off x="360439" y="1929384"/>
            <a:ext cx="11670694" cy="4687388"/>
          </a:xfrm>
        </p:spPr>
        <p:txBody>
          <a:bodyPr vert="horz" lIns="91440" tIns="45720" rIns="91440" bIns="45720" rtlCol="0" anchor="t">
            <a:normAutofit/>
          </a:bodyPr>
          <a:lstStyle/>
          <a:p>
            <a:pPr algn="l">
              <a:buChar char="•"/>
            </a:pPr>
            <a:r>
              <a:rPr lang="en-US" sz="2200" b="1" dirty="0">
                <a:ea typeface="+mn-lt"/>
                <a:cs typeface="+mn-lt"/>
              </a:rPr>
              <a:t>Labeled Property Graph</a:t>
            </a:r>
            <a:r>
              <a:rPr lang="en-US" sz="2200" dirty="0">
                <a:ea typeface="+mn-lt"/>
                <a:cs typeface="+mn-lt"/>
              </a:rPr>
              <a:t> is </a:t>
            </a:r>
            <a:r>
              <a:rPr lang="en-US" sz="2200">
                <a:ea typeface="+mn-lt"/>
                <a:cs typeface="+mn-lt"/>
              </a:rPr>
              <a:t>a property graph constituted by:</a:t>
            </a:r>
            <a:endParaRPr lang="en-US">
              <a:ea typeface="+mn-lt"/>
              <a:cs typeface="+mn-lt"/>
            </a:endParaRPr>
          </a:p>
          <a:p>
            <a:pPr marL="171450" lvl="1" indent="171450" algn="l">
              <a:buChar char="•"/>
            </a:pPr>
            <a:r>
              <a:rPr lang="en-US" sz="1800" b="1" dirty="0">
                <a:ea typeface="+mn-lt"/>
                <a:cs typeface="+mn-lt"/>
              </a:rPr>
              <a:t> </a:t>
            </a:r>
            <a:r>
              <a:rPr lang="en-US" sz="2200" b="1">
                <a:ea typeface="+mn-lt"/>
                <a:cs typeface="+mn-lt"/>
              </a:rPr>
              <a:t>Nodes</a:t>
            </a:r>
            <a:r>
              <a:rPr lang="en-US" sz="2200">
                <a:ea typeface="+mn-lt"/>
                <a:cs typeface="+mn-lt"/>
              </a:rPr>
              <a:t> represent entities or objects. </a:t>
            </a:r>
          </a:p>
          <a:p>
            <a:pPr marL="171450" lvl="1" indent="171450" algn="l">
              <a:buChar char="•"/>
            </a:pPr>
            <a:r>
              <a:rPr lang="en-US" sz="2200" b="1">
                <a:ea typeface="+mn-lt"/>
                <a:cs typeface="+mn-lt"/>
              </a:rPr>
              <a:t> Relationships</a:t>
            </a:r>
            <a:r>
              <a:rPr lang="en-US" sz="2200">
                <a:ea typeface="+mn-lt"/>
                <a:cs typeface="+mn-lt"/>
              </a:rPr>
              <a:t> (edges) connect </a:t>
            </a:r>
            <a:r>
              <a:rPr lang="en-US" sz="2200" b="1">
                <a:ea typeface="+mn-lt"/>
                <a:cs typeface="+mn-lt"/>
              </a:rPr>
              <a:t>nodes</a:t>
            </a:r>
            <a:r>
              <a:rPr lang="en-US" sz="2200">
                <a:ea typeface="+mn-lt"/>
                <a:cs typeface="+mn-lt"/>
              </a:rPr>
              <a:t>,  are </a:t>
            </a:r>
            <a:r>
              <a:rPr lang="en-US" sz="2200" b="1">
                <a:ea typeface="+mn-lt"/>
                <a:cs typeface="+mn-lt"/>
              </a:rPr>
              <a:t>directed</a:t>
            </a:r>
            <a:r>
              <a:rPr lang="en-US" sz="2200">
                <a:ea typeface="+mn-lt"/>
                <a:cs typeface="+mn-lt"/>
              </a:rPr>
              <a:t> and have a </a:t>
            </a:r>
            <a:r>
              <a:rPr lang="en-US" sz="2200" b="1" dirty="0">
                <a:ea typeface="+mn-lt"/>
                <a:cs typeface="+mn-lt"/>
              </a:rPr>
              <a:t>type</a:t>
            </a:r>
            <a:r>
              <a:rPr lang="en-US" sz="2200" dirty="0">
                <a:ea typeface="+mn-lt"/>
                <a:cs typeface="+mn-lt"/>
              </a:rPr>
              <a:t>. </a:t>
            </a:r>
            <a:endParaRPr lang="en-US" dirty="0">
              <a:ea typeface="+mn-lt"/>
              <a:cs typeface="+mn-lt"/>
            </a:endParaRPr>
          </a:p>
          <a:p>
            <a:pPr marL="171450" lvl="1" indent="171450" algn="l">
              <a:buChar char="•"/>
            </a:pPr>
            <a:r>
              <a:rPr lang="en-US" sz="2200" b="1">
                <a:ea typeface="+mn-lt"/>
                <a:cs typeface="+mn-lt"/>
              </a:rPr>
              <a:t> Properties</a:t>
            </a:r>
            <a:r>
              <a:rPr lang="en-US" sz="2200">
                <a:ea typeface="+mn-lt"/>
                <a:cs typeface="+mn-lt"/>
              </a:rPr>
              <a:t> are key-value pairs attached to nodes or relationships. </a:t>
            </a:r>
            <a:endParaRPr lang="en-US">
              <a:ea typeface="+mn-lt"/>
              <a:cs typeface="+mn-lt"/>
            </a:endParaRPr>
          </a:p>
          <a:p>
            <a:pPr marL="171450" lvl="1" indent="171450" algn="l">
              <a:buChar char="•"/>
            </a:pPr>
            <a:r>
              <a:rPr lang="en-US" sz="2200" b="1">
                <a:ea typeface="+mn-lt"/>
                <a:cs typeface="+mn-lt"/>
              </a:rPr>
              <a:t> Labels</a:t>
            </a:r>
            <a:r>
              <a:rPr lang="en-US" sz="2200">
                <a:ea typeface="+mn-lt"/>
                <a:cs typeface="+mn-lt"/>
              </a:rPr>
              <a:t> can be used to classify nodes. </a:t>
            </a:r>
          </a:p>
          <a:p>
            <a:pPr marL="171450" lvl="1" indent="171450" algn="l">
              <a:buChar char="•"/>
            </a:pPr>
            <a:r>
              <a:rPr lang="en-US" sz="2200">
                <a:ea typeface="+mn-lt"/>
                <a:cs typeface="+mn-lt"/>
              </a:rPr>
              <a:t> There is no formal distinction between schema and data, everything is just nodes and edges:</a:t>
            </a:r>
            <a:endParaRPr lang="en-US"/>
          </a:p>
          <a:p>
            <a:pPr marL="1200150" lvl="2" indent="-285750" algn="l">
              <a:buFont typeface="Wingdings" panose="020B0604020202020204" pitchFamily="34" charset="0"/>
              <a:buChar char="§"/>
            </a:pPr>
            <a:r>
              <a:rPr lang="en-US" sz="2000">
                <a:ea typeface="+mn-lt"/>
                <a:cs typeface="+mn-lt"/>
              </a:rPr>
              <a:t>Flexible for integrating heterogenous sources</a:t>
            </a:r>
          </a:p>
          <a:p>
            <a:pPr marL="1200150" lvl="2" indent="-285750" algn="l">
              <a:buFont typeface="Wingdings" panose="020B0604020202020204" pitchFamily="34" charset="0"/>
              <a:buChar char="§"/>
            </a:pPr>
            <a:r>
              <a:rPr lang="en-US" sz="2000" dirty="0">
                <a:ea typeface="+mn-lt"/>
                <a:cs typeface="+mn-lt"/>
              </a:rPr>
              <a:t>Easy to grow in size (billions to trillions of data)</a:t>
            </a:r>
            <a:r>
              <a:rPr lang="en-US" sz="1600" dirty="0">
                <a:ea typeface="+mn-lt"/>
                <a:cs typeface="+mn-lt"/>
              </a:rPr>
              <a:t>.</a:t>
            </a:r>
          </a:p>
          <a:p>
            <a:pPr marL="1200150" lvl="2" indent="-285750" algn="l">
              <a:buFont typeface="Wingdings" panose="020B0604020202020204" pitchFamily="34" charset="0"/>
              <a:buChar char="§"/>
            </a:pPr>
            <a:r>
              <a:rPr lang="en-US" sz="2000">
                <a:ea typeface="+mn-lt"/>
                <a:cs typeface="+mn-lt"/>
              </a:rPr>
              <a:t>Edges and nodes may come from a controlled vocabulary and have a special meaning.</a:t>
            </a:r>
          </a:p>
          <a:p>
            <a:pPr marL="1200150" lvl="2" indent="-285750" algn="l">
              <a:buFont typeface="Wingdings" panose="020B0604020202020204" pitchFamily="34" charset="0"/>
              <a:buChar char="§"/>
            </a:pPr>
            <a:r>
              <a:rPr lang="en-US" sz="2000">
                <a:ea typeface="+mn-lt"/>
                <a:cs typeface="+mn-lt"/>
              </a:rPr>
              <a:t>Nodes of the same label can have different properties.</a:t>
            </a:r>
            <a:endParaRPr lang="en-US" sz="2000" dirty="0">
              <a:ea typeface="+mn-lt"/>
              <a:cs typeface="+mn-lt"/>
            </a:endParaRPr>
          </a:p>
          <a:p>
            <a:pPr marL="1200150" lvl="2" indent="-285750" algn="l">
              <a:buFont typeface="Wingdings" panose="020B0604020202020204" pitchFamily="34" charset="0"/>
              <a:buChar char="§"/>
            </a:pPr>
            <a:r>
              <a:rPr lang="en-US" sz="2000">
                <a:ea typeface="+mn-lt"/>
                <a:cs typeface="+mn-lt"/>
              </a:rPr>
              <a:t>Nodes may have multiple labels</a:t>
            </a:r>
            <a:endParaRPr lang="en-US" sz="2000" dirty="0">
              <a:ea typeface="+mn-lt"/>
              <a:cs typeface="+mn-lt"/>
            </a:endParaRPr>
          </a:p>
          <a:p>
            <a:pPr marL="285750" indent="-285750" algn="l">
              <a:buFont typeface="Arial,Sans-Serif" panose="020B0604020202020204" pitchFamily="34" charset="0"/>
              <a:buChar char="•"/>
            </a:pPr>
            <a:endParaRPr lang="en-US" sz="2200">
              <a:ea typeface="+mn-lt"/>
              <a:cs typeface="+mn-lt"/>
            </a:endParaRPr>
          </a:p>
          <a:p>
            <a:pPr marL="628650" indent="-228600" algn="l">
              <a:buFont typeface="Arial,Sans-Serif" panose="020B0604020202020204" pitchFamily="34" charset="0"/>
              <a:buChar char="•"/>
            </a:pPr>
            <a:endParaRPr lang="en-US" sz="2200">
              <a:ea typeface="+mn-lt"/>
              <a:cs typeface="+mn-lt"/>
            </a:endParaRPr>
          </a:p>
          <a:p>
            <a:pPr lvl="1" algn="l">
              <a:buChar char="•"/>
            </a:pPr>
            <a:endParaRPr lang="en-US" sz="2200">
              <a:ea typeface="+mn-lt"/>
              <a:cs typeface="+mn-lt"/>
            </a:endParaRPr>
          </a:p>
        </p:txBody>
      </p:sp>
    </p:spTree>
    <p:extLst>
      <p:ext uri="{BB962C8B-B14F-4D97-AF65-F5344CB8AC3E}">
        <p14:creationId xmlns:p14="http://schemas.microsoft.com/office/powerpoint/2010/main" val="19745303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0D38F28-53F7-2EB8-01AE-6F34A1773326}"/>
              </a:ext>
            </a:extLst>
          </p:cNvPr>
          <p:cNvSpPr>
            <a:spLocks noGrp="1"/>
          </p:cNvSpPr>
          <p:nvPr>
            <p:ph type="title"/>
          </p:nvPr>
        </p:nvSpPr>
        <p:spPr>
          <a:xfrm>
            <a:off x="838200" y="365125"/>
            <a:ext cx="4175185" cy="1339940"/>
          </a:xfrm>
        </p:spPr>
        <p:txBody>
          <a:bodyPr/>
          <a:lstStyle/>
          <a:p>
            <a:r>
              <a:rPr lang="it-IT" b="1" dirty="0" err="1">
                <a:highlight>
                  <a:srgbClr val="C0C0C0"/>
                </a:highlight>
                <a:ea typeface="+mj-lt"/>
                <a:cs typeface="+mj-lt"/>
              </a:rPr>
              <a:t>Let’s</a:t>
            </a:r>
            <a:r>
              <a:rPr lang="it-IT" b="1" dirty="0">
                <a:highlight>
                  <a:srgbClr val="C0C0C0"/>
                </a:highlight>
                <a:ea typeface="+mj-lt"/>
                <a:cs typeface="+mj-lt"/>
              </a:rPr>
              <a:t> </a:t>
            </a:r>
            <a:r>
              <a:rPr lang="it-IT" b="1" dirty="0" err="1">
                <a:highlight>
                  <a:srgbClr val="C0C0C0"/>
                </a:highlight>
                <a:ea typeface="+mj-lt"/>
                <a:cs typeface="+mj-lt"/>
              </a:rPr>
              <a:t>practise</a:t>
            </a:r>
            <a:r>
              <a:rPr lang="it-IT" b="1" dirty="0">
                <a:highlight>
                  <a:srgbClr val="C0C0C0"/>
                </a:highlight>
                <a:ea typeface="+mj-lt"/>
                <a:cs typeface="+mj-lt"/>
              </a:rPr>
              <a:t>!</a:t>
            </a:r>
            <a:r>
              <a:rPr lang="it-IT" b="1" dirty="0">
                <a:highlight>
                  <a:srgbClr val="C0C0C0"/>
                </a:highlight>
              </a:rPr>
              <a:t> </a:t>
            </a:r>
          </a:p>
        </p:txBody>
      </p:sp>
      <p:pic>
        <p:nvPicPr>
          <p:cNvPr id="4" name="Immagine 3" descr="Immagine che contiene modello, quadrato, Simmetria, schermata&#10;&#10;Il contenuto generato dall&amp;#39;IA potrebbe non essere corretto.">
            <a:extLst>
              <a:ext uri="{FF2B5EF4-FFF2-40B4-BE49-F238E27FC236}">
                <a16:creationId xmlns:a16="http://schemas.microsoft.com/office/drawing/2014/main" id="{BB55E3F2-DFDF-F803-C4F6-08015422CD9D}"/>
              </a:ext>
            </a:extLst>
          </p:cNvPr>
          <p:cNvPicPr>
            <a:picLocks noChangeAspect="1"/>
          </p:cNvPicPr>
          <p:nvPr/>
        </p:nvPicPr>
        <p:blipFill>
          <a:blip r:embed="rId2"/>
          <a:stretch>
            <a:fillRect/>
          </a:stretch>
        </p:blipFill>
        <p:spPr>
          <a:xfrm>
            <a:off x="8631621" y="367862"/>
            <a:ext cx="2842381" cy="2842381"/>
          </a:xfrm>
          <a:prstGeom prst="rect">
            <a:avLst/>
          </a:prstGeom>
        </p:spPr>
      </p:pic>
      <p:sp>
        <p:nvSpPr>
          <p:cNvPr id="5" name="CasellaDiTesto 4">
            <a:extLst>
              <a:ext uri="{FF2B5EF4-FFF2-40B4-BE49-F238E27FC236}">
                <a16:creationId xmlns:a16="http://schemas.microsoft.com/office/drawing/2014/main" id="{A09928C5-74E8-6A41-2F42-837BEED03BB8}"/>
              </a:ext>
            </a:extLst>
          </p:cNvPr>
          <p:cNvSpPr txBox="1"/>
          <p:nvPr/>
        </p:nvSpPr>
        <p:spPr>
          <a:xfrm>
            <a:off x="681653" y="3429000"/>
            <a:ext cx="1082351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https://github.com/dfsantamaria/Knowledge-Representation-Reasoning/tree/main/on_lpg/movie_excerpt</a:t>
            </a:r>
          </a:p>
          <a:p>
            <a:pPr algn="ctr"/>
            <a:endParaRPr lang="it-IT"/>
          </a:p>
        </p:txBody>
      </p:sp>
      <p:sp>
        <p:nvSpPr>
          <p:cNvPr id="3" name="TextBox 3">
            <a:extLst>
              <a:ext uri="{FF2B5EF4-FFF2-40B4-BE49-F238E27FC236}">
                <a16:creationId xmlns:a16="http://schemas.microsoft.com/office/drawing/2014/main" id="{1C807585-92C4-F224-0018-21016D11DDF8}"/>
              </a:ext>
            </a:extLst>
          </p:cNvPr>
          <p:cNvSpPr txBox="1"/>
          <p:nvPr/>
        </p:nvSpPr>
        <p:spPr>
          <a:xfrm>
            <a:off x="4904079" y="6391659"/>
            <a:ext cx="2958861" cy="36933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a:t>Try on: </a:t>
            </a:r>
            <a:r>
              <a:rPr lang="en-US" b="1" dirty="0"/>
              <a:t>https://arrows.app</a:t>
            </a:r>
          </a:p>
        </p:txBody>
      </p:sp>
    </p:spTree>
    <p:extLst>
      <p:ext uri="{BB962C8B-B14F-4D97-AF65-F5344CB8AC3E}">
        <p14:creationId xmlns:p14="http://schemas.microsoft.com/office/powerpoint/2010/main" val="5889500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magine 3" descr="Immagine che contiene testo, schermata, numero, Carattere&#10;&#10;Il contenuto generato dall&amp;#39;IA potrebbe non essere corretto.">
            <a:extLst>
              <a:ext uri="{FF2B5EF4-FFF2-40B4-BE49-F238E27FC236}">
                <a16:creationId xmlns:a16="http://schemas.microsoft.com/office/drawing/2014/main" id="{BF758182-4DE2-ED8E-D01C-8F3F37B63380}"/>
              </a:ext>
            </a:extLst>
          </p:cNvPr>
          <p:cNvPicPr>
            <a:picLocks noChangeAspect="1"/>
          </p:cNvPicPr>
          <p:nvPr/>
        </p:nvPicPr>
        <p:blipFill>
          <a:blip r:embed="rId2"/>
          <a:stretch>
            <a:fillRect/>
          </a:stretch>
        </p:blipFill>
        <p:spPr>
          <a:xfrm>
            <a:off x="0" y="-3401"/>
            <a:ext cx="12192000" cy="2310319"/>
          </a:xfrm>
          <a:prstGeom prst="rect">
            <a:avLst/>
          </a:prstGeom>
        </p:spPr>
      </p:pic>
      <p:pic>
        <p:nvPicPr>
          <p:cNvPr id="5" name="Immagine 4" descr="Immagine che contiene testo, schermata, Carattere, linea&#10;&#10;Il contenuto generato dall&amp;#39;IA potrebbe non essere corretto.">
            <a:extLst>
              <a:ext uri="{FF2B5EF4-FFF2-40B4-BE49-F238E27FC236}">
                <a16:creationId xmlns:a16="http://schemas.microsoft.com/office/drawing/2014/main" id="{12A20BC2-76A5-B9C1-E94F-325BB603C1A8}"/>
              </a:ext>
            </a:extLst>
          </p:cNvPr>
          <p:cNvPicPr>
            <a:picLocks noChangeAspect="1"/>
          </p:cNvPicPr>
          <p:nvPr/>
        </p:nvPicPr>
        <p:blipFill>
          <a:blip r:embed="rId3"/>
          <a:stretch>
            <a:fillRect/>
          </a:stretch>
        </p:blipFill>
        <p:spPr>
          <a:xfrm>
            <a:off x="0" y="2644937"/>
            <a:ext cx="12192000" cy="1016000"/>
          </a:xfrm>
          <a:prstGeom prst="rect">
            <a:avLst/>
          </a:prstGeom>
        </p:spPr>
      </p:pic>
      <p:pic>
        <p:nvPicPr>
          <p:cNvPr id="2" name="Immagine 1">
            <a:extLst>
              <a:ext uri="{FF2B5EF4-FFF2-40B4-BE49-F238E27FC236}">
                <a16:creationId xmlns:a16="http://schemas.microsoft.com/office/drawing/2014/main" id="{72545499-AA07-43E3-7DE5-9499E21B9334}"/>
              </a:ext>
            </a:extLst>
          </p:cNvPr>
          <p:cNvPicPr>
            <a:picLocks noChangeAspect="1"/>
          </p:cNvPicPr>
          <p:nvPr/>
        </p:nvPicPr>
        <p:blipFill>
          <a:blip r:embed="rId4"/>
          <a:stretch>
            <a:fillRect/>
          </a:stretch>
        </p:blipFill>
        <p:spPr>
          <a:xfrm>
            <a:off x="4109314" y="3912303"/>
            <a:ext cx="2333625" cy="2447925"/>
          </a:xfrm>
          <a:prstGeom prst="rect">
            <a:avLst/>
          </a:prstGeom>
        </p:spPr>
      </p:pic>
    </p:spTree>
    <p:extLst>
      <p:ext uri="{BB962C8B-B14F-4D97-AF65-F5344CB8AC3E}">
        <p14:creationId xmlns:p14="http://schemas.microsoft.com/office/powerpoint/2010/main" val="30723835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AE420F7-C15B-7047-2535-40FDEF1715D2}"/>
              </a:ext>
            </a:extLst>
          </p:cNvPr>
          <p:cNvSpPr>
            <a:spLocks noGrp="1"/>
          </p:cNvSpPr>
          <p:nvPr>
            <p:ph type="title"/>
          </p:nvPr>
        </p:nvSpPr>
        <p:spPr>
          <a:xfrm>
            <a:off x="177758" y="4380743"/>
            <a:ext cx="12021458" cy="1101802"/>
          </a:xfrm>
        </p:spPr>
        <p:txBody>
          <a:bodyPr vert="horz" lIns="91440" tIns="45720" rIns="91440" bIns="45720" rtlCol="0" anchor="ctr">
            <a:noAutofit/>
          </a:bodyPr>
          <a:lstStyle/>
          <a:p>
            <a:pPr>
              <a:buAutoNum type="alphaLcPeriod"/>
            </a:pPr>
            <a:r>
              <a:rPr lang="it-IT" sz="2400" dirty="0"/>
              <a:t> </a:t>
            </a:r>
            <a:r>
              <a:rPr lang="it-IT" sz="2400" dirty="0" err="1"/>
              <a:t>Should</a:t>
            </a:r>
            <a:r>
              <a:rPr lang="it-IT" sz="2400" dirty="0"/>
              <a:t> </a:t>
            </a:r>
            <a:r>
              <a:rPr lang="it-IT" sz="2400" b="1" dirty="0" err="1"/>
              <a:t>genres</a:t>
            </a:r>
            <a:r>
              <a:rPr lang="it-IT" sz="2400" dirty="0"/>
              <a:t> and </a:t>
            </a:r>
            <a:r>
              <a:rPr lang="it-IT" sz="2400" b="1" dirty="0"/>
              <a:t>production</a:t>
            </a:r>
            <a:r>
              <a:rPr lang="it-IT" sz="2400" dirty="0"/>
              <a:t> </a:t>
            </a:r>
            <a:r>
              <a:rPr lang="it-IT" sz="2400" b="1" dirty="0"/>
              <a:t>companies</a:t>
            </a:r>
            <a:r>
              <a:rPr lang="it-IT" sz="2400" dirty="0"/>
              <a:t> be </a:t>
            </a:r>
            <a:r>
              <a:rPr lang="it-IT" sz="2400" dirty="0" err="1"/>
              <a:t>properties</a:t>
            </a:r>
            <a:r>
              <a:rPr lang="it-IT" sz="2400" dirty="0"/>
              <a:t> or </a:t>
            </a:r>
            <a:r>
              <a:rPr lang="it-IT" sz="2400" dirty="0" err="1"/>
              <a:t>nodes</a:t>
            </a:r>
            <a:r>
              <a:rPr lang="it-IT" sz="2400" dirty="0"/>
              <a:t>?</a:t>
            </a:r>
            <a:br>
              <a:rPr lang="it-IT" sz="2400" dirty="0"/>
            </a:br>
            <a:r>
              <a:rPr lang="it-IT" sz="2400" dirty="0"/>
              <a:t>b. </a:t>
            </a:r>
            <a:r>
              <a:rPr lang="it-IT" sz="2400" dirty="0" err="1"/>
              <a:t>Should</a:t>
            </a:r>
            <a:r>
              <a:rPr lang="it-IT" sz="2400" dirty="0"/>
              <a:t> </a:t>
            </a:r>
            <a:r>
              <a:rPr lang="it-IT" sz="2400" b="1" dirty="0"/>
              <a:t>cast</a:t>
            </a:r>
            <a:r>
              <a:rPr lang="it-IT" sz="2400" dirty="0"/>
              <a:t>/</a:t>
            </a:r>
            <a:r>
              <a:rPr lang="it-IT" sz="2400" b="1" dirty="0"/>
              <a:t>crew</a:t>
            </a:r>
            <a:r>
              <a:rPr lang="it-IT" sz="2400" dirty="0"/>
              <a:t> credits be </a:t>
            </a:r>
            <a:r>
              <a:rPr lang="it-IT" sz="2400" dirty="0" err="1"/>
              <a:t>represented</a:t>
            </a:r>
            <a:r>
              <a:rPr lang="it-IT" sz="2400" dirty="0"/>
              <a:t> </a:t>
            </a:r>
            <a:r>
              <a:rPr lang="it-IT" sz="2400" dirty="0" err="1"/>
              <a:t>as</a:t>
            </a:r>
            <a:r>
              <a:rPr lang="it-IT" sz="2400" dirty="0"/>
              <a:t> </a:t>
            </a:r>
            <a:r>
              <a:rPr lang="it-IT" sz="2400" dirty="0" err="1"/>
              <a:t>edges</a:t>
            </a:r>
            <a:r>
              <a:rPr lang="it-IT" sz="2400" dirty="0"/>
              <a:t> with </a:t>
            </a:r>
            <a:r>
              <a:rPr lang="it-IT" sz="2400" dirty="0" err="1"/>
              <a:t>properties</a:t>
            </a:r>
            <a:r>
              <a:rPr lang="it-IT" sz="2400" dirty="0"/>
              <a:t> or </a:t>
            </a:r>
            <a:r>
              <a:rPr lang="it-IT" sz="2400" dirty="0" err="1"/>
              <a:t>as</a:t>
            </a:r>
            <a:r>
              <a:rPr lang="it-IT" sz="2400" dirty="0"/>
              <a:t> </a:t>
            </a:r>
            <a:r>
              <a:rPr lang="it-IT" sz="2400" dirty="0" err="1"/>
              <a:t>nodes</a:t>
            </a:r>
            <a:r>
              <a:rPr lang="it-IT" sz="2400" dirty="0"/>
              <a:t>? </a:t>
            </a:r>
            <a:br>
              <a:rPr lang="it-IT" sz="2400" dirty="0"/>
            </a:br>
            <a:r>
              <a:rPr lang="it-IT" sz="2400" dirty="0"/>
              <a:t>c. How to </a:t>
            </a:r>
            <a:r>
              <a:rPr lang="it-IT" sz="2400" dirty="0" err="1"/>
              <a:t>prevent</a:t>
            </a:r>
            <a:r>
              <a:rPr lang="it-IT" sz="2400" dirty="0"/>
              <a:t> duplicate </a:t>
            </a:r>
            <a:r>
              <a:rPr lang="it-IT" sz="2400" dirty="0" err="1"/>
              <a:t>entities</a:t>
            </a:r>
            <a:r>
              <a:rPr lang="it-IT" sz="2400" dirty="0"/>
              <a:t>?</a:t>
            </a:r>
            <a:endParaRPr lang="it-IT" sz="4800"/>
          </a:p>
        </p:txBody>
      </p:sp>
      <p:sp>
        <p:nvSpPr>
          <p:cNvPr id="3" name="Segnaposto contenuto 2">
            <a:extLst>
              <a:ext uri="{FF2B5EF4-FFF2-40B4-BE49-F238E27FC236}">
                <a16:creationId xmlns:a16="http://schemas.microsoft.com/office/drawing/2014/main" id="{36A64F15-500D-EBBD-8212-77E7C214ACF6}"/>
              </a:ext>
            </a:extLst>
          </p:cNvPr>
          <p:cNvSpPr>
            <a:spLocks noGrp="1"/>
          </p:cNvSpPr>
          <p:nvPr>
            <p:ph idx="1"/>
          </p:nvPr>
        </p:nvSpPr>
        <p:spPr>
          <a:xfrm>
            <a:off x="177759" y="284108"/>
            <a:ext cx="11745767" cy="4412648"/>
          </a:xfrm>
        </p:spPr>
        <p:txBody>
          <a:bodyPr vert="horz" lIns="91440" tIns="45720" rIns="91440" bIns="45720" rtlCol="0" anchor="t">
            <a:normAutofit/>
          </a:bodyPr>
          <a:lstStyle/>
          <a:p>
            <a:r>
              <a:rPr lang="it-IT" sz="2400"/>
              <a:t>1. </a:t>
            </a:r>
            <a:r>
              <a:rPr lang="it-IT" sz="2400" err="1"/>
              <a:t>Which</a:t>
            </a:r>
            <a:r>
              <a:rPr lang="it-IT" sz="2400"/>
              <a:t> </a:t>
            </a:r>
            <a:r>
              <a:rPr lang="it-IT" sz="2400" err="1"/>
              <a:t>films</a:t>
            </a:r>
            <a:r>
              <a:rPr lang="it-IT" sz="2400"/>
              <a:t> </a:t>
            </a:r>
            <a:r>
              <a:rPr lang="it-IT" sz="2400" err="1"/>
              <a:t>were</a:t>
            </a:r>
            <a:r>
              <a:rPr lang="it-IT" sz="2400"/>
              <a:t> </a:t>
            </a:r>
            <a:r>
              <a:rPr lang="it-IT" sz="2400" err="1"/>
              <a:t>released</a:t>
            </a:r>
            <a:r>
              <a:rPr lang="it-IT" sz="2400"/>
              <a:t> in a </a:t>
            </a:r>
            <a:r>
              <a:rPr lang="it-IT" sz="2400" err="1"/>
              <a:t>year</a:t>
            </a:r>
            <a:r>
              <a:rPr lang="it-IT" sz="2400"/>
              <a:t>?</a:t>
            </a:r>
          </a:p>
          <a:p>
            <a:r>
              <a:rPr lang="it-IT" sz="2400"/>
              <a:t>2. </a:t>
            </a:r>
            <a:r>
              <a:rPr lang="it-IT" sz="2400" err="1"/>
              <a:t>Which</a:t>
            </a:r>
            <a:r>
              <a:rPr lang="it-IT" sz="2400"/>
              <a:t> </a:t>
            </a:r>
            <a:r>
              <a:rPr lang="it-IT" sz="2400" err="1"/>
              <a:t>person</a:t>
            </a:r>
            <a:r>
              <a:rPr lang="it-IT" sz="2400"/>
              <a:t> </a:t>
            </a:r>
            <a:r>
              <a:rPr lang="it-IT" sz="2400" err="1"/>
              <a:t>directed</a:t>
            </a:r>
            <a:r>
              <a:rPr lang="it-IT" sz="2400"/>
              <a:t> a film ?</a:t>
            </a:r>
          </a:p>
          <a:p>
            <a:r>
              <a:rPr lang="it-IT" sz="2400"/>
              <a:t>3. </a:t>
            </a:r>
            <a:r>
              <a:rPr lang="it-IT" sz="2400" err="1"/>
              <a:t>Which</a:t>
            </a:r>
            <a:r>
              <a:rPr lang="it-IT" sz="2400"/>
              <a:t> </a:t>
            </a:r>
            <a:r>
              <a:rPr lang="it-IT" sz="2400" err="1"/>
              <a:t>films</a:t>
            </a:r>
            <a:r>
              <a:rPr lang="it-IT" sz="2400"/>
              <a:t> feature an </a:t>
            </a:r>
            <a:r>
              <a:rPr lang="it-IT" sz="2400" err="1"/>
              <a:t>actor</a:t>
            </a:r>
            <a:r>
              <a:rPr lang="it-IT" sz="2400"/>
              <a:t>?</a:t>
            </a:r>
          </a:p>
          <a:p>
            <a:r>
              <a:rPr lang="it-IT" sz="2400"/>
              <a:t>4. </a:t>
            </a:r>
            <a:r>
              <a:rPr lang="it-IT" sz="2400" err="1"/>
              <a:t>Which</a:t>
            </a:r>
            <a:r>
              <a:rPr lang="it-IT" sz="2400"/>
              <a:t> </a:t>
            </a:r>
            <a:r>
              <a:rPr lang="it-IT" sz="2400" err="1"/>
              <a:t>character</a:t>
            </a:r>
            <a:r>
              <a:rPr lang="it-IT" sz="2400"/>
              <a:t> </a:t>
            </a:r>
            <a:r>
              <a:rPr lang="it-IT" sz="2400" err="1"/>
              <a:t>does</a:t>
            </a:r>
            <a:r>
              <a:rPr lang="it-IT" sz="2400"/>
              <a:t> a </a:t>
            </a:r>
            <a:r>
              <a:rPr lang="it-IT" sz="2400" err="1"/>
              <a:t>person</a:t>
            </a:r>
            <a:r>
              <a:rPr lang="it-IT" sz="2400"/>
              <a:t> play in a film?</a:t>
            </a:r>
          </a:p>
          <a:p>
            <a:r>
              <a:rPr lang="it-IT" sz="2400"/>
              <a:t>5. </a:t>
            </a:r>
            <a:r>
              <a:rPr lang="it-IT" sz="2400" err="1"/>
              <a:t>Which</a:t>
            </a:r>
            <a:r>
              <a:rPr lang="it-IT" sz="2400"/>
              <a:t> </a:t>
            </a:r>
            <a:r>
              <a:rPr lang="it-IT" sz="2400" err="1"/>
              <a:t>films</a:t>
            </a:r>
            <a:r>
              <a:rPr lang="it-IT" sz="2400"/>
              <a:t> share a </a:t>
            </a:r>
            <a:r>
              <a:rPr lang="it-IT" sz="2400" err="1"/>
              <a:t>genre</a:t>
            </a:r>
            <a:r>
              <a:rPr lang="it-IT" sz="2400"/>
              <a:t>?</a:t>
            </a:r>
          </a:p>
          <a:p>
            <a:r>
              <a:rPr lang="it-IT" sz="2400"/>
              <a:t>6. </a:t>
            </a:r>
            <a:r>
              <a:rPr lang="it-IT" sz="2400" err="1"/>
              <a:t>Which</a:t>
            </a:r>
            <a:r>
              <a:rPr lang="it-IT" sz="2400"/>
              <a:t> </a:t>
            </a:r>
            <a:r>
              <a:rPr lang="it-IT" sz="2400" err="1"/>
              <a:t>actors</a:t>
            </a:r>
            <a:r>
              <a:rPr lang="it-IT" sz="2400"/>
              <a:t> </a:t>
            </a:r>
            <a:r>
              <a:rPr lang="it-IT" sz="2400" err="1"/>
              <a:t>have</a:t>
            </a:r>
            <a:r>
              <a:rPr lang="it-IT" sz="2400"/>
              <a:t> </a:t>
            </a:r>
            <a:r>
              <a:rPr lang="it-IT" sz="2400" err="1"/>
              <a:t>appeared</a:t>
            </a:r>
            <a:r>
              <a:rPr lang="it-IT" sz="2400"/>
              <a:t> in </a:t>
            </a:r>
            <a:r>
              <a:rPr lang="it-IT" sz="2400" err="1"/>
              <a:t>films</a:t>
            </a:r>
            <a:r>
              <a:rPr lang="it-IT" sz="2400"/>
              <a:t> </a:t>
            </a:r>
            <a:r>
              <a:rPr lang="it-IT" sz="2400" err="1"/>
              <a:t>directed</a:t>
            </a:r>
            <a:r>
              <a:rPr lang="it-IT" sz="2400"/>
              <a:t> by a director?</a:t>
            </a:r>
          </a:p>
          <a:p>
            <a:r>
              <a:rPr lang="it-IT" sz="2400"/>
              <a:t>7. </a:t>
            </a:r>
            <a:r>
              <a:rPr lang="it-IT" sz="2400" err="1"/>
              <a:t>Which</a:t>
            </a:r>
            <a:r>
              <a:rPr lang="it-IT" sz="2400"/>
              <a:t> production companies are </a:t>
            </a:r>
            <a:r>
              <a:rPr lang="it-IT" sz="2400" err="1"/>
              <a:t>associated</a:t>
            </a:r>
            <a:r>
              <a:rPr lang="it-IT" sz="2400"/>
              <a:t> with </a:t>
            </a:r>
            <a:r>
              <a:rPr lang="it-IT" sz="2400" err="1"/>
              <a:t>films</a:t>
            </a:r>
            <a:r>
              <a:rPr lang="it-IT" sz="2400"/>
              <a:t> in a </a:t>
            </a:r>
            <a:r>
              <a:rPr lang="it-IT" sz="2400" err="1"/>
              <a:t>given</a:t>
            </a:r>
            <a:r>
              <a:rPr lang="it-IT" sz="2400"/>
              <a:t> </a:t>
            </a:r>
            <a:r>
              <a:rPr lang="it-IT" sz="2400" err="1"/>
              <a:t>genre</a:t>
            </a:r>
            <a:r>
              <a:rPr lang="it-IT" sz="2400"/>
              <a:t>?</a:t>
            </a:r>
          </a:p>
          <a:p>
            <a:r>
              <a:rPr lang="it-IT" sz="2400"/>
              <a:t>8. ...</a:t>
            </a:r>
          </a:p>
          <a:p>
            <a:endParaRPr lang="it-IT"/>
          </a:p>
        </p:txBody>
      </p:sp>
    </p:spTree>
    <p:extLst>
      <p:ext uri="{BB962C8B-B14F-4D97-AF65-F5344CB8AC3E}">
        <p14:creationId xmlns:p14="http://schemas.microsoft.com/office/powerpoint/2010/main" val="341132862"/>
      </p:ext>
    </p:extLst>
  </p:cSld>
  <p:clrMapOvr>
    <a:masterClrMapping/>
  </p:clrMapOvr>
</p:sld>
</file>

<file path=ppt/theme/theme1.xml><?xml version="1.0" encoding="utf-8"?>
<a:theme xmlns:a="http://schemas.openxmlformats.org/drawingml/2006/main" name="Tema di Offic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1179</Words>
  <Application>Microsoft Office PowerPoint</Application>
  <PresentationFormat>Widescreen</PresentationFormat>
  <Paragraphs>74</Paragraphs>
  <Slides>17</Slides>
  <Notes>0</Notes>
  <HiddenSlides>0</HiddenSlides>
  <MMClips>0</MMClips>
  <ScaleCrop>false</ScaleCrop>
  <HeadingPairs>
    <vt:vector size="6" baseType="variant">
      <vt:variant>
        <vt:lpstr>Caratteri utilizzati</vt:lpstr>
      </vt:variant>
      <vt:variant>
        <vt:i4>7</vt:i4>
      </vt:variant>
      <vt:variant>
        <vt:lpstr>Tema</vt:lpstr>
      </vt:variant>
      <vt:variant>
        <vt:i4>1</vt:i4>
      </vt:variant>
      <vt:variant>
        <vt:lpstr>Titoli diapositive</vt:lpstr>
      </vt:variant>
      <vt:variant>
        <vt:i4>17</vt:i4>
      </vt:variant>
    </vt:vector>
  </HeadingPairs>
  <TitlesOfParts>
    <vt:vector size="25" baseType="lpstr">
      <vt:lpstr>Aptos</vt:lpstr>
      <vt:lpstr>Aptos Display</vt:lpstr>
      <vt:lpstr>Arial</vt:lpstr>
      <vt:lpstr>Arial,Sans-Serif</vt:lpstr>
      <vt:lpstr>Calibri</vt:lpstr>
      <vt:lpstr>Courier New</vt:lpstr>
      <vt:lpstr>Wingdings</vt:lpstr>
      <vt:lpstr>Tema di Office</vt:lpstr>
      <vt:lpstr>Knowledge Graph: Introduction</vt:lpstr>
      <vt:lpstr>Knowledge Graph: Roadmap</vt:lpstr>
      <vt:lpstr>Knowledge Graph: Roadmap</vt:lpstr>
      <vt:lpstr>Data Models</vt:lpstr>
      <vt:lpstr>Knowledge Graph: Definitions</vt:lpstr>
      <vt:lpstr>Knowledge Graph: Definitions</vt:lpstr>
      <vt:lpstr>Knowledge Graph: Definitions</vt:lpstr>
      <vt:lpstr>Knowledge Graph: Definitions</vt:lpstr>
      <vt:lpstr>Knowledge Graph: Data Models</vt:lpstr>
      <vt:lpstr>Knowledge Graph: Data Models</vt:lpstr>
      <vt:lpstr>Knowledge Graph: Data Models</vt:lpstr>
      <vt:lpstr>Knowledge Graph: Data Models</vt:lpstr>
      <vt:lpstr>Presentazione standard di PowerPoint</vt:lpstr>
      <vt:lpstr>Knowledge Graph: Data Models</vt:lpstr>
      <vt:lpstr>Let’s practise! </vt:lpstr>
      <vt:lpstr>Presentazione standard di PowerPoint</vt:lpstr>
      <vt:lpstr> Should genres and production companies be properties or nodes? b. Should cast/crew credits be represented as edges with properties or as nodes?  c. How to prevent duplicate entities?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Daniele Santamaria</cp:lastModifiedBy>
  <cp:revision>532</cp:revision>
  <dcterms:created xsi:type="dcterms:W3CDTF">2026-09-03T08:40:39Z</dcterms:created>
  <dcterms:modified xsi:type="dcterms:W3CDTF">2026-10-30T17:04:57Z</dcterms:modified>
</cp:coreProperties>
</file>