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8" r:id="rId3"/>
    <p:sldId id="355" r:id="rId4"/>
    <p:sldId id="300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45" dt="2026-10-05T16:27:07.539"/>
    <p1510:client id="{23C1DCDD-7DC9-CAE2-0D91-8618A87DB2AF}" v="21" dt="2026-10-05T15:51:15.254"/>
    <p1510:client id="{694D97EF-0540-56CF-5055-19F86A42FD65}" v="303" dt="2026-10-06T15:21:01.125"/>
    <p1510:client id="{98FED9A7-9218-2B09-34EF-786590321DDC}" v="132" dt="2026-10-07T07:20:39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4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07.10.2026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daniele.santamaria@unict.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Knowledge Representation and Reasoning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541819" y="1698334"/>
            <a:ext cx="6312283" cy="4019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algn="l"/>
            <a:r>
              <a:rPr lang="en-US" err="1"/>
              <a:t>Docente</a:t>
            </a:r>
            <a:r>
              <a:rPr lang="en-US"/>
              <a:t>:  Daniele Francesco Santamaria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5C082-3446-0FDB-0FB1-FCCB06587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272D994-5E97-70DC-F32F-0E5F16666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>
                <a:solidFill>
                  <a:srgbClr val="FFFFFF"/>
                </a:solidFill>
              </a:rPr>
              <a:t>Course Organization</a:t>
            </a:r>
            <a:endParaRPr lang="it-IT">
              <a:ea typeface="+mj-ea"/>
              <a:cs typeface="+mj-cs"/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sellaDiTesto 4">
            <a:extLst>
              <a:ext uri="{FF2B5EF4-FFF2-40B4-BE49-F238E27FC236}">
                <a16:creationId xmlns:a16="http://schemas.microsoft.com/office/drawing/2014/main" id="{1CF44851-2893-F044-5ACE-73C8534736A4}"/>
              </a:ext>
            </a:extLst>
          </p:cNvPr>
          <p:cNvSpPr txBox="1"/>
          <p:nvPr/>
        </p:nvSpPr>
        <p:spPr>
          <a:xfrm>
            <a:off x="4427889" y="318655"/>
            <a:ext cx="7351426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We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20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focus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on the </a:t>
            </a:r>
            <a:r>
              <a:rPr lang="en-US" sz="2000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Theory and Practices</a:t>
            </a:r>
            <a:r>
              <a:rPr lang="en-US" sz="20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of Knowledge Graphs </a:t>
            </a:r>
            <a:r>
              <a:rPr lang="en-US" sz="2000" b="1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it-IT" b="1"/>
          </a:p>
          <a:p>
            <a:pPr algn="ctr"/>
            <a:endParaRPr lang="it-IT" sz="2800" b="1"/>
          </a:p>
        </p:txBody>
      </p:sp>
      <p:sp>
        <p:nvSpPr>
          <p:cNvPr id="5" name="CasellaDiTesto 5">
            <a:extLst>
              <a:ext uri="{FF2B5EF4-FFF2-40B4-BE49-F238E27FC236}">
                <a16:creationId xmlns:a16="http://schemas.microsoft.com/office/drawing/2014/main" id="{45D380F5-FF64-833A-C26E-6FC23DCB00A7}"/>
              </a:ext>
            </a:extLst>
          </p:cNvPr>
          <p:cNvSpPr txBox="1"/>
          <p:nvPr/>
        </p:nvSpPr>
        <p:spPr>
          <a:xfrm>
            <a:off x="5405989" y="1600629"/>
            <a:ext cx="6112691" cy="277614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         </a:t>
            </a:r>
            <a:r>
              <a:rPr lang="en-US" sz="2400" b="1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Two Modules</a:t>
            </a:r>
          </a:p>
          <a:p>
            <a:pPr marL="342900" indent="-342900">
              <a:buAutoNum type="arabicParenR"/>
            </a:pPr>
            <a:r>
              <a:rPr lang="en-US" b="1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Theory:</a:t>
            </a:r>
            <a:r>
              <a:rPr lang="en-US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Foundamentals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of </a:t>
            </a:r>
            <a:r>
              <a:rPr lang="en-US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Knowledge Graphs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(18 hours)​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it-IT" dirty="0"/>
          </a:p>
          <a:p>
            <a:pPr marL="685800" lvl="2" indent="-228600">
              <a:buFont typeface="Arial,Sans-Serif"/>
              <a:buChar char="•"/>
            </a:pPr>
            <a:r>
              <a:rPr lang="en-US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Theory and </a:t>
            </a:r>
            <a:r>
              <a:rPr lang="en-US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General Knowledge.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r>
              <a:rPr lang="en-US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endParaRPr lang="en-US" dirty="0">
              <a:cs typeface="Arial"/>
            </a:endParaRPr>
          </a:p>
          <a:p>
            <a:pPr marL="457200" lvl="2"/>
            <a:endParaRPr lang="en-US">
              <a:cs typeface="Arial"/>
            </a:endParaRPr>
          </a:p>
          <a:p>
            <a:pPr marL="0" lvl="1"/>
            <a:r>
              <a:rPr lang="en-US" dirty="0">
                <a:cs typeface="Arial"/>
              </a:rPr>
              <a:t>2)   </a:t>
            </a:r>
            <a:r>
              <a:rPr lang="en-US" b="1" dirty="0">
                <a:cs typeface="Arial"/>
              </a:rPr>
              <a:t>Practice:</a:t>
            </a:r>
            <a:r>
              <a:rPr lang="en-US" dirty="0">
                <a:cs typeface="Arial"/>
              </a:rPr>
              <a:t> Building Knowledge Graphs (30 hours) </a:t>
            </a:r>
            <a:endParaRPr lang="en-US" dirty="0"/>
          </a:p>
          <a:p>
            <a:pPr marL="742950" lvl="1" indent="-285750">
              <a:lnSpc>
                <a:spcPct val="90000"/>
              </a:lnSpc>
              <a:spcAft>
                <a:spcPts val="600"/>
              </a:spcAft>
              <a:buFont typeface="Arial"/>
              <a:buChar char="•"/>
            </a:pPr>
            <a:r>
              <a:rPr lang="en-US" dirty="0">
                <a:cs typeface="Arial"/>
              </a:rPr>
              <a:t>Construct, query and manipulate KGs with Neo4J.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cs typeface="Arial"/>
              </a:rPr>
              <a:t>3)  </a:t>
            </a:r>
            <a:r>
              <a:rPr lang="en-US" b="1" dirty="0">
                <a:cs typeface="Arial"/>
              </a:rPr>
              <a:t>Seminars </a:t>
            </a:r>
            <a:r>
              <a:rPr lang="en-US" dirty="0">
                <a:cs typeface="Arial"/>
              </a:rPr>
              <a:t>(when available)</a:t>
            </a:r>
            <a:endParaRPr lang="en-US" b="1" dirty="0">
              <a:cs typeface="Arial"/>
            </a:endParaRPr>
          </a:p>
          <a:p>
            <a:pPr marL="228600" lvl="1" indent="-228600">
              <a:buFont typeface="Courier New"/>
              <a:buChar char="o"/>
            </a:pPr>
            <a:endParaRPr lang="en-US">
              <a:cs typeface="Arial"/>
            </a:endParaRPr>
          </a:p>
          <a:p>
            <a:pPr algn="ctr"/>
            <a:endParaRPr lang="it-IT">
              <a:cs typeface="Arial"/>
            </a:endParaRPr>
          </a:p>
        </p:txBody>
      </p:sp>
      <p:sp>
        <p:nvSpPr>
          <p:cNvPr id="6" name="CasellaDiTesto 6">
            <a:extLst>
              <a:ext uri="{FF2B5EF4-FFF2-40B4-BE49-F238E27FC236}">
                <a16:creationId xmlns:a16="http://schemas.microsoft.com/office/drawing/2014/main" id="{A0BD77C3-4445-B551-B721-A2FDA8ABF56B}"/>
              </a:ext>
            </a:extLst>
          </p:cNvPr>
          <p:cNvSpPr txBox="1"/>
          <p:nvPr/>
        </p:nvSpPr>
        <p:spPr>
          <a:xfrm>
            <a:off x="4958111" y="4474753"/>
            <a:ext cx="7357672" cy="217290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/>
            <a:r>
              <a:rPr lang="en-US" sz="2400" b="1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Suggested Books</a:t>
            </a:r>
            <a:endParaRPr lang="it-IT" sz="2400" dirty="0"/>
          </a:p>
          <a:p>
            <a:pPr marL="285750" lvl="1" indent="-285750">
              <a:buFont typeface="Calibri"/>
              <a:buChar char="-"/>
            </a:pPr>
            <a:r>
              <a:rPr lang="en-US" b="1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Theory:</a:t>
            </a:r>
            <a:r>
              <a:rPr lang="en-US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Dieter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Fensel et al., </a:t>
            </a:r>
            <a:r>
              <a:rPr lang="en-US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Knowledge Graphs Methodology, Tools </a:t>
            </a:r>
            <a:r>
              <a:rPr lang="en-US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And Selected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Use Cases​</a:t>
            </a:r>
            <a:r>
              <a:rPr lang="en-US" sz="18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r>
              <a:rPr lang="en-US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.</a:t>
            </a:r>
            <a:endParaRPr lang="en-US" dirty="0"/>
          </a:p>
          <a:p>
            <a:pPr marL="0" lvl="1"/>
            <a:endParaRPr lang="en-US">
              <a:cs typeface="Arial"/>
            </a:endParaRPr>
          </a:p>
          <a:p>
            <a:pPr marL="285750" lvl="1" indent="-285750">
              <a:lnSpc>
                <a:spcPct val="90000"/>
              </a:lnSpc>
              <a:spcAft>
                <a:spcPts val="600"/>
              </a:spcAft>
              <a:buFont typeface="Calibri"/>
              <a:buChar char="-"/>
            </a:pPr>
            <a:r>
              <a:rPr lang="en-US" b="1" dirty="0">
                <a:cs typeface="Arial"/>
              </a:rPr>
              <a:t>Practice:</a:t>
            </a:r>
            <a:r>
              <a:rPr lang="en-US" dirty="0">
                <a:cs typeface="Arial"/>
              </a:rPr>
              <a:t> Cypher Manual (Cypher version 25).</a:t>
            </a:r>
          </a:p>
          <a:p>
            <a:pPr marL="285750" lvl="1" indent="-285750">
              <a:buFont typeface="Calibri"/>
              <a:buChar char="-"/>
            </a:pPr>
            <a:endParaRPr lang="en-US">
              <a:cs typeface="Arial"/>
            </a:endParaRP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840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5D7839-809A-FDB9-699B-643F9872C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737546EA-DB0B-4506-1167-7421EC771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F9726C6-DE55-3BDF-5BAA-D8A43052B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E41F50-ECB5-8551-303E-8E7C52726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 mode</a:t>
            </a: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A90D0FE1-CA87-CD17-94EA-13C2458DE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2BD0C79-6690-8C91-DD44-AD3660221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7A6C7B5C-7C4E-55C2-9B86-6DE091390011}"/>
              </a:ext>
            </a:extLst>
          </p:cNvPr>
          <p:cNvSpPr txBox="1">
            <a:spLocks/>
          </p:cNvSpPr>
          <p:nvPr/>
        </p:nvSpPr>
        <p:spPr>
          <a:xfrm>
            <a:off x="5370153" y="1526033"/>
            <a:ext cx="5536397" cy="393528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/>
              <a:t>Project involving 1—4 students: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600"/>
              <a:t>1-2 students -&gt;</a:t>
            </a:r>
          </a:p>
          <a:p>
            <a:pPr lvl="2" indent="-228600" algn="l">
              <a:buFont typeface="Arial" panose="020B0604020202020204" pitchFamily="34" charset="0"/>
              <a:buChar char="•"/>
            </a:pPr>
            <a:r>
              <a:rPr lang="en-US" sz="1600"/>
              <a:t>Knowledge Graph, software, and related documentation. Presentation of the results</a:t>
            </a:r>
          </a:p>
          <a:p>
            <a:pPr lvl="2" indent="-228600" algn="l">
              <a:buFont typeface="Arial" panose="020B0604020202020204" pitchFamily="34" charset="0"/>
              <a:buChar char="•"/>
            </a:pPr>
            <a:r>
              <a:rPr lang="en-US" sz="1600"/>
              <a:t>Implementation of KG techniques.</a:t>
            </a:r>
          </a:p>
          <a:p>
            <a:pPr lvl="2" indent="-228600" algn="l">
              <a:buFont typeface="Arial" panose="020B0604020202020204" pitchFamily="34" charset="0"/>
              <a:buChar char="•"/>
            </a:pPr>
            <a:r>
              <a:rPr lang="en-US" sz="1600"/>
              <a:t>Seminar.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600"/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600"/>
              <a:t>3-4 students -&gt; Research project (when feasible)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6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6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6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6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6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600"/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600" b="1"/>
              <a:t> All Projects must be arranged with the teacher</a:t>
            </a:r>
          </a:p>
        </p:txBody>
      </p:sp>
    </p:spTree>
    <p:extLst>
      <p:ext uri="{BB962C8B-B14F-4D97-AF65-F5344CB8AC3E}">
        <p14:creationId xmlns:p14="http://schemas.microsoft.com/office/powerpoint/2010/main" val="2815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860D10-E0D5-E58B-B637-6B9A68C0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3A711D5-20A5-A7AB-44E5-63526A6C2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Course Communication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FB80183-4CD8-121A-0013-6BE294A50C4B}"/>
              </a:ext>
            </a:extLst>
          </p:cNvPr>
          <p:cNvSpPr txBox="1">
            <a:spLocks/>
          </p:cNvSpPr>
          <p:nvPr/>
        </p:nvSpPr>
        <p:spPr>
          <a:xfrm>
            <a:off x="6096000" y="820880"/>
            <a:ext cx="5688829" cy="48970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 b="1" dirty="0"/>
              <a:t>Slides and course materials:</a:t>
            </a:r>
            <a:r>
              <a:rPr lang="en-US" sz="1800" dirty="0"/>
              <a:t> e-learning platform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 b="1" dirty="0"/>
              <a:t>Code and assignments:</a:t>
            </a:r>
            <a:r>
              <a:rPr lang="en-US" sz="1800" dirty="0"/>
              <a:t> e-learning platform</a:t>
            </a:r>
          </a:p>
          <a:p>
            <a:pPr marL="34290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Announcements and communication:</a:t>
            </a:r>
            <a:r>
              <a:rPr lang="en-US" sz="1800" dirty="0"/>
              <a:t> e-learning platform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 b="1" dirty="0"/>
              <a:t>Microsoft Teams:</a:t>
            </a:r>
            <a:r>
              <a:rPr lang="en-US" sz="1800" dirty="0"/>
              <a:t> n</a:t>
            </a:r>
            <a:r>
              <a:rPr lang="en-US" sz="1800" b="1" dirty="0"/>
              <a:t>ot used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800" b="1" dirty="0"/>
              <a:t>Teacher email: </a:t>
            </a:r>
            <a:r>
              <a:rPr lang="en-US" sz="1800" b="1" dirty="0">
                <a:hlinkClick r:id="rId2"/>
              </a:rPr>
              <a:t>daniele.santamaria@unict.it</a:t>
            </a:r>
            <a:r>
              <a:rPr lang="en-US" sz="1800" b="1" dirty="0"/>
              <a:t> (no other contacts)</a:t>
            </a:r>
            <a:endParaRPr lang="en-US" sz="1800" dirty="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5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5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5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5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500"/>
          </a:p>
          <a:p>
            <a:pPr lvl="1" indent="-228600" algn="l">
              <a:buFont typeface="Arial" panose="020B0604020202020204" pitchFamily="34" charset="0"/>
              <a:buChar char="•"/>
            </a:pPr>
            <a:endParaRPr lang="en-US" sz="1500"/>
          </a:p>
          <a:p>
            <a:pPr marL="228600" lvl="1" algn="l"/>
            <a:r>
              <a:rPr lang="en-US" sz="1500" b="1" dirty="0"/>
              <a:t> 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273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Arial,Sans-Serif</vt:lpstr>
      <vt:lpstr>Calibri</vt:lpstr>
      <vt:lpstr>Courier New</vt:lpstr>
      <vt:lpstr>Tema di Office</vt:lpstr>
      <vt:lpstr>Knowledge Representation and Reasoning</vt:lpstr>
      <vt:lpstr>Course Organization</vt:lpstr>
      <vt:lpstr>Exam mode</vt:lpstr>
      <vt:lpstr>Course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Daniele Francesco Santamaria</cp:lastModifiedBy>
  <cp:revision>78</cp:revision>
  <dcterms:created xsi:type="dcterms:W3CDTF">2026-09-02T17:00:00Z</dcterms:created>
  <dcterms:modified xsi:type="dcterms:W3CDTF">2026-10-07T15:10:21Z</dcterms:modified>
</cp:coreProperties>
</file>