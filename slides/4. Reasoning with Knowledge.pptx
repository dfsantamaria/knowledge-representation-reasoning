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2" r:id="rId2"/>
    <p:sldId id="333" r:id="rId3"/>
    <p:sldId id="354" r:id="rId4"/>
    <p:sldId id="335" r:id="rId5"/>
    <p:sldId id="342" r:id="rId6"/>
    <p:sldId id="392" r:id="rId7"/>
    <p:sldId id="391" r:id="rId8"/>
    <p:sldId id="336" r:id="rId9"/>
    <p:sldId id="341" r:id="rId10"/>
    <p:sldId id="309" r:id="rId11"/>
    <p:sldId id="310" r:id="rId12"/>
    <p:sldId id="343" r:id="rId13"/>
    <p:sldId id="344" r:id="rId14"/>
    <p:sldId id="383" r:id="rId15"/>
    <p:sldId id="345" r:id="rId16"/>
    <p:sldId id="346" r:id="rId17"/>
    <p:sldId id="384" r:id="rId18"/>
    <p:sldId id="385" r:id="rId19"/>
    <p:sldId id="386" r:id="rId20"/>
    <p:sldId id="387" r:id="rId21"/>
    <p:sldId id="388" r:id="rId22"/>
    <p:sldId id="315" r:id="rId23"/>
    <p:sldId id="316" r:id="rId24"/>
    <p:sldId id="347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EF91B0-0B72-38CD-8992-99FBBEFB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9EF3290D-69F5-2E6F-B9EC-8C50153F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b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Reasoning with Knowledge</a:t>
            </a:r>
          </a:p>
          <a:p>
            <a:pPr algn="ctr"/>
            <a:endParaRPr lang="en-US" sz="6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5805F-B767-1D98-095B-69389656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7E6ACE04-B346-CC92-DC2D-48A97063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Reasoning with Knowledge</a:t>
            </a:r>
          </a:p>
          <a:p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F83A70-72B4-FFDB-6F4D-DFB2A69E4E91}"/>
              </a:ext>
            </a:extLst>
          </p:cNvPr>
          <p:cNvSpPr txBox="1"/>
          <p:nvPr/>
        </p:nvSpPr>
        <p:spPr>
          <a:xfrm>
            <a:off x="4800466" y="2774709"/>
            <a:ext cx="697421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Reasoning is the act of </a:t>
            </a:r>
            <a:r>
              <a:rPr lang="en-US" sz="3200" b="1" i="0" u="none" strike="noStrike" baseline="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infering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endParaRPr lang="en-US" sz="3200" b="1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r>
              <a:rPr lang="en-US" sz="32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new conclusions from</a:t>
            </a:r>
            <a:r>
              <a:rPr lang="en-US" sz="32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 a given KB</a:t>
            </a:r>
            <a:endParaRPr lang="en-US" sz="32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860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AE016-0143-097E-2AB9-9331638B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F9822B6-9A9F-48F3-2423-7D6F11A2B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1891C2-4E37-E963-5999-CE650310A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D85A4A9D-1ED0-9AE4-83F7-E58E90551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Reasoning with Knowledge</a:t>
            </a:r>
          </a:p>
          <a:p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841D81B6-454B-5952-927C-B76F8EBD9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5">
            <a:extLst>
              <a:ext uri="{FF2B5EF4-FFF2-40B4-BE49-F238E27FC236}">
                <a16:creationId xmlns:a16="http://schemas.microsoft.com/office/drawing/2014/main" id="{C112C8A9-D27C-31FA-C23A-89BF7D5E9A08}"/>
              </a:ext>
            </a:extLst>
          </p:cNvPr>
          <p:cNvSpPr txBox="1"/>
          <p:nvPr/>
        </p:nvSpPr>
        <p:spPr>
          <a:xfrm>
            <a:off x="4164353" y="2525085"/>
            <a:ext cx="7887324" cy="230832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Generally speaking, we have three main paradigms:</a:t>
            </a:r>
            <a:endParaRPr lang="it-IT" sz="2400"/>
          </a:p>
          <a:p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/>
              <a:t>Logics, mainly Description Logics (a fragment of first-order logic)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Rule systems based on Horn logic (Logic Programming)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Production rule systems, with  procedural style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3B2114D-9D8B-85FF-0843-9D08070F4D09}"/>
              </a:ext>
            </a:extLst>
          </p:cNvPr>
          <p:cNvSpPr txBox="1"/>
          <p:nvPr/>
        </p:nvSpPr>
        <p:spPr>
          <a:xfrm>
            <a:off x="3888000" y="975000"/>
            <a:ext cx="784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ptos"/>
              </a:rPr>
              <a:t>Reasoning is the act of infering new conclusions from it​</a:t>
            </a: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it-IT"/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142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1E5BD-D930-FA5B-6E99-68236330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9E8CE4E5-A403-626B-C51F-FC7D7A03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Description Logics</a:t>
            </a:r>
          </a:p>
          <a:p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4">
            <a:extLst>
              <a:ext uri="{FF2B5EF4-FFF2-40B4-BE49-F238E27FC236}">
                <a16:creationId xmlns:a16="http://schemas.microsoft.com/office/drawing/2014/main" id="{7FB8D127-755B-B184-A912-603428089722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DLs are based on </a:t>
            </a:r>
            <a:r>
              <a:rPr lang="en-US" sz="2200" b="1"/>
              <a:t>concepts</a:t>
            </a:r>
            <a:r>
              <a:rPr lang="en-US" sz="2200"/>
              <a:t> (unary predicates), </a:t>
            </a:r>
            <a:r>
              <a:rPr lang="en-US" sz="2200" b="1"/>
              <a:t>roles</a:t>
            </a:r>
            <a:r>
              <a:rPr lang="en-US" sz="2200"/>
              <a:t> (binary predicates), and </a:t>
            </a:r>
            <a:r>
              <a:rPr lang="en-US" sz="2200" b="1"/>
              <a:t>individuals</a:t>
            </a:r>
            <a:r>
              <a:rPr lang="en-US" sz="2200"/>
              <a:t> (constants).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DLs knowledge base consists of two parts: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 err="1"/>
              <a:t>TBox</a:t>
            </a:r>
            <a:r>
              <a:rPr lang="en-US" sz="2200" dirty="0"/>
              <a:t> . A terminological box (</a:t>
            </a:r>
            <a:r>
              <a:rPr lang="en-US" sz="2200" dirty="0" err="1"/>
              <a:t>TBox</a:t>
            </a:r>
            <a:r>
              <a:rPr lang="en-US" sz="2200" dirty="0"/>
              <a:t>) contains axioms about concept hierarchies and roles (relationships).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200" b="1" dirty="0" err="1"/>
              <a:t>ABox</a:t>
            </a:r>
            <a:r>
              <a:rPr lang="en-US" sz="2200" dirty="0"/>
              <a:t>. An assertional box contains ground facts, i.e., instances of concepts and relationships. </a:t>
            </a:r>
          </a:p>
        </p:txBody>
      </p:sp>
    </p:spTree>
    <p:extLst>
      <p:ext uri="{BB962C8B-B14F-4D97-AF65-F5344CB8AC3E}">
        <p14:creationId xmlns:p14="http://schemas.microsoft.com/office/powerpoint/2010/main" val="231791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EE99D-9C42-4D48-EF9D-EF5B70A5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DBC88E9-A1E4-B069-CD09-B79E39C16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96AB366F-9BA1-71C3-44A4-37906EF5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Description Logics</a:t>
            </a:r>
          </a:p>
          <a:p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4E2254E8-8AA3-0E7A-2E00-5F949612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25F9FEF5-3CEE-F299-807E-639AC4DF9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60" b="253"/>
          <a:stretch>
            <a:fillRect/>
          </a:stretch>
        </p:blipFill>
        <p:spPr>
          <a:xfrm>
            <a:off x="2578735" y="1874996"/>
            <a:ext cx="7054856" cy="445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4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C6C0D-E5B3-A393-DF68-5A69EED0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C8DC11C-F518-842F-0CB6-156BC5D15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09A3F36A-2091-1431-534E-9BAFF49B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Description Logics</a:t>
            </a:r>
          </a:p>
          <a:p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9F166882-9A61-4422-E89C-285982443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egnaposto contenuto 9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926A12DB-A254-84D5-75BD-32AB26E4C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628" y="1924609"/>
            <a:ext cx="976489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0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4C43E-1FD2-6FB5-381F-17FDF847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B36C8D-3988-F280-2EFB-D3A9384AF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F1308823-D465-FFD6-3122-8E326908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Description Logics</a:t>
            </a:r>
          </a:p>
          <a:p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9DFAF78C-D1BB-D45F-4B08-84360AB7A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4">
            <a:extLst>
              <a:ext uri="{FF2B5EF4-FFF2-40B4-BE49-F238E27FC236}">
                <a16:creationId xmlns:a16="http://schemas.microsoft.com/office/drawing/2014/main" id="{531F220D-4838-FA18-E09E-290C0E594122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DLs are based on </a:t>
            </a:r>
            <a:r>
              <a:rPr lang="en-US" sz="2200" b="1"/>
              <a:t>concepts</a:t>
            </a:r>
            <a:r>
              <a:rPr lang="en-US" sz="2200"/>
              <a:t> (unary predicates), </a:t>
            </a:r>
            <a:r>
              <a:rPr lang="en-US" sz="2200" b="1"/>
              <a:t>roles</a:t>
            </a:r>
            <a:r>
              <a:rPr lang="en-US" sz="2200"/>
              <a:t> (binary predicates), and </a:t>
            </a:r>
            <a:r>
              <a:rPr lang="en-US" sz="2200" b="1"/>
              <a:t>individuals</a:t>
            </a:r>
            <a:r>
              <a:rPr lang="en-US" sz="2200"/>
              <a:t> (constants).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DLs knowledge base consists of two parts: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 err="1"/>
              <a:t>TBox</a:t>
            </a:r>
            <a:r>
              <a:rPr lang="en-US" sz="2200" dirty="0"/>
              <a:t> . A terminological box (</a:t>
            </a:r>
            <a:r>
              <a:rPr lang="en-US" sz="2200" dirty="0" err="1"/>
              <a:t>TBox</a:t>
            </a:r>
            <a:r>
              <a:rPr lang="en-US" sz="2200" dirty="0"/>
              <a:t>) contains axioms about concept hierarchies and roles (relationships).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200" b="1" dirty="0" err="1"/>
              <a:t>ABox</a:t>
            </a:r>
            <a:r>
              <a:rPr lang="en-US" sz="2200" dirty="0"/>
              <a:t>. An assertional box contains ground facts, i.e., instances of concepts and relationships.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Like first-order logic, DLs  are based on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the </a:t>
            </a:r>
            <a:r>
              <a:rPr lang="en-US" sz="2200" b="1"/>
              <a:t>Open-World Assumption</a:t>
            </a:r>
            <a:r>
              <a:rPr lang="en-US" sz="2200"/>
              <a:t> (OWA)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and does not have a </a:t>
            </a:r>
            <a:r>
              <a:rPr lang="en-US" sz="2200" b="1"/>
              <a:t>Unique Name Assumption</a:t>
            </a:r>
            <a:r>
              <a:rPr lang="en-US" sz="2200"/>
              <a:t> (UNA).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65051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00FE5-80DB-F99D-3F5A-AA735A69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E38E56A3-56DA-F225-5E06-F688F1D0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Description Logics</a:t>
            </a:r>
          </a:p>
          <a:p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5">
            <a:extLst>
              <a:ext uri="{FF2B5EF4-FFF2-40B4-BE49-F238E27FC236}">
                <a16:creationId xmlns:a16="http://schemas.microsoft.com/office/drawing/2014/main" id="{9052E358-3768-4D42-E2FC-D61C71CDB10B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OWA</a:t>
            </a:r>
            <a:r>
              <a:rPr lang="en-US" sz="2200"/>
              <a:t>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The absence of a statement does not imply that the statement is false.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If a statement is not present in the KB, the answer to a query cannot automatically be “no/false”.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The statement may simply be unknown.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Therefore, if a statement is known to be false, this must be explicitly stated or logically inferred.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0D0CECC-F189-0840-3303-4B2545BEEB11}"/>
              </a:ext>
            </a:extLst>
          </p:cNvPr>
          <p:cNvSpPr txBox="1"/>
          <p:nvPr/>
        </p:nvSpPr>
        <p:spPr>
          <a:xfrm>
            <a:off x="2783840" y="5326380"/>
            <a:ext cx="42062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b="1" dirty="0" err="1"/>
              <a:t>Is</a:t>
            </a:r>
            <a:r>
              <a:rPr lang="it-IT" sz="2800" b="1" dirty="0"/>
              <a:t> the </a:t>
            </a:r>
            <a:r>
              <a:rPr lang="it-IT" sz="2800" b="1" dirty="0" err="1"/>
              <a:t>restaurant</a:t>
            </a:r>
            <a:r>
              <a:rPr lang="it-IT" sz="2800" b="1" dirty="0"/>
              <a:t> open?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97947B-A97B-4352-C4FB-345C2F3D9275}"/>
              </a:ext>
            </a:extLst>
          </p:cNvPr>
          <p:cNvSpPr txBox="1"/>
          <p:nvPr/>
        </p:nvSpPr>
        <p:spPr>
          <a:xfrm>
            <a:off x="6682740" y="4861560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7200"/>
              <a:t>{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41AD3BD-1814-2B58-6BEC-E329BD6621C5}"/>
              </a:ext>
            </a:extLst>
          </p:cNvPr>
          <p:cNvSpPr txBox="1"/>
          <p:nvPr/>
        </p:nvSpPr>
        <p:spPr>
          <a:xfrm>
            <a:off x="6990079" y="4980940"/>
            <a:ext cx="36677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OWA: I </a:t>
            </a:r>
            <a:r>
              <a:rPr lang="it-IT" dirty="0" err="1"/>
              <a:t>don't</a:t>
            </a:r>
            <a:r>
              <a:rPr lang="it-IT" dirty="0"/>
              <a:t> know.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CWA: the </a:t>
            </a:r>
            <a:r>
              <a:rPr lang="it-IT" dirty="0" err="1"/>
              <a:t>restaurant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3368078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9F1AB-67F3-D857-0482-49C17BB6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496F82C-1FE0-54DC-ADA3-13B9E942C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5A701593-B8A3-7DA7-369A-E8C1AAC6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Description Logics</a:t>
            </a:r>
          </a:p>
          <a:p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3FC7E48-25BF-1A74-C67A-19E6C324C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8">
            <a:extLst>
              <a:ext uri="{FF2B5EF4-FFF2-40B4-BE49-F238E27FC236}">
                <a16:creationId xmlns:a16="http://schemas.microsoft.com/office/drawing/2014/main" id="{4FA32890-F7B2-E42E-FB8E-FD6FB5F1FA03}"/>
              </a:ext>
            </a:extLst>
          </p:cNvPr>
          <p:cNvSpPr txBox="1"/>
          <p:nvPr/>
        </p:nvSpPr>
        <p:spPr>
          <a:xfrm>
            <a:off x="671005" y="2036152"/>
            <a:ext cx="10210799" cy="1569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,Sans-Serif"/>
              <a:buChar char="•"/>
            </a:pPr>
            <a:r>
              <a:rPr lang="en-US" sz="2400" b="1">
                <a:ea typeface="+mn-lt"/>
                <a:cs typeface="+mn-lt"/>
              </a:rPr>
              <a:t>UNA</a:t>
            </a:r>
            <a:r>
              <a:rPr lang="en-US" sz="2400">
                <a:ea typeface="+mn-lt"/>
                <a:cs typeface="+mn-lt"/>
              </a:rPr>
              <a:t>: Things that have different names (identifiers) are different.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sz="2400">
                <a:ea typeface="+mn-lt"/>
                <a:cs typeface="+mn-lt"/>
              </a:rPr>
              <a:t>Example :</a:t>
            </a:r>
          </a:p>
          <a:p>
            <a:pPr lvl="1"/>
            <a:endParaRPr lang="en-US" sz="2400" dirty="0">
              <a:ea typeface="+mn-lt"/>
              <a:cs typeface="+mn-lt"/>
            </a:endParaRPr>
          </a:p>
          <a:p>
            <a:pPr lvl="1"/>
            <a:r>
              <a:rPr lang="en-US" sz="2400">
                <a:ea typeface="+mn-lt"/>
                <a:cs typeface="+mn-lt"/>
              </a:rPr>
              <a:t>      </a:t>
            </a:r>
          </a:p>
        </p:txBody>
      </p:sp>
      <p:sp>
        <p:nvSpPr>
          <p:cNvPr id="4" name="CasellaDiTesto 10">
            <a:extLst>
              <a:ext uri="{FF2B5EF4-FFF2-40B4-BE49-F238E27FC236}">
                <a16:creationId xmlns:a16="http://schemas.microsoft.com/office/drawing/2014/main" id="{3D77C363-AF2F-8F26-AD6D-B2825585FEE1}"/>
              </a:ext>
            </a:extLst>
          </p:cNvPr>
          <p:cNvSpPr txBox="1"/>
          <p:nvPr/>
        </p:nvSpPr>
        <p:spPr>
          <a:xfrm>
            <a:off x="3502967" y="2875967"/>
            <a:ext cx="6096000" cy="73866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married(john,</a:t>
            </a:r>
            <a:r>
              <a:rPr lang="en-US" sz="240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sally), married(john,</a:t>
            </a:r>
            <a:r>
              <a:rPr lang="en-US" sz="240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Aptos"/>
              </a:rPr>
              <a:t>sam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).</a:t>
            </a:r>
            <a:r>
              <a:rPr sz="24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it-IT" dirty="0"/>
          </a:p>
          <a:p>
            <a:pPr algn="ctr"/>
            <a:endParaRPr lang="it-IT"/>
          </a:p>
        </p:txBody>
      </p:sp>
      <p:sp>
        <p:nvSpPr>
          <p:cNvPr id="6" name="CasellaDiTesto 13">
            <a:extLst>
              <a:ext uri="{FF2B5EF4-FFF2-40B4-BE49-F238E27FC236}">
                <a16:creationId xmlns:a16="http://schemas.microsoft.com/office/drawing/2014/main" id="{7AF53F3F-8EBE-EC7E-3277-986D35F0D2A4}"/>
              </a:ext>
            </a:extLst>
          </p:cNvPr>
          <p:cNvSpPr txBox="1"/>
          <p:nvPr/>
        </p:nvSpPr>
        <p:spPr>
          <a:xfrm>
            <a:off x="706032" y="3612640"/>
            <a:ext cx="10646459" cy="12003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Aptos"/>
              </a:rPr>
              <a:t>UNA: sally and </a:t>
            </a:r>
            <a:r>
              <a:rPr lang="en-US" sz="2400" dirty="0" err="1">
                <a:solidFill>
                  <a:srgbClr val="000000"/>
                </a:solidFill>
                <a:latin typeface="Aptos"/>
              </a:rPr>
              <a:t>sam</a:t>
            </a:r>
            <a:r>
              <a:rPr lang="en-US" sz="2400" dirty="0">
                <a:solidFill>
                  <a:srgbClr val="000000"/>
                </a:solidFill>
                <a:latin typeface="Aptos"/>
              </a:rPr>
              <a:t> are different individual.</a:t>
            </a:r>
            <a:endParaRPr lang="it-IT"/>
          </a:p>
          <a:p>
            <a:pPr marL="800100" lvl="1" indent="-342900">
              <a:buFont typeface="Courier New"/>
              <a:buChar char="o"/>
            </a:pPr>
            <a:r>
              <a:rPr lang="en-US" sz="2400"/>
              <a:t>WUNA: same and sally </a:t>
            </a:r>
            <a:r>
              <a:rPr lang="en-US" sz="2400">
                <a:ea typeface="+mn-lt"/>
                <a:cs typeface="+mn-lt"/>
              </a:rPr>
              <a:t>can refer to the same individual unless their distinctness is explicitly specified.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B193F25-BB2A-A3B8-8170-AC1D30E916DD}"/>
              </a:ext>
            </a:extLst>
          </p:cNvPr>
          <p:cNvSpPr txBox="1"/>
          <p:nvPr/>
        </p:nvSpPr>
        <p:spPr>
          <a:xfrm>
            <a:off x="679064" y="5151000"/>
            <a:ext cx="1094923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Aptos"/>
              </a:rPr>
              <a:t>If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</a:rPr>
              <a:t> married is functional</a:t>
            </a:r>
            <a:r>
              <a:rPr lang="en-US" sz="2400">
                <a:solidFill>
                  <a:srgbClr val="000000"/>
                </a:solidFill>
                <a:latin typeface="Aptos"/>
              </a:rPr>
              <a:t> property (at most one filler):     </a:t>
            </a: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/>
              <a:t>UNA: inconsistent KB</a:t>
            </a: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WUNA: </a:t>
            </a:r>
            <a:r>
              <a:rPr lang="en-US" sz="2400" err="1"/>
              <a:t>sam</a:t>
            </a:r>
            <a:r>
              <a:rPr lang="en-US" sz="2400"/>
              <a:t> and sally are the same individual</a:t>
            </a:r>
          </a:p>
        </p:txBody>
      </p:sp>
    </p:spTree>
    <p:extLst>
      <p:ext uri="{BB962C8B-B14F-4D97-AF65-F5344CB8AC3E}">
        <p14:creationId xmlns:p14="http://schemas.microsoft.com/office/powerpoint/2010/main" val="1555066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5BF0D-8D2B-E86D-AC0F-22B41A1B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B4DF40A-4732-2E3F-8C48-A0CB1E1F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3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AC94D-FE65-835D-9901-7CC03265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665C405-AC29-2DF0-00C1-8B921442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6B04F59-F15B-7670-C509-8A4016293CAF}"/>
              </a:ext>
            </a:extLst>
          </p:cNvPr>
          <p:cNvSpPr txBox="1"/>
          <p:nvPr/>
        </p:nvSpPr>
        <p:spPr>
          <a:xfrm>
            <a:off x="552000" y="2061000"/>
            <a:ext cx="11316000" cy="57861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Logic programming is a  paradigm in which a program is expressed using facts,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rules,and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queries (rather than a sequence of instructions), the underlying calculus </a:t>
            </a:r>
            <a:r>
              <a:rPr lang="en-US" sz="22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determs</a:t>
            </a:r>
            <a:r>
              <a:rPr lang="en-US" sz="22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the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answers.</a:t>
            </a:r>
            <a:r>
              <a:rPr lang="en-US" sz="22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it-IT" dirty="0"/>
          </a:p>
          <a:p>
            <a:endParaRPr lang="en-US" sz="2200" dirty="0">
              <a:cs typeface="Arial"/>
            </a:endParaRPr>
          </a:p>
          <a:p>
            <a:r>
              <a:rPr lang="en-US" sz="2200" b="1">
                <a:cs typeface="Arial"/>
              </a:rPr>
              <a:t>Applications:</a:t>
            </a:r>
          </a:p>
          <a:p>
            <a:endParaRPr lang="en-US" sz="2200" b="1" dirty="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en-US" sz="2200">
                <a:cs typeface="Arial"/>
              </a:rPr>
              <a:t>NASA's CLARISSA: A voice-controlled system developed to help astronauts navigate complex procedures aboard the International Space Station.</a:t>
            </a:r>
            <a:endParaRPr lang="en-US"/>
          </a:p>
          <a:p>
            <a:pPr marL="342900" indent="-342900">
              <a:buFont typeface="Calibri"/>
              <a:buChar char="-"/>
            </a:pPr>
            <a:r>
              <a:rPr lang="en-US" sz="2200" dirty="0">
                <a:cs typeface="Arial"/>
              </a:rPr>
              <a:t>Telecom Ericsson AB: Ericsson Network Resource Manager (NRM) provides the capabilities for configuring and managing complex </a:t>
            </a:r>
            <a:r>
              <a:rPr lang="en-US" sz="2200">
                <a:cs typeface="Arial"/>
              </a:rPr>
              <a:t>multivendor</a:t>
            </a:r>
            <a:r>
              <a:rPr lang="en-US" sz="2200" dirty="0">
                <a:cs typeface="Arial"/>
              </a:rPr>
              <a:t> IP Backbone networks.</a:t>
            </a:r>
            <a:endParaRPr lang="en-US" dirty="0"/>
          </a:p>
          <a:p>
            <a:pPr marL="342900" indent="-342900">
              <a:buFont typeface="Calibri"/>
              <a:buChar char="-"/>
            </a:pPr>
            <a:r>
              <a:rPr lang="en-US" sz="2200" dirty="0">
                <a:cs typeface="Arial"/>
              </a:rPr>
              <a:t>Biotech Pyrosequencing AB: SICS developed a dispensation order generation algorithm for Pyrosequencing's sequence analysis instruments, using constraint programming with </a:t>
            </a:r>
            <a:r>
              <a:rPr lang="en-US" sz="2200" dirty="0" err="1">
                <a:cs typeface="Arial"/>
              </a:rPr>
              <a:t>SICStus</a:t>
            </a:r>
            <a:r>
              <a:rPr lang="en-US" sz="2200" dirty="0">
                <a:cs typeface="Arial"/>
              </a:rPr>
              <a:t>.</a:t>
            </a:r>
            <a:endParaRPr lang="en-US" dirty="0"/>
          </a:p>
          <a:p>
            <a:pPr marL="342900" indent="-342900">
              <a:buFont typeface="Calibri"/>
              <a:buChar char="-"/>
            </a:pPr>
            <a:endParaRPr lang="en-US" sz="2200" dirty="0">
              <a:cs typeface="Arial"/>
            </a:endParaRPr>
          </a:p>
          <a:p>
            <a:pPr marL="342900" indent="-342900">
              <a:buFont typeface="Calibri"/>
              <a:buChar char="-"/>
            </a:pPr>
            <a:endParaRPr lang="en-US" sz="2200" dirty="0">
              <a:cs typeface="Arial"/>
            </a:endParaRPr>
          </a:p>
          <a:p>
            <a:pPr marL="342900" indent="-342900">
              <a:buFont typeface="Calibri"/>
              <a:buChar char="-"/>
            </a:pPr>
            <a:endParaRPr lang="en-US" sz="2200" dirty="0">
              <a:cs typeface="Arial"/>
            </a:endParaRP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8829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5B661-9D97-B277-09F6-913B19D2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6387E19-E11E-9B64-CEA8-7EFCD4E1F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358024-12CE-764C-3827-A6BCF763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86B48E5-AAB6-29A4-3665-26CA3CF46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F57CF1E-E795-342B-6F0A-9F6BBD98E5DE}"/>
              </a:ext>
            </a:extLst>
          </p:cNvPr>
          <p:cNvSpPr txBox="1"/>
          <p:nvPr/>
        </p:nvSpPr>
        <p:spPr>
          <a:xfrm>
            <a:off x="665750" y="2241460"/>
            <a:ext cx="1085537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Prolog</a:t>
            </a:r>
            <a:r>
              <a:rPr lang="en-US" sz="2800">
                <a:ea typeface="+mn-lt"/>
                <a:cs typeface="+mn-lt"/>
              </a:rPr>
              <a:t> is based on Horn clauses written in implication form.</a:t>
            </a:r>
            <a:endParaRPr lang="it-IT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 Horn clause  is a formula constituted by a  disjunction of literals with at most one positive literal.</a:t>
            </a:r>
            <a:endParaRPr lang="en-US" sz="2800"/>
          </a:p>
          <a:p>
            <a:pPr marL="914400" lvl="1" indent="-457200">
              <a:buFont typeface="Courier New"/>
              <a:buChar char="o"/>
            </a:pPr>
            <a:r>
              <a:rPr lang="en-US" sz="2800"/>
              <a:t>CWA (Closed World Assumption).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/>
              <a:t>UNA (Unique Name Assumption).</a:t>
            </a:r>
            <a:endParaRPr lang="en-US" sz="2800" dirty="0"/>
          </a:p>
          <a:p>
            <a:pPr marL="914400" lvl="1" indent="-457200">
              <a:buFont typeface="Courier New"/>
              <a:buChar char="o"/>
            </a:pPr>
            <a:r>
              <a:rPr lang="en-US" sz="2800"/>
              <a:t>Negation is admitted.    </a:t>
            </a:r>
            <a:endParaRPr lang="en-US" sz="2800" dirty="0"/>
          </a:p>
          <a:p>
            <a:pPr marL="914400" lvl="1" indent="-457200">
              <a:buFont typeface="Courier New"/>
              <a:buChar char="o"/>
            </a:pPr>
            <a:endParaRPr lang="en-US" sz="2800" dirty="0"/>
          </a:p>
          <a:p>
            <a:pPr marL="914400" lvl="1" indent="-457200">
              <a:buFont typeface="Courier New"/>
              <a:buChar char="o"/>
            </a:pPr>
            <a:r>
              <a:rPr lang="en-US" sz="2800" dirty="0"/>
              <a:t>                                                        </a:t>
            </a:r>
          </a:p>
          <a:p>
            <a:pPr marL="457200" indent="-457200">
              <a:buFont typeface="Arial"/>
              <a:buChar char="•"/>
            </a:pPr>
            <a:endParaRPr lang="en-US" sz="2800"/>
          </a:p>
          <a:p>
            <a:pPr algn="ctr"/>
            <a:endParaRPr lang="it-IT"/>
          </a:p>
        </p:txBody>
      </p:sp>
      <p:pic>
        <p:nvPicPr>
          <p:cNvPr id="7" name="Immagine 6" descr="Immagine che contiene testo, Carattere, schermat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AF9F7BFC-5107-8705-E910-029B94A3A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28" y="4946058"/>
            <a:ext cx="11498705" cy="17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29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D6BA8-4919-9E24-F242-4553F410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DF2682-64BE-F2F7-95A4-B2205BA4B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027961-604C-36AC-7FBE-2077CAF59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1E406DD1-9247-00D6-D5A4-AF0E1F894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CA9F6B-5BFF-3873-E2CB-5F18BD60C783}"/>
              </a:ext>
            </a:extLst>
          </p:cNvPr>
          <p:cNvSpPr txBox="1"/>
          <p:nvPr/>
        </p:nvSpPr>
        <p:spPr>
          <a:xfrm>
            <a:off x="525904" y="2518898"/>
            <a:ext cx="11492456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A Prolog program is made by facts and rules: </a:t>
            </a:r>
            <a:endParaRPr lang="it-IT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Rule consist of a head and a body written as implications</a:t>
            </a:r>
            <a:r>
              <a:rPr lang="en-US" sz="2800" dirty="0">
                <a:ea typeface="+mn-lt"/>
                <a:cs typeface="+mn-lt"/>
              </a:rPr>
              <a:t>      </a:t>
            </a:r>
            <a:endParaRPr lang="en-US">
              <a:ea typeface="+mn-lt"/>
              <a:cs typeface="+mn-lt"/>
            </a:endParaRPr>
          </a:p>
          <a:p>
            <a:pPr lvl="8"/>
            <a:r>
              <a:rPr lang="en-US" sz="2800" dirty="0">
                <a:ea typeface="+mn-lt"/>
                <a:cs typeface="+mn-lt"/>
              </a:rPr>
              <a:t>        </a:t>
            </a:r>
            <a:r>
              <a:rPr lang="en-US" sz="2800" i="1">
                <a:ea typeface="+mn-lt"/>
                <a:cs typeface="+mn-lt"/>
              </a:rPr>
              <a:t>head :- body</a:t>
            </a:r>
            <a:endParaRPr lang="en-US" i="1"/>
          </a:p>
          <a:p>
            <a:pPr marL="1371600" lvl="2" indent="-457200">
              <a:buFont typeface="Wingdings,sans-serif"/>
              <a:buChar char="§"/>
            </a:pPr>
            <a:r>
              <a:rPr lang="en-US" sz="2800">
                <a:ea typeface="+mn-lt"/>
                <a:cs typeface="+mn-lt"/>
              </a:rPr>
              <a:t>The body implies the head.</a:t>
            </a:r>
            <a:endParaRPr lang="it-IT" sz="2800">
              <a:ea typeface="+mn-lt"/>
              <a:cs typeface="+mn-lt"/>
            </a:endParaRPr>
          </a:p>
          <a:p>
            <a:pPr marL="1371600" lvl="2" indent="-457200">
              <a:buFont typeface="Wingdings"/>
              <a:buChar char="§"/>
            </a:pPr>
            <a:r>
              <a:rPr lang="en-US" sz="2800">
                <a:ea typeface="+mn-lt"/>
                <a:cs typeface="+mn-lt"/>
              </a:rPr>
              <a:t>The body of a rule is a sequence of compound terms separated by a comma "," (AND) or a semicolon ;" (OR).</a:t>
            </a:r>
            <a:endParaRPr lang="it-IT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Facts are rules without body.</a:t>
            </a:r>
          </a:p>
          <a:p>
            <a:pPr lvl="1"/>
            <a:endParaRPr lang="en-US" sz="2800">
              <a:ea typeface="+mn-lt"/>
              <a:cs typeface="+mn-lt"/>
            </a:endParaRPr>
          </a:p>
          <a:p>
            <a:pPr lvl="1"/>
            <a:r>
              <a:rPr lang="en-US" sz="2800">
                <a:ea typeface="+mn-lt"/>
                <a:cs typeface="+mn-lt"/>
              </a:rPr>
              <a:t>   </a:t>
            </a:r>
            <a:endParaRPr lang="en-US" sz="2800"/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117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4F075-207E-2A00-8DAD-60CA2FC6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DD6E306-E143-F08C-487C-22F748125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028F359-B695-1CA0-0D59-6B4F93199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1A08CDE-FFB1-9971-5E4B-AD13EE3F3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F9F55AC-0B4E-2643-AEF8-C45229610821}"/>
              </a:ext>
            </a:extLst>
          </p:cNvPr>
          <p:cNvSpPr txBox="1"/>
          <p:nvPr/>
        </p:nvSpPr>
        <p:spPr>
          <a:xfrm>
            <a:off x="840000" y="2577000"/>
            <a:ext cx="1043400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/>
              <a:t>father_child</a:t>
            </a:r>
            <a:r>
              <a:rPr lang="en-US" sz="2800" dirty="0"/>
              <a:t>(mike, tom).  </a:t>
            </a:r>
            <a:endParaRPr lang="it-IT" dirty="0"/>
          </a:p>
          <a:p>
            <a:r>
              <a:rPr lang="en-US" sz="2800" err="1"/>
              <a:t>father_child</a:t>
            </a:r>
            <a:r>
              <a:rPr lang="en-US" sz="2800" dirty="0"/>
              <a:t>(mike, anna). </a:t>
            </a:r>
            <a:endParaRPr lang="it-IT" dirty="0"/>
          </a:p>
          <a:p>
            <a:r>
              <a:rPr lang="en-US" sz="2800" dirty="0" err="1"/>
              <a:t>parent_child</a:t>
            </a:r>
            <a:r>
              <a:rPr lang="en-US" sz="2800" dirty="0"/>
              <a:t>(X, Y) :- </a:t>
            </a:r>
            <a:r>
              <a:rPr lang="en-US" sz="2800" dirty="0" err="1"/>
              <a:t>father_child</a:t>
            </a:r>
            <a:r>
              <a:rPr lang="en-US" sz="2800" dirty="0"/>
              <a:t>(X, Y). </a:t>
            </a:r>
          </a:p>
          <a:p>
            <a:r>
              <a:rPr lang="en-US" sz="2800" dirty="0"/>
              <a:t>sibling(X, Y) :- </a:t>
            </a:r>
            <a:r>
              <a:rPr lang="en-US" sz="2800" dirty="0" err="1"/>
              <a:t>parent_child</a:t>
            </a:r>
            <a:r>
              <a:rPr lang="en-US" sz="2800" dirty="0"/>
              <a:t>(Z, X), </a:t>
            </a:r>
            <a:r>
              <a:rPr lang="en-US" sz="2800" dirty="0" err="1"/>
              <a:t>parent_child</a:t>
            </a:r>
            <a:r>
              <a:rPr lang="en-US" sz="2800" dirty="0"/>
              <a:t>(Z, Y), X \= Y.</a:t>
            </a:r>
          </a:p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36AC420-AD4F-6B34-B810-4D0285BFC7F0}"/>
              </a:ext>
            </a:extLst>
          </p:cNvPr>
          <p:cNvSpPr txBox="1"/>
          <p:nvPr/>
        </p:nvSpPr>
        <p:spPr>
          <a:xfrm>
            <a:off x="861427" y="1941163"/>
            <a:ext cx="30532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3200" b="1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71359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F3F40-B833-DF07-DCE5-0959DD7F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570AB7A-7056-A9DC-13C1-EACAFBBEE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E9BDCC9-495E-3E3B-BDA1-A0631FE97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3AB3097-D2FA-9B80-7F69-0DED53133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F2A8F7C-19E9-0ED7-0E67-44AA812D91C6}"/>
              </a:ext>
            </a:extLst>
          </p:cNvPr>
          <p:cNvSpPr txBox="1"/>
          <p:nvPr/>
        </p:nvSpPr>
        <p:spPr>
          <a:xfrm>
            <a:off x="499673" y="2179821"/>
            <a:ext cx="1149245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Prolog uses "resolution" in order to answer queries:</a:t>
            </a:r>
            <a:endParaRPr lang="it-IT" dirty="0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it uses goals (queries);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at each step, Prolog selects a goal :</a:t>
            </a:r>
            <a:endParaRPr lang="en-US" sz="2800" dirty="0">
              <a:ea typeface="+mn-lt"/>
              <a:cs typeface="+mn-lt"/>
            </a:endParaRPr>
          </a:p>
          <a:p>
            <a:pPr marL="1371600" lvl="2" indent="-457200">
              <a:buFont typeface="Wingdings"/>
              <a:buChar char="§"/>
            </a:pPr>
            <a:r>
              <a:rPr lang="en-US" sz="2800">
                <a:ea typeface="+mn-lt"/>
                <a:cs typeface="+mn-lt"/>
              </a:rPr>
              <a:t>finds a matching rule using "unification",</a:t>
            </a:r>
          </a:p>
          <a:p>
            <a:pPr marL="1371600" lvl="2" indent="-457200">
              <a:buFont typeface="Wingdings"/>
              <a:buChar char="§"/>
            </a:pPr>
            <a:r>
              <a:rPr lang="en-US" sz="2800">
                <a:ea typeface="+mn-lt"/>
                <a:cs typeface="+mn-lt"/>
              </a:rPr>
              <a:t>replaces the goal </a:t>
            </a:r>
            <a:r>
              <a:rPr lang="en-US" sz="2800" dirty="0">
                <a:ea typeface="+mn-lt"/>
                <a:cs typeface="+mn-lt"/>
              </a:rPr>
              <a:t>with the rule’s body. </a:t>
            </a:r>
            <a:endParaRPr lang="en-US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This process continues </a:t>
            </a:r>
            <a:r>
              <a:rPr lang="en-US" sz="2800" dirty="0">
                <a:ea typeface="+mn-lt"/>
                <a:cs typeface="+mn-lt"/>
              </a:rPr>
              <a:t>until all goals are satisfied, resulting in </a:t>
            </a:r>
            <a:r>
              <a:rPr lang="en-US" sz="2800">
                <a:ea typeface="+mn-lt"/>
                <a:cs typeface="+mn-lt"/>
              </a:rPr>
              <a:t> </a:t>
            </a:r>
            <a:endParaRPr lang="en-US">
              <a:ea typeface="+mn-lt"/>
              <a:cs typeface="+mn-lt"/>
            </a:endParaRPr>
          </a:p>
          <a:p>
            <a:pPr marL="1371600" lvl="2" indent="-457200">
              <a:buFont typeface="Wingdings"/>
              <a:buChar char="§"/>
            </a:pPr>
            <a:r>
              <a:rPr lang="en-US" sz="2800">
                <a:ea typeface="+mn-lt"/>
                <a:cs typeface="+mn-lt"/>
              </a:rPr>
              <a:t>either s</a:t>
            </a:r>
            <a:r>
              <a:rPr lang="en-US" sz="2800" dirty="0">
                <a:ea typeface="+mn-lt"/>
                <a:cs typeface="+mn-lt"/>
              </a:rPr>
              <a:t>uccess (the empty goal), </a:t>
            </a:r>
            <a:endParaRPr lang="en-US">
              <a:ea typeface="+mn-lt"/>
              <a:cs typeface="+mn-lt"/>
            </a:endParaRPr>
          </a:p>
          <a:p>
            <a:pPr marL="1371600" lvl="2" indent="-457200">
              <a:buFont typeface="Wingdings"/>
              <a:buChar char="§"/>
            </a:pPr>
            <a:r>
              <a:rPr lang="en-US" sz="2800">
                <a:ea typeface="+mn-lt"/>
                <a:cs typeface="+mn-lt"/>
              </a:rPr>
              <a:t>or failure (no matching rule or fact can be found)</a:t>
            </a:r>
            <a:endParaRPr lang="en-US"/>
          </a:p>
          <a:p>
            <a:pPr marL="914400" lvl="1" indent="-457200">
              <a:buFont typeface="Courier New"/>
              <a:buChar char="o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983063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C4F05-5587-6F6D-450B-28B9D4B2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99F6DDF-0624-41CE-25A9-D7A9B568E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970C7B-B45A-FF84-C2DE-B8522F2BE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B85BE5D-CE11-A996-38A4-989232247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A2F6FF3-61AA-C13F-AB7A-5CFF0DA4532E}"/>
              </a:ext>
            </a:extLst>
          </p:cNvPr>
          <p:cNvSpPr txBox="1"/>
          <p:nvPr/>
        </p:nvSpPr>
        <p:spPr>
          <a:xfrm>
            <a:off x="840000" y="2577000"/>
            <a:ext cx="1043400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/>
              <a:t>father_child</a:t>
            </a:r>
            <a:r>
              <a:rPr lang="en-US" sz="2800" dirty="0"/>
              <a:t>(mike, tom). </a:t>
            </a:r>
            <a:endParaRPr lang="it-IT" sz="2800"/>
          </a:p>
          <a:p>
            <a:r>
              <a:rPr lang="en-US" sz="2800" dirty="0" err="1"/>
              <a:t>father_child</a:t>
            </a:r>
            <a:r>
              <a:rPr lang="en-US" sz="2800" dirty="0"/>
              <a:t>(mike, anna). </a:t>
            </a:r>
          </a:p>
          <a:p>
            <a:r>
              <a:rPr lang="en-US" sz="2800" dirty="0" err="1"/>
              <a:t>parent_child</a:t>
            </a:r>
            <a:r>
              <a:rPr lang="en-US" sz="2800" dirty="0"/>
              <a:t>(X, Y) :- </a:t>
            </a:r>
            <a:r>
              <a:rPr lang="en-US" sz="2800" dirty="0" err="1"/>
              <a:t>father_child</a:t>
            </a:r>
            <a:r>
              <a:rPr lang="en-US" sz="2800" dirty="0"/>
              <a:t>(X, Y). </a:t>
            </a:r>
          </a:p>
          <a:p>
            <a:r>
              <a:rPr lang="en-US" sz="2800" dirty="0"/>
              <a:t>sibling(X, Y) :- </a:t>
            </a:r>
            <a:r>
              <a:rPr lang="en-US" sz="2800" dirty="0" err="1"/>
              <a:t>parent_child</a:t>
            </a:r>
            <a:r>
              <a:rPr lang="en-US" sz="2800" dirty="0"/>
              <a:t>(Z, X), </a:t>
            </a:r>
            <a:r>
              <a:rPr lang="en-US" sz="2800" dirty="0" err="1"/>
              <a:t>parent_child</a:t>
            </a:r>
            <a:r>
              <a:rPr lang="en-US" sz="2800" dirty="0"/>
              <a:t>(Z, Y), X \= Y.</a:t>
            </a:r>
          </a:p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50B2182-ED2D-CAA4-3BE7-8C951CE98B1E}"/>
              </a:ext>
            </a:extLst>
          </p:cNvPr>
          <p:cNvSpPr txBox="1"/>
          <p:nvPr/>
        </p:nvSpPr>
        <p:spPr>
          <a:xfrm>
            <a:off x="861427" y="1941163"/>
            <a:ext cx="30532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3200" b="1"/>
              <a:t>Example: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60BFA5A-8A5D-09C9-85B2-279D0DBFF30B}"/>
              </a:ext>
            </a:extLst>
          </p:cNvPr>
          <p:cNvSpPr txBox="1"/>
          <p:nvPr/>
        </p:nvSpPr>
        <p:spPr>
          <a:xfrm>
            <a:off x="861427" y="4509163"/>
            <a:ext cx="30532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3200" b="1"/>
              <a:t>Query: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73E58C5-39B8-44D6-AE8C-9BDA866B525C}"/>
              </a:ext>
            </a:extLst>
          </p:cNvPr>
          <p:cNvSpPr txBox="1"/>
          <p:nvPr/>
        </p:nvSpPr>
        <p:spPr>
          <a:xfrm>
            <a:off x="864000" y="5229000"/>
            <a:ext cx="5058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?- sibling(tom, anna).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014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A541B-D2BC-DEF0-1A1E-4ABA0DB51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4D8AD7-D764-E3A3-ADFB-D830BDB0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1CECAC8-13F0-E1EE-D953-C6754F26D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92BB540-9B44-EB48-7740-097FC9D68809}"/>
              </a:ext>
            </a:extLst>
          </p:cNvPr>
          <p:cNvSpPr txBox="1"/>
          <p:nvPr/>
        </p:nvSpPr>
        <p:spPr>
          <a:xfrm>
            <a:off x="648000" y="2307000"/>
            <a:ext cx="3816000" cy="1685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ea typeface="+mn-lt"/>
                <a:cs typeface="+mn-lt"/>
              </a:rPr>
              <a:t>parent_child</a:t>
            </a:r>
            <a:r>
              <a:rPr lang="en-US" sz="2800" dirty="0">
                <a:ea typeface="+mn-lt"/>
                <a:cs typeface="+mn-lt"/>
              </a:rPr>
              <a:t>(Z, tom),</a:t>
            </a:r>
            <a:endParaRPr lang="it-IT" dirty="0">
              <a:ea typeface="+mn-lt"/>
              <a:cs typeface="+mn-lt"/>
            </a:endParaRPr>
          </a:p>
          <a:p>
            <a:r>
              <a:rPr lang="en-US" sz="2800" dirty="0" err="1">
                <a:ea typeface="+mn-lt"/>
                <a:cs typeface="+mn-lt"/>
              </a:rPr>
              <a:t>parent_child</a:t>
            </a:r>
            <a:r>
              <a:rPr lang="en-US" sz="2800" dirty="0">
                <a:ea typeface="+mn-lt"/>
                <a:cs typeface="+mn-lt"/>
              </a:rPr>
              <a:t>(Z, anna),</a:t>
            </a:r>
            <a:endParaRPr lang="en-US" dirty="0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tom \= anna.</a:t>
            </a:r>
            <a:endParaRPr lang="en-US">
              <a:ea typeface="+mn-lt"/>
              <a:cs typeface="+mn-lt"/>
            </a:endParaRPr>
          </a:p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628720E-109D-BAEE-7A2F-5EF35036D5F1}"/>
              </a:ext>
            </a:extLst>
          </p:cNvPr>
          <p:cNvSpPr txBox="1"/>
          <p:nvPr/>
        </p:nvSpPr>
        <p:spPr>
          <a:xfrm>
            <a:off x="645427" y="1821163"/>
            <a:ext cx="30532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b="1"/>
              <a:t>Step 1: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8957E2-7FB4-2B86-7EB2-0C7ED7A94F21}"/>
              </a:ext>
            </a:extLst>
          </p:cNvPr>
          <p:cNvSpPr txBox="1"/>
          <p:nvPr/>
        </p:nvSpPr>
        <p:spPr>
          <a:xfrm>
            <a:off x="5561999" y="2511000"/>
            <a:ext cx="7200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sibling(X, Y)</a:t>
            </a:r>
            <a:r>
              <a:rPr lang="en-US" sz="2000">
                <a:ea typeface="+mn-lt"/>
                <a:cs typeface="+mn-lt"/>
              </a:rPr>
              <a:t>  matches  with </a:t>
            </a:r>
            <a:r>
              <a:rPr lang="en-US" sz="2000" dirty="0">
                <a:ea typeface="+mn-lt"/>
                <a:cs typeface="+mn-lt"/>
              </a:rPr>
              <a:t>sibling(tom, anna)</a:t>
            </a:r>
            <a:endParaRPr lang="it-IT" sz="20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X=tom, Y= anna</a:t>
            </a:r>
            <a:endParaRPr lang="en-US" sz="2000" dirty="0">
              <a:ea typeface="+mn-lt"/>
              <a:cs typeface="+mn-lt"/>
            </a:endParaRPr>
          </a:p>
          <a:p>
            <a:pPr algn="ctr"/>
            <a:endParaRPr lang="it-IT"/>
          </a:p>
        </p:txBody>
      </p:sp>
      <p:sp>
        <p:nvSpPr>
          <p:cNvPr id="11" name="CasellaDiTesto 8">
            <a:extLst>
              <a:ext uri="{FF2B5EF4-FFF2-40B4-BE49-F238E27FC236}">
                <a16:creationId xmlns:a16="http://schemas.microsoft.com/office/drawing/2014/main" id="{A331A24D-2D26-C799-F96D-6D404CA60364}"/>
              </a:ext>
            </a:extLst>
          </p:cNvPr>
          <p:cNvSpPr txBox="1"/>
          <p:nvPr/>
        </p:nvSpPr>
        <p:spPr>
          <a:xfrm>
            <a:off x="5562000" y="2007000"/>
            <a:ext cx="5058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?- sibling(tom, anna).</a:t>
            </a:r>
          </a:p>
          <a:p>
            <a:pPr algn="ctr"/>
            <a:endParaRPr lang="it-IT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D53B27-DC17-784F-654C-FE27F13DF870}"/>
              </a:ext>
            </a:extLst>
          </p:cNvPr>
          <p:cNvGrpSpPr/>
          <p:nvPr/>
        </p:nvGrpSpPr>
        <p:grpSpPr>
          <a:xfrm>
            <a:off x="641827" y="3869563"/>
            <a:ext cx="10692173" cy="3170760"/>
            <a:chOff x="641827" y="3869563"/>
            <a:chExt cx="10692173" cy="3170760"/>
          </a:xfrm>
        </p:grpSpPr>
        <p:sp>
          <p:nvSpPr>
            <p:cNvPr id="9" name="CasellaDiTesto 6">
              <a:extLst>
                <a:ext uri="{FF2B5EF4-FFF2-40B4-BE49-F238E27FC236}">
                  <a16:creationId xmlns:a16="http://schemas.microsoft.com/office/drawing/2014/main" id="{FF11A5E4-5C6F-8B01-566C-E6DC8D7B2280}"/>
                </a:ext>
              </a:extLst>
            </p:cNvPr>
            <p:cNvSpPr txBox="1"/>
            <p:nvPr/>
          </p:nvSpPr>
          <p:spPr>
            <a:xfrm>
              <a:off x="641827" y="3869563"/>
              <a:ext cx="3053236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it-IT" sz="3200" b="1"/>
                <a:t>Example:</a:t>
              </a:r>
            </a:p>
          </p:txBody>
        </p:sp>
        <p:sp>
          <p:nvSpPr>
            <p:cNvPr id="12" name="CasellaDiTesto 3">
              <a:extLst>
                <a:ext uri="{FF2B5EF4-FFF2-40B4-BE49-F238E27FC236}">
                  <a16:creationId xmlns:a16="http://schemas.microsoft.com/office/drawing/2014/main" id="{E8AE5BEA-7695-770E-E4FA-195EC7AFF298}"/>
                </a:ext>
              </a:extLst>
            </p:cNvPr>
            <p:cNvSpPr txBox="1"/>
            <p:nvPr/>
          </p:nvSpPr>
          <p:spPr>
            <a:xfrm>
              <a:off x="672000" y="4455000"/>
              <a:ext cx="10662000" cy="2585323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 err="1"/>
                <a:t>father_child</a:t>
              </a:r>
              <a:r>
                <a:rPr lang="en-US" sz="2400" dirty="0"/>
                <a:t>(mike, tom). </a:t>
              </a:r>
              <a:endParaRPr lang="it-IT" sz="2400"/>
            </a:p>
            <a:p>
              <a:r>
                <a:rPr lang="en-US" sz="2400" dirty="0" err="1"/>
                <a:t>father_child</a:t>
              </a:r>
              <a:r>
                <a:rPr lang="en-US" sz="2400" dirty="0"/>
                <a:t>(mike, anna). 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(X, Y) :- </a:t>
              </a:r>
              <a:r>
                <a:rPr lang="en-US" sz="2400" dirty="0" err="1"/>
                <a:t>father_child</a:t>
              </a:r>
              <a:r>
                <a:rPr lang="en-US" sz="2400" dirty="0"/>
                <a:t>(X, Y). 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(Z, tom).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(Z, anna).</a:t>
              </a:r>
            </a:p>
            <a:p>
              <a:r>
                <a:rPr lang="en-US" sz="2400"/>
                <a:t>tom \= anna.</a:t>
              </a:r>
            </a:p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058559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02356-0881-47E0-8FA9-CD32972B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51A225-2BE2-15AB-2091-0013548C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0719327-A8FA-8391-8A2F-72E3E8A1D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45501BD-0C80-CB5F-6D6A-EE26EBE714F7}"/>
              </a:ext>
            </a:extLst>
          </p:cNvPr>
          <p:cNvSpPr txBox="1"/>
          <p:nvPr/>
        </p:nvSpPr>
        <p:spPr>
          <a:xfrm>
            <a:off x="837427" y="1881163"/>
            <a:ext cx="30532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b="1"/>
              <a:t>Step 2: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53C6E7-CA59-A787-194E-90F817E3C9CA}"/>
              </a:ext>
            </a:extLst>
          </p:cNvPr>
          <p:cNvSpPr txBox="1"/>
          <p:nvPr/>
        </p:nvSpPr>
        <p:spPr>
          <a:xfrm>
            <a:off x="2664000" y="1989000"/>
            <a:ext cx="9144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ptos"/>
              </a:rPr>
              <a:t>We prove that  ?-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</a:rPr>
              <a:t>(Z, tom), 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   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</a:rPr>
              <a:t>(Z, anna),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2000" dirty="0"/>
              <a:t>  tom/anna.</a:t>
            </a:r>
          </a:p>
          <a:p>
            <a:r>
              <a:rPr lang="en-US" sz="2000" dirty="0">
                <a:solidFill>
                  <a:srgbClr val="000000"/>
                </a:solidFill>
                <a:latin typeface="Aptos"/>
              </a:rPr>
              <a:t>To prove 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(Z, tom)  we use 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(X, Y) :- 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father_child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(X, Y).</a:t>
            </a:r>
          </a:p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E5F5A1-4BEC-AE51-7A87-49B242EEF7ED}"/>
              </a:ext>
            </a:extLst>
          </p:cNvPr>
          <p:cNvGrpSpPr/>
          <p:nvPr/>
        </p:nvGrpSpPr>
        <p:grpSpPr>
          <a:xfrm>
            <a:off x="839827" y="3227563"/>
            <a:ext cx="10680173" cy="3032760"/>
            <a:chOff x="641827" y="3869563"/>
            <a:chExt cx="10680173" cy="3032760"/>
          </a:xfrm>
        </p:grpSpPr>
        <p:sp>
          <p:nvSpPr>
            <p:cNvPr id="23" name="CasellaDiTesto 6">
              <a:extLst>
                <a:ext uri="{FF2B5EF4-FFF2-40B4-BE49-F238E27FC236}">
                  <a16:creationId xmlns:a16="http://schemas.microsoft.com/office/drawing/2014/main" id="{60A338A1-7CF2-D599-7420-B3ABF7BA360F}"/>
                </a:ext>
              </a:extLst>
            </p:cNvPr>
            <p:cNvSpPr txBox="1"/>
            <p:nvPr/>
          </p:nvSpPr>
          <p:spPr>
            <a:xfrm>
              <a:off x="641827" y="3869563"/>
              <a:ext cx="305323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it-IT" sz="2400" b="1"/>
                <a:t>Example:</a:t>
              </a:r>
            </a:p>
          </p:txBody>
        </p:sp>
        <p:sp>
          <p:nvSpPr>
            <p:cNvPr id="25" name="CasellaDiTesto 3">
              <a:extLst>
                <a:ext uri="{FF2B5EF4-FFF2-40B4-BE49-F238E27FC236}">
                  <a16:creationId xmlns:a16="http://schemas.microsoft.com/office/drawing/2014/main" id="{B1C2310E-6972-57BD-CA03-29E0D4F8A8DB}"/>
                </a:ext>
              </a:extLst>
            </p:cNvPr>
            <p:cNvSpPr txBox="1"/>
            <p:nvPr/>
          </p:nvSpPr>
          <p:spPr>
            <a:xfrm>
              <a:off x="660000" y="4317000"/>
              <a:ext cx="10662000" cy="2585323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 err="1"/>
                <a:t>father_child</a:t>
              </a:r>
              <a:r>
                <a:rPr lang="en-US" sz="2400" dirty="0"/>
                <a:t>(mike, tom). </a:t>
              </a:r>
              <a:endParaRPr lang="it-IT" sz="2400"/>
            </a:p>
            <a:p>
              <a:r>
                <a:rPr lang="en-US" sz="2400" dirty="0" err="1"/>
                <a:t>father_child</a:t>
              </a:r>
              <a:r>
                <a:rPr lang="en-US" sz="2400" dirty="0"/>
                <a:t>(mike, anna). 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(X, Y) :- </a:t>
              </a:r>
              <a:r>
                <a:rPr lang="en-US" sz="2400" dirty="0" err="1"/>
                <a:t>father_child</a:t>
              </a:r>
              <a:r>
                <a:rPr lang="en-US" sz="2400" dirty="0"/>
                <a:t>(X, Y). 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(Z, tom).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(Z, anna).</a:t>
              </a:r>
              <a:endParaRPr lang="en-US" dirty="0"/>
            </a:p>
            <a:p>
              <a:r>
                <a:rPr lang="en-US" sz="2400"/>
                <a:t>tom \= anna.</a:t>
              </a:r>
              <a:endParaRPr lang="en-US"/>
            </a:p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639379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691E2-4BAD-95F7-3472-A9A95874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075BC8-F444-80B9-6B4B-155C35BC4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9CB7EFA-314F-40B0-165C-64FC39744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C17CBF5-80EB-30A4-AE48-272F6F9FA753}"/>
              </a:ext>
            </a:extLst>
          </p:cNvPr>
          <p:cNvSpPr txBox="1"/>
          <p:nvPr/>
        </p:nvSpPr>
        <p:spPr>
          <a:xfrm>
            <a:off x="837427" y="1881163"/>
            <a:ext cx="30532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b="1"/>
              <a:t>Step 2: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F3CDBD-990E-40CA-7873-8607AFB38124}"/>
              </a:ext>
            </a:extLst>
          </p:cNvPr>
          <p:cNvSpPr txBox="1"/>
          <p:nvPr/>
        </p:nvSpPr>
        <p:spPr>
          <a:xfrm>
            <a:off x="2664000" y="1989000"/>
            <a:ext cx="91440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ptos"/>
              </a:rPr>
              <a:t>We prove that  ?-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(Z, tom),    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(Z, anna), </a:t>
            </a:r>
            <a:r>
              <a:rPr lang="en-US" sz="2000" dirty="0">
                <a:latin typeface="Aptos"/>
              </a:rPr>
              <a:t>  tom/anna.</a:t>
            </a:r>
            <a:endParaRPr lang="en-US"/>
          </a:p>
          <a:p>
            <a:r>
              <a:rPr lang="en-US" sz="2000" dirty="0">
                <a:solidFill>
                  <a:srgbClr val="000000"/>
                </a:solidFill>
                <a:latin typeface="Aptos"/>
              </a:rPr>
              <a:t>To prove 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(Z, tom)  we use 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(X, Y) :- 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father_child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(X, Y).</a:t>
            </a:r>
            <a:endParaRPr lang="en-US"/>
          </a:p>
          <a:p>
            <a:r>
              <a:rPr lang="en-US" sz="2000"/>
              <a:t>Now Z = Mike</a:t>
            </a:r>
            <a:endParaRPr lang="en-US" sz="2000" dirty="0"/>
          </a:p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9AAC2C-8E4B-827E-C758-3BFD1A94195A}"/>
              </a:ext>
            </a:extLst>
          </p:cNvPr>
          <p:cNvGrpSpPr/>
          <p:nvPr/>
        </p:nvGrpSpPr>
        <p:grpSpPr>
          <a:xfrm>
            <a:off x="839827" y="3431563"/>
            <a:ext cx="10680173" cy="3074760"/>
            <a:chOff x="641827" y="3869563"/>
            <a:chExt cx="10680173" cy="3074760"/>
          </a:xfrm>
        </p:grpSpPr>
        <p:sp>
          <p:nvSpPr>
            <p:cNvPr id="23" name="CasellaDiTesto 6">
              <a:extLst>
                <a:ext uri="{FF2B5EF4-FFF2-40B4-BE49-F238E27FC236}">
                  <a16:creationId xmlns:a16="http://schemas.microsoft.com/office/drawing/2014/main" id="{A10D108D-76AE-EE05-5A61-ABD5523BF725}"/>
                </a:ext>
              </a:extLst>
            </p:cNvPr>
            <p:cNvSpPr txBox="1"/>
            <p:nvPr/>
          </p:nvSpPr>
          <p:spPr>
            <a:xfrm>
              <a:off x="641827" y="3869563"/>
              <a:ext cx="305323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it-IT" sz="2400" b="1"/>
                <a:t>Example:</a:t>
              </a:r>
            </a:p>
          </p:txBody>
        </p:sp>
        <p:sp>
          <p:nvSpPr>
            <p:cNvPr id="25" name="CasellaDiTesto 3">
              <a:extLst>
                <a:ext uri="{FF2B5EF4-FFF2-40B4-BE49-F238E27FC236}">
                  <a16:creationId xmlns:a16="http://schemas.microsoft.com/office/drawing/2014/main" id="{F1F8DD21-19FC-06AA-5786-AD29EC0589A3}"/>
                </a:ext>
              </a:extLst>
            </p:cNvPr>
            <p:cNvSpPr txBox="1"/>
            <p:nvPr/>
          </p:nvSpPr>
          <p:spPr>
            <a:xfrm>
              <a:off x="660000" y="4359000"/>
              <a:ext cx="10662000" cy="2585323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 err="1"/>
                <a:t>father_child</a:t>
              </a:r>
              <a:r>
                <a:rPr lang="en-US" sz="2400" dirty="0"/>
                <a:t>(mike, tom). </a:t>
              </a:r>
              <a:endParaRPr lang="it-IT" sz="2400"/>
            </a:p>
            <a:p>
              <a:r>
                <a:rPr lang="en-US" sz="2400" dirty="0" err="1"/>
                <a:t>father_child</a:t>
              </a:r>
              <a:r>
                <a:rPr lang="en-US" sz="2400" dirty="0"/>
                <a:t>(mike, anna). 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(Z, tom) :- </a:t>
              </a:r>
              <a:r>
                <a:rPr lang="en-US" sz="2400" dirty="0" err="1"/>
                <a:t>father_child</a:t>
              </a:r>
              <a:r>
                <a:rPr lang="en-US" sz="2400" dirty="0"/>
                <a:t>(Z, tom). 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(Z, tom).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(Z, anna).</a:t>
              </a:r>
              <a:endParaRPr lang="en-US" dirty="0"/>
            </a:p>
            <a:p>
              <a:r>
                <a:rPr lang="en-US" sz="2400"/>
                <a:t>tom \= anna.</a:t>
              </a:r>
              <a:endParaRPr lang="en-US"/>
            </a:p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482413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00C91-AC96-E207-F901-5EB290D3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639AF2-26C9-F022-681D-353AE346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54BA1DF-F2D5-DA6C-047D-3CB34F4A5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B3AC895-CD39-DA2F-C2AD-080FEB1C3F12}"/>
              </a:ext>
            </a:extLst>
          </p:cNvPr>
          <p:cNvSpPr txBox="1"/>
          <p:nvPr/>
        </p:nvSpPr>
        <p:spPr>
          <a:xfrm>
            <a:off x="837427" y="1881163"/>
            <a:ext cx="30532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b="1"/>
              <a:t>Step 2: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B8B4E-FDCF-DF03-4844-3AAC63C54ED0}"/>
              </a:ext>
            </a:extLst>
          </p:cNvPr>
          <p:cNvSpPr txBox="1"/>
          <p:nvPr/>
        </p:nvSpPr>
        <p:spPr>
          <a:xfrm>
            <a:off x="2664000" y="1989000"/>
            <a:ext cx="91440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ptos"/>
              </a:rPr>
              <a:t>We prove that  ?-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(Z, tom),    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(Z, anna), </a:t>
            </a:r>
            <a:r>
              <a:rPr lang="en-US" sz="2000" dirty="0">
                <a:latin typeface="Aptos"/>
              </a:rPr>
              <a:t>  tom/anna.</a:t>
            </a:r>
            <a:endParaRPr lang="en-US"/>
          </a:p>
          <a:p>
            <a:r>
              <a:rPr lang="en-US" sz="2000" dirty="0">
                <a:solidFill>
                  <a:srgbClr val="000000"/>
                </a:solidFill>
                <a:latin typeface="Aptos"/>
              </a:rPr>
              <a:t>To prove 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(Z, tom)  we use 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parent_child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(X, Y) :- </a:t>
            </a:r>
            <a:r>
              <a:rPr lang="en-US" sz="2000" dirty="0" err="1">
                <a:solidFill>
                  <a:srgbClr val="000000"/>
                </a:solidFill>
                <a:latin typeface="Aptos"/>
              </a:rPr>
              <a:t>father_child</a:t>
            </a:r>
            <a:r>
              <a:rPr lang="en-US" sz="2000" dirty="0">
                <a:solidFill>
                  <a:srgbClr val="000000"/>
                </a:solidFill>
                <a:latin typeface="Aptos"/>
              </a:rPr>
              <a:t>(X, Y).</a:t>
            </a:r>
            <a:endParaRPr lang="en-US"/>
          </a:p>
          <a:p>
            <a:r>
              <a:rPr lang="en-US" sz="2000"/>
              <a:t>Now Z = Mike</a:t>
            </a:r>
            <a:endParaRPr lang="en-US" sz="2000" dirty="0"/>
          </a:p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9C5AA11-0D6A-29EC-BBA0-7F88B554EE56}"/>
              </a:ext>
            </a:extLst>
          </p:cNvPr>
          <p:cNvGrpSpPr/>
          <p:nvPr/>
        </p:nvGrpSpPr>
        <p:grpSpPr>
          <a:xfrm>
            <a:off x="839827" y="3431563"/>
            <a:ext cx="10680173" cy="3074760"/>
            <a:chOff x="641827" y="3869563"/>
            <a:chExt cx="10680173" cy="3074760"/>
          </a:xfrm>
        </p:grpSpPr>
        <p:sp>
          <p:nvSpPr>
            <p:cNvPr id="23" name="CasellaDiTesto 6">
              <a:extLst>
                <a:ext uri="{FF2B5EF4-FFF2-40B4-BE49-F238E27FC236}">
                  <a16:creationId xmlns:a16="http://schemas.microsoft.com/office/drawing/2014/main" id="{CBD21FF9-2451-64A0-05AE-4F31548E2BD7}"/>
                </a:ext>
              </a:extLst>
            </p:cNvPr>
            <p:cNvSpPr txBox="1"/>
            <p:nvPr/>
          </p:nvSpPr>
          <p:spPr>
            <a:xfrm>
              <a:off x="641827" y="3869563"/>
              <a:ext cx="305323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it-IT" sz="2400" b="1"/>
                <a:t>Example:</a:t>
              </a:r>
            </a:p>
          </p:txBody>
        </p:sp>
        <p:sp>
          <p:nvSpPr>
            <p:cNvPr id="25" name="CasellaDiTesto 3">
              <a:extLst>
                <a:ext uri="{FF2B5EF4-FFF2-40B4-BE49-F238E27FC236}">
                  <a16:creationId xmlns:a16="http://schemas.microsoft.com/office/drawing/2014/main" id="{E406995B-138E-AA32-E3FD-08AA99B58C5D}"/>
                </a:ext>
              </a:extLst>
            </p:cNvPr>
            <p:cNvSpPr txBox="1"/>
            <p:nvPr/>
          </p:nvSpPr>
          <p:spPr>
            <a:xfrm>
              <a:off x="660000" y="4359000"/>
              <a:ext cx="10662000" cy="2585323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 err="1"/>
                <a:t>father_child</a:t>
              </a:r>
              <a:r>
                <a:rPr lang="en-US" sz="2400" dirty="0"/>
                <a:t>(mike, tom). </a:t>
              </a:r>
              <a:endParaRPr lang="it-IT" sz="2400"/>
            </a:p>
            <a:p>
              <a:r>
                <a:rPr lang="en-US" sz="2400" dirty="0" err="1"/>
                <a:t>father_child</a:t>
              </a:r>
              <a:r>
                <a:rPr lang="en-US" sz="2400" dirty="0"/>
                <a:t>(mike, anna). </a:t>
              </a:r>
            </a:p>
            <a:p>
              <a:r>
                <a:rPr lang="en-US" sz="2400" dirty="0" err="1"/>
                <a:t>father_child</a:t>
              </a:r>
              <a:r>
                <a:rPr lang="en-US" sz="2400" dirty="0"/>
                <a:t>(mike, tom). 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(mike, tom).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(mike, anna).</a:t>
              </a:r>
              <a:endParaRPr lang="en-US" dirty="0"/>
            </a:p>
            <a:p>
              <a:r>
                <a:rPr lang="en-US" sz="2400"/>
                <a:t>tom \= anna.</a:t>
              </a:r>
              <a:endParaRPr lang="en-US"/>
            </a:p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468260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2CF61-E7E9-2048-4C06-490A2F426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DD8963-1F9E-99E6-B325-3DD786D4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Reasoning with Knowledge: Logic Programming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79A98C7-2DC0-D524-B73D-045F1CCBF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19DD262-6B8D-B947-B082-878072A8CF41}"/>
              </a:ext>
            </a:extLst>
          </p:cNvPr>
          <p:cNvSpPr txBox="1"/>
          <p:nvPr/>
        </p:nvSpPr>
        <p:spPr>
          <a:xfrm>
            <a:off x="837427" y="1881163"/>
            <a:ext cx="30532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b="1"/>
              <a:t>Step 3: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076A6-96E6-2017-AA5A-B6F40AD9DAB6}"/>
              </a:ext>
            </a:extLst>
          </p:cNvPr>
          <p:cNvSpPr txBox="1"/>
          <p:nvPr/>
        </p:nvSpPr>
        <p:spPr>
          <a:xfrm>
            <a:off x="2664000" y="1989000"/>
            <a:ext cx="9144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ptos"/>
              </a:rPr>
              <a:t>We prove that  parent_child</a:t>
            </a:r>
            <a:r>
              <a:rPr lang="en-US" sz="2000">
                <a:solidFill>
                  <a:srgbClr val="000000"/>
                </a:solidFill>
                <a:latin typeface="Aptos"/>
              </a:rPr>
              <a:t>(mike, anna) and </a:t>
            </a:r>
            <a:r>
              <a:rPr lang="en-US" sz="2000">
                <a:latin typeface="Aptos"/>
              </a:rPr>
              <a:t>tom/anna. Already in KB.</a:t>
            </a:r>
            <a:endParaRPr lang="en-US"/>
          </a:p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331F6F-5357-FB33-327D-29533116C52B}"/>
              </a:ext>
            </a:extLst>
          </p:cNvPr>
          <p:cNvGrpSpPr/>
          <p:nvPr/>
        </p:nvGrpSpPr>
        <p:grpSpPr>
          <a:xfrm>
            <a:off x="839827" y="3431563"/>
            <a:ext cx="10680173" cy="3444092"/>
            <a:chOff x="641827" y="3869563"/>
            <a:chExt cx="10680173" cy="3444092"/>
          </a:xfrm>
        </p:grpSpPr>
        <p:sp>
          <p:nvSpPr>
            <p:cNvPr id="23" name="CasellaDiTesto 6">
              <a:extLst>
                <a:ext uri="{FF2B5EF4-FFF2-40B4-BE49-F238E27FC236}">
                  <a16:creationId xmlns:a16="http://schemas.microsoft.com/office/drawing/2014/main" id="{5F4D1651-62B9-748C-7EA4-B2AC25D988D7}"/>
                </a:ext>
              </a:extLst>
            </p:cNvPr>
            <p:cNvSpPr txBox="1"/>
            <p:nvPr/>
          </p:nvSpPr>
          <p:spPr>
            <a:xfrm>
              <a:off x="641827" y="3869563"/>
              <a:ext cx="305323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it-IT" sz="2400" b="1"/>
                <a:t>Example:</a:t>
              </a:r>
            </a:p>
          </p:txBody>
        </p:sp>
        <p:sp>
          <p:nvSpPr>
            <p:cNvPr id="25" name="CasellaDiTesto 3">
              <a:extLst>
                <a:ext uri="{FF2B5EF4-FFF2-40B4-BE49-F238E27FC236}">
                  <a16:creationId xmlns:a16="http://schemas.microsoft.com/office/drawing/2014/main" id="{DE8AD3AD-E7DB-7DFC-E4A0-AD0FE040A3FE}"/>
                </a:ext>
              </a:extLst>
            </p:cNvPr>
            <p:cNvSpPr txBox="1"/>
            <p:nvPr/>
          </p:nvSpPr>
          <p:spPr>
            <a:xfrm>
              <a:off x="660000" y="4359000"/>
              <a:ext cx="10662000" cy="295465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 err="1"/>
                <a:t>father_child</a:t>
              </a:r>
              <a:r>
                <a:rPr lang="en-US" sz="2400" dirty="0"/>
                <a:t>(mike, tom). </a:t>
              </a:r>
              <a:endParaRPr lang="it-IT" sz="2400" dirty="0"/>
            </a:p>
            <a:p>
              <a:r>
                <a:rPr lang="en-US" sz="2400" dirty="0" err="1"/>
                <a:t>father_child</a:t>
              </a:r>
              <a:r>
                <a:rPr lang="en-US" sz="2400" dirty="0"/>
                <a:t>(mike, anna). </a:t>
              </a:r>
            </a:p>
            <a:p>
              <a:r>
                <a:rPr lang="en-US" sz="2400" dirty="0" err="1"/>
                <a:t>father_child</a:t>
              </a:r>
              <a:r>
                <a:rPr lang="en-US" sz="2400" dirty="0"/>
                <a:t>(mike, tom). 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(mike, tom).</a:t>
              </a:r>
            </a:p>
            <a:p>
              <a:r>
                <a:rPr lang="en-US" sz="2400" dirty="0" err="1"/>
                <a:t>parent_child</a:t>
              </a:r>
              <a:r>
                <a:rPr lang="en-US" sz="2400" dirty="0"/>
                <a:t>(mike, anna).</a:t>
              </a:r>
            </a:p>
            <a:p>
              <a:r>
                <a:rPr lang="en-US" sz="2400"/>
                <a:t>tom \= anna.</a:t>
              </a:r>
            </a:p>
            <a:p>
              <a:endParaRPr lang="en-US" sz="2400" dirty="0"/>
            </a:p>
            <a:p>
              <a:pPr algn="ctr"/>
              <a:endParaRPr lang="it-IT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61D26E4-8225-0356-87C0-A81D6B279618}"/>
              </a:ext>
            </a:extLst>
          </p:cNvPr>
          <p:cNvSpPr txBox="1"/>
          <p:nvPr/>
        </p:nvSpPr>
        <p:spPr>
          <a:xfrm>
            <a:off x="7656000" y="4149000"/>
            <a:ext cx="4152000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            SUCCESS</a:t>
            </a:r>
            <a:endParaRPr lang="en-US"/>
          </a:p>
          <a:p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?- sibling(tom, anna).</a:t>
            </a:r>
            <a:endParaRPr lang="en-US"/>
          </a:p>
          <a:p>
            <a:endParaRPr lang="en-US" sz="2400" b="1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12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59EE0-DCA3-C570-B4CC-DA3BB966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CD5BCA1-E6C2-6876-A1E2-D75939117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Reasoning with Knowledge: Production System Rules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51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3D363-D4F7-25A3-6F1A-7E3ECA7C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4BE0845-5BD4-499C-6D31-40187C80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latin typeface="+mj-lt"/>
                <a:ea typeface="+mj-ea"/>
                <a:cs typeface="+mj-cs"/>
              </a:rPr>
              <a:t>Reasoning with Knowledge: Production System Rules</a:t>
            </a:r>
            <a:endParaRPr lang="en-US" sz="3600" kern="1200">
              <a:latin typeface="+mj-lt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0F3F5E-75D0-6C61-8EF7-034B850B1FBD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PRS are based on </a:t>
            </a:r>
            <a:r>
              <a:rPr lang="en-US" sz="2200" b="1"/>
              <a:t>IF-THEN</a:t>
            </a:r>
            <a:r>
              <a:rPr lang="en-US" sz="2200"/>
              <a:t> rules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PRS are constituted by:</a:t>
            </a:r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Knowledge Base,</a:t>
            </a:r>
            <a:r>
              <a:rPr lang="en-US" sz="2200"/>
              <a:t> collection of production rules. </a:t>
            </a:r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Working Memory</a:t>
            </a:r>
            <a:r>
              <a:rPr lang="en-US" sz="2200"/>
              <a:t>, facts about the current problem. </a:t>
            </a:r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Inference Engine</a:t>
            </a:r>
            <a:r>
              <a:rPr lang="en-US" sz="2200"/>
              <a:t>, matches facts against rules and derives conclusions.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 MYCIN was an early medical expert system developed at Stanford in the 1970s  to diagnose bacterial infections and recommend appropriate antimicrobial therapy.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01978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DF57A-3347-5A5C-C812-080262304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4DC459-7DC3-A31F-F3A6-33C8F91FD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E4DE856-2C11-DDDC-6B07-C4BFC06C8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latin typeface="+mj-lt"/>
                <a:ea typeface="+mj-ea"/>
                <a:cs typeface="+mj-cs"/>
              </a:rPr>
              <a:t>Reasoning with Knowledge: Production System Rules</a:t>
            </a:r>
            <a:endParaRPr lang="en-US" sz="3600" kern="1200">
              <a:latin typeface="+mj-lt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0E000B67-389D-71A6-723C-1657359C1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DEF52524-EC5D-2922-20D4-069C1943AB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6405" y="1968631"/>
            <a:ext cx="1054417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03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1525</Words>
  <Application>Microsoft Office PowerPoint</Application>
  <PresentationFormat>Widescreen</PresentationFormat>
  <Paragraphs>172</Paragraphs>
  <Slides>24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Arial,Sans-Serif</vt:lpstr>
      <vt:lpstr>Calibri</vt:lpstr>
      <vt:lpstr>Courier New</vt:lpstr>
      <vt:lpstr>Wingdings</vt:lpstr>
      <vt:lpstr>Wingdings,sans-serif</vt:lpstr>
      <vt:lpstr>Tema di Office</vt:lpstr>
      <vt:lpstr> Reasoning with Knowledge </vt:lpstr>
      <vt:lpstr> Reasoning with Knowledge </vt:lpstr>
      <vt:lpstr> Reasoning with Knowledge </vt:lpstr>
      <vt:lpstr> Reasoning with Knowledge: Description Logics </vt:lpstr>
      <vt:lpstr> Reasoning with Knowledge: Description Logics </vt:lpstr>
      <vt:lpstr> Reasoning with Knowledge: Description Logics </vt:lpstr>
      <vt:lpstr> Reasoning with Knowledge: Description Logics </vt:lpstr>
      <vt:lpstr> Reasoning with Knowledge: Description Logics </vt:lpstr>
      <vt:lpstr> Reasoning with Knowledge: Description Logics 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Logic Programming</vt:lpstr>
      <vt:lpstr>Reasoning with Knowledge: Production System Rules</vt:lpstr>
      <vt:lpstr>Reasoning with Knowledge: Production System Rules</vt:lpstr>
      <vt:lpstr>Reasoning with Knowledge: Production System 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 and Reasoning</dc:title>
  <dc:creator/>
  <cp:lastModifiedBy>Daniele Francesco Santamaria</cp:lastModifiedBy>
  <cp:revision>782</cp:revision>
  <dcterms:created xsi:type="dcterms:W3CDTF">2026-09-02T17:00:00Z</dcterms:created>
  <dcterms:modified xsi:type="dcterms:W3CDTF">2026-10-22T06:53:46Z</dcterms:modified>
</cp:coreProperties>
</file>