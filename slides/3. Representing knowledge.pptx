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1" r:id="rId2"/>
    <p:sldId id="375" r:id="rId3"/>
    <p:sldId id="377" r:id="rId4"/>
    <p:sldId id="373" r:id="rId5"/>
    <p:sldId id="372" r:id="rId6"/>
    <p:sldId id="380" r:id="rId7"/>
    <p:sldId id="379" r:id="rId8"/>
    <p:sldId id="37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D591A-1E5D-3944-AF80-E499BFBDC8AF}" v="319" dt="2026-10-14T19:44:09.661"/>
    <p1510:client id="{5AAA5496-7A7D-2B3F-C370-54E658AEFE99}" v="1387" dt="2026-10-15T08:10:31.200"/>
    <p1510:client id="{94C35A99-BB21-538C-7D86-3D5837E51C39}" v="10" dt="2026-10-14T16:31:22.407"/>
    <p1510:client id="{E30A2F01-26D5-6E72-DB38-16BCC0417B38}" v="326" dt="2026-10-14T14:56:22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78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DF0C2-5F0B-938F-431E-022C3A79E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854012F-00E9-DDAD-FFB6-D9DE44633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raphic 33">
            <a:extLst>
              <a:ext uri="{FF2B5EF4-FFF2-40B4-BE49-F238E27FC236}">
                <a16:creationId xmlns:a16="http://schemas.microsoft.com/office/drawing/2014/main" id="{3E774FA2-6A47-E847-DB0B-150A2FBF4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E6EA630E-5D83-2EAC-5024-C2F6954F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716" y="955309"/>
            <a:ext cx="7074568" cy="28989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Representing </a:t>
            </a:r>
            <a:r>
              <a:rPr lang="en-US" sz="6600">
                <a:solidFill>
                  <a:srgbClr val="FFFFFF"/>
                </a:solidFill>
              </a:rPr>
              <a:t>Knowledge</a:t>
            </a:r>
            <a:endParaRPr lang="en-US" sz="6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3180ED7-8A54-44D1-0E8C-E3C24367E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2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ED19D-8BAD-FF02-7681-E820C2FC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5816BD-9B87-5F3A-AD01-124E40CB3A58}"/>
              </a:ext>
            </a:extLst>
          </p:cNvPr>
          <p:cNvSpPr txBox="1"/>
          <p:nvPr/>
        </p:nvSpPr>
        <p:spPr>
          <a:xfrm>
            <a:off x="3455355" y="288616"/>
            <a:ext cx="7171544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/>
              <a:t>We talk about the knowledge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AD67D7A6-038E-DD42-58CD-F4FCF06B205B}"/>
              </a:ext>
            </a:extLst>
          </p:cNvPr>
          <p:cNvSpPr txBox="1">
            <a:spLocks/>
          </p:cNvSpPr>
          <p:nvPr/>
        </p:nvSpPr>
        <p:spPr>
          <a:xfrm>
            <a:off x="183598" y="1108214"/>
            <a:ext cx="11353776" cy="51540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ea typeface="+mn-lt"/>
                <a:cs typeface="+mn-lt"/>
              </a:rPr>
              <a:t>Knowledge as a proposition: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We often say, “John knows that …”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The ... is replaced with a proposition: a statement that can be </a:t>
            </a:r>
            <a:r>
              <a:rPr lang="en-US" sz="2000" b="1">
                <a:ea typeface="+mn-lt"/>
                <a:cs typeface="+mn-lt"/>
              </a:rPr>
              <a:t>true</a:t>
            </a:r>
            <a:r>
              <a:rPr lang="en-US" sz="2000">
                <a:ea typeface="+mn-lt"/>
                <a:cs typeface="+mn-lt"/>
              </a:rPr>
              <a:t> or </a:t>
            </a:r>
            <a:r>
              <a:rPr lang="en-US" sz="2000" b="1">
                <a:ea typeface="+mn-lt"/>
                <a:cs typeface="+mn-lt"/>
              </a:rPr>
              <a:t>false</a:t>
            </a:r>
            <a:r>
              <a:rPr lang="en-US" sz="2000">
                <a:ea typeface="+mn-lt"/>
                <a:cs typeface="+mn-lt"/>
              </a:rPr>
              <a:t>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>
                <a:ea typeface="+mn-lt"/>
                <a:cs typeface="+mn-lt"/>
              </a:rPr>
              <a:t>Example: “John knows that Rome is the capital of Italy.”</a:t>
            </a:r>
            <a:endParaRPr lang="en-US" sz="1800"/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>
                <a:ea typeface="+mn-lt"/>
                <a:cs typeface="+mn-lt"/>
              </a:rPr>
              <a:t>“John knows that it will rain” and “John fears that it will rain” refer to the same content but express different </a:t>
            </a:r>
            <a:r>
              <a:rPr lang="en-US" sz="1800" b="1">
                <a:ea typeface="+mn-lt"/>
                <a:cs typeface="+mn-lt"/>
              </a:rPr>
              <a:t>attitudes</a:t>
            </a:r>
            <a:r>
              <a:rPr lang="en-US" sz="1800">
                <a:ea typeface="+mn-lt"/>
                <a:cs typeface="+mn-lt"/>
              </a:rPr>
              <a:t>. Knowing involves accepting something as true, whereas fearing involves an emotional response to it.</a:t>
            </a:r>
            <a:endParaRPr lang="en-US" sz="1800"/>
          </a:p>
          <a:p>
            <a:endParaRPr lang="en-US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Other forms of knowledge: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Knowing </a:t>
            </a:r>
            <a:r>
              <a:rPr lang="en-US" sz="2000" b="1">
                <a:ea typeface="+mn-lt"/>
                <a:cs typeface="+mn-lt"/>
              </a:rPr>
              <a:t>how (procedural knowledge)</a:t>
            </a:r>
            <a:r>
              <a:rPr lang="en-US" sz="2000">
                <a:ea typeface="+mn-lt"/>
                <a:cs typeface="+mn-lt"/>
              </a:rPr>
              <a:t>: having a skill, such as building something.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Knowing </a:t>
            </a:r>
            <a:r>
              <a:rPr lang="en-US" sz="2000" b="1">
                <a:ea typeface="+mn-lt"/>
                <a:cs typeface="+mn-lt"/>
              </a:rPr>
              <a:t>who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b="1">
                <a:ea typeface="+mn-lt"/>
                <a:cs typeface="+mn-lt"/>
              </a:rPr>
              <a:t>what</a:t>
            </a:r>
            <a:r>
              <a:rPr lang="en-US" sz="2000">
                <a:ea typeface="+mn-lt"/>
                <a:cs typeface="+mn-lt"/>
              </a:rPr>
              <a:t>, or </a:t>
            </a:r>
            <a:r>
              <a:rPr lang="en-US" sz="2000" b="1">
                <a:ea typeface="+mn-lt"/>
                <a:cs typeface="+mn-lt"/>
              </a:rPr>
              <a:t>when </a:t>
            </a:r>
            <a:r>
              <a:rPr lang="en-US" sz="2000">
                <a:ea typeface="+mn-lt"/>
                <a:cs typeface="+mn-lt"/>
              </a:rPr>
              <a:t>(</a:t>
            </a:r>
            <a:r>
              <a:rPr lang="en-US" sz="2000" b="1">
                <a:ea typeface="+mn-lt"/>
                <a:cs typeface="+mn-lt"/>
              </a:rPr>
              <a:t>factual knowledge</a:t>
            </a:r>
            <a:r>
              <a:rPr lang="en-US" sz="2000">
                <a:ea typeface="+mn-lt"/>
                <a:cs typeface="+mn-lt"/>
              </a:rPr>
              <a:t>): having factual or identifying information.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>
                <a:ea typeface="+mn-lt"/>
                <a:cs typeface="+mn-lt"/>
              </a:rPr>
              <a:t>Sensorimotor</a:t>
            </a:r>
            <a:r>
              <a:rPr lang="en-US" sz="2000">
                <a:ea typeface="+mn-lt"/>
                <a:cs typeface="+mn-lt"/>
              </a:rPr>
              <a:t> knowledge: practical abilities involving perception and movement.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b="1">
                <a:ea typeface="+mn-lt"/>
                <a:cs typeface="+mn-lt"/>
              </a:rPr>
              <a:t>Affective</a:t>
            </a:r>
            <a:r>
              <a:rPr lang="en-US" sz="2000">
                <a:ea typeface="+mn-lt"/>
                <a:cs typeface="+mn-lt"/>
              </a:rPr>
              <a:t> knowledge: a deep, often experiential understanding of something.</a:t>
            </a:r>
            <a:endParaRPr lang="en-US" sz="2000"/>
          </a:p>
          <a:p>
            <a:endParaRPr lang="en-US"/>
          </a:p>
          <a:p>
            <a:pPr lvl="2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65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95EB8-4782-2E00-B37B-A54C079F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C151623-F8B3-75BD-62A6-B2DA1CD98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BFBDCA-DCF2-1C7A-7D26-4382A326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7172358" cy="1087819"/>
          </a:xfrm>
        </p:spPr>
        <p:txBody>
          <a:bodyPr anchor="b">
            <a:normAutofit/>
          </a:bodyPr>
          <a:lstStyle/>
          <a:p>
            <a:r>
              <a:rPr lang="en-US" sz="2800" b="1">
                <a:latin typeface="Aptos"/>
              </a:rPr>
              <a:t>We talk about the knowledge</a:t>
            </a:r>
            <a:endParaRPr lang="en-US" sz="2800">
              <a:latin typeface="Aptos"/>
            </a:endParaRPr>
          </a:p>
          <a:p>
            <a:endParaRPr lang="en-US" sz="3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EFAB61-25DE-2291-2A8D-AFDD4367E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5568BF-EA2A-2DAC-6450-4EBA6CF4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76E2B-B87D-1885-04A5-388C9B5B2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/>
              <a:t>       </a:t>
            </a:r>
            <a:endParaRPr lang="it-IT" sz="1400"/>
          </a:p>
          <a:p>
            <a:pPr marL="0" indent="0">
              <a:buNone/>
            </a:pPr>
            <a:r>
              <a:rPr lang="en-US" sz="1400"/>
              <a:t>    </a:t>
            </a:r>
            <a:endParaRPr lang="it-IT" sz="1400"/>
          </a:p>
          <a:p>
            <a:endParaRPr lang="en-US" sz="1400"/>
          </a:p>
          <a:p>
            <a:pPr marL="1828800" lvl="4" indent="0">
              <a:buNone/>
            </a:pPr>
            <a:r>
              <a:rPr lang="en-US" sz="1400"/>
              <a:t>     </a:t>
            </a:r>
          </a:p>
          <a:p>
            <a:pPr>
              <a:buNone/>
            </a:pPr>
            <a:r>
              <a:rPr lang="en-US" sz="1400"/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50CCD0-0D95-543F-DF3C-01CBF016A350}"/>
              </a:ext>
            </a:extLst>
          </p:cNvPr>
          <p:cNvSpPr txBox="1"/>
          <p:nvPr/>
        </p:nvSpPr>
        <p:spPr>
          <a:xfrm>
            <a:off x="391872" y="2294808"/>
            <a:ext cx="11465781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Knowledge vs. Belief: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28600" indent="-228600">
              <a:buFont typeface="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 </a:t>
            </a:r>
            <a:r>
              <a:rPr lang="en-US" sz="24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belief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is not necessarily true, and it may not be supported </a:t>
            </a: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by appropriate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reasons.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28600" lvl="0" indent="-228600" algn="l" rtl="0">
              <a:buFont typeface=""/>
              <a:buChar char="•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For example</a:t>
            </a: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: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685800" lvl="1" indent="-228600" algn="l" rtl="0">
              <a:buFont typeface="Courier New,monospace"/>
              <a:buChar char="o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John might believe that it will rain, but his belief could be mistaken.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685800" lvl="1" indent="-228600">
              <a:buFont typeface="Courier New,monospace"/>
              <a:buChar char="o"/>
            </a:pP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“John suspects that …” expresses an even weaker commitment </a:t>
            </a:r>
            <a:r>
              <a:rPr lang="en-US" sz="2400">
                <a:solidFill>
                  <a:srgbClr val="000000"/>
                </a:solidFill>
                <a:latin typeface="Aptos"/>
                <a:ea typeface="Arial"/>
                <a:cs typeface="Arial"/>
              </a:rPr>
              <a:t>than belief</a:t>
            </a:r>
            <a:r>
              <a:rPr lang="en-US" sz="24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.</a:t>
            </a:r>
            <a:r>
              <a:rPr lang="en-US" sz="24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FC24F-A507-0FE6-030A-18C80924C984}"/>
              </a:ext>
            </a:extLst>
          </p:cNvPr>
          <p:cNvSpPr txBox="1"/>
          <p:nvPr/>
        </p:nvSpPr>
        <p:spPr>
          <a:xfrm>
            <a:off x="604564" y="4876277"/>
            <a:ext cx="11251162" cy="1131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Knowledge is a way of taking the world to be a certain way, but not every belief or attitude counts as knowledge. We need (often) </a:t>
            </a:r>
            <a:r>
              <a:rPr lang="en-US" sz="2400" b="1">
                <a:ea typeface="+mn-lt"/>
                <a:cs typeface="+mn-lt"/>
              </a:rPr>
              <a:t>truth, belief, and justification.</a:t>
            </a:r>
            <a:endParaRPr lang="en-US" sz="2400" b="1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68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0A0F0-3171-FBE0-1E55-8C31B199C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624D43-458A-9521-2809-CB54A1D54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B7DDA-A172-41F8-52F6-AD9BA028F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DAE588A1-EE29-8A28-FE5B-C3344E5C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Representing Knowledge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7940D36-38EC-0A68-F761-C11BD96D8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5E3EF775-60E8-60C9-91FF-8EA18870A5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3485" y="-43413"/>
            <a:ext cx="6906491" cy="41171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B81649-BC0E-E670-2B76-2DE3F759A8C5}"/>
              </a:ext>
            </a:extLst>
          </p:cNvPr>
          <p:cNvSpPr txBox="1"/>
          <p:nvPr/>
        </p:nvSpPr>
        <p:spPr>
          <a:xfrm rot="-10800000" flipV="1">
            <a:off x="4228289" y="4693411"/>
            <a:ext cx="7596116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000" b="1"/>
              <a:t>Knowledge representation: symbolic encoding of propositions believed (by some agents)</a:t>
            </a:r>
            <a:endParaRPr lang="it-IT" sz="2000"/>
          </a:p>
          <a:p>
            <a:endParaRPr lang="en-US" sz="2400" b="1"/>
          </a:p>
          <a:p>
            <a:pPr algn="ctr"/>
            <a:endParaRPr lang="en-US"/>
          </a:p>
        </p:txBody>
      </p:sp>
      <p:sp>
        <p:nvSpPr>
          <p:cNvPr id="6" name="CasellaDiTesto 2">
            <a:extLst>
              <a:ext uri="{FF2B5EF4-FFF2-40B4-BE49-F238E27FC236}">
                <a16:creationId xmlns:a16="http://schemas.microsoft.com/office/drawing/2014/main" id="{B01636BD-CC99-EB80-3238-B42CC29B6147}"/>
              </a:ext>
            </a:extLst>
          </p:cNvPr>
          <p:cNvSpPr txBox="1"/>
          <p:nvPr/>
        </p:nvSpPr>
        <p:spPr>
          <a:xfrm>
            <a:off x="4228088" y="5553159"/>
            <a:ext cx="7323290" cy="98488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Calibri"/>
              <a:buChar char="-"/>
            </a:pP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Reasoning is the manipulation </a:t>
            </a:r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of these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propositions </a:t>
            </a:r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to produce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representations </a:t>
            </a:r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of new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propositions</a:t>
            </a:r>
            <a:r>
              <a:rPr lang="en-US" sz="20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it-IT" sz="2000"/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419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7CDC6-A2EB-E58A-D87D-E8ACBB4B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47C728-BD24-A8C5-9D99-D4C1A1EBC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A71548-8BA5-126A-9B0D-A5116405E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6B60BFF3-DE68-6064-6FAB-27119565D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Representing Knowledge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E8F33C0-7A68-DABD-74C1-CE536501A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7C263A2-3A3B-5D2E-A8CC-9F61A6D5CB10}"/>
              </a:ext>
            </a:extLst>
          </p:cNvPr>
          <p:cNvSpPr txBox="1"/>
          <p:nvPr/>
        </p:nvSpPr>
        <p:spPr>
          <a:xfrm>
            <a:off x="3116940" y="260013"/>
            <a:ext cx="878836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>
                <a:solidFill>
                  <a:srgbClr val="000000"/>
                </a:solidFill>
                <a:ea typeface="+mn-lt"/>
                <a:cs typeface="+mn-lt"/>
              </a:rPr>
              <a:t>Brachman’s theory </a:t>
            </a:r>
            <a:r>
              <a:rPr lang="it-IT" sz="2800" b="0" i="0" u="none" strike="noStrike" baseline="0">
                <a:solidFill>
                  <a:srgbClr val="000000"/>
                </a:solidFill>
                <a:ea typeface="+mn-lt"/>
                <a:cs typeface="+mn-lt"/>
              </a:rPr>
              <a:t>of knowledge representation</a:t>
            </a:r>
            <a:r>
              <a:rPr lang="it-IT" sz="2800">
                <a:solidFill>
                  <a:srgbClr val="000000"/>
                </a:solidFill>
                <a:ea typeface="+mn-lt"/>
                <a:cs typeface="+mn-lt"/>
              </a:rPr>
              <a:t> (1979)</a:t>
            </a:r>
            <a:r>
              <a:rPr sz="2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it-IT" sz="2800"/>
          </a:p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CDD15B-3AA2-D616-481C-03EA731667A8}"/>
              </a:ext>
            </a:extLst>
          </p:cNvPr>
          <p:cNvSpPr txBox="1"/>
          <p:nvPr/>
        </p:nvSpPr>
        <p:spPr>
          <a:xfrm>
            <a:off x="4167398" y="1635265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/>
              <a:t>Ronald J. Brachman’s work addresses a fundamental question:</a:t>
            </a:r>
            <a:endParaRPr lang="it-IT"/>
          </a:p>
          <a:p>
            <a:endParaRPr lang="en-US"/>
          </a:p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23A6A86-C9A1-C0CC-3E28-81B4C7FB17FB}"/>
              </a:ext>
            </a:extLst>
          </p:cNvPr>
          <p:cNvSpPr txBox="1"/>
          <p:nvPr/>
        </p:nvSpPr>
        <p:spPr>
          <a:xfrm>
            <a:off x="4518053" y="2457955"/>
            <a:ext cx="711424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</a:rPr>
              <a:t>How can we represent knowledge so that a computer can store it, interpret it, reason with it, and use it to solve problems?</a:t>
            </a:r>
            <a:r>
              <a:rPr sz="1800" b="1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it-IT" b="1"/>
          </a:p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404E28-27E6-3C59-C234-A5C0FC6D5674}"/>
              </a:ext>
            </a:extLst>
          </p:cNvPr>
          <p:cNvSpPr txBox="1"/>
          <p:nvPr/>
        </p:nvSpPr>
        <p:spPr>
          <a:xfrm>
            <a:off x="4518054" y="3516663"/>
            <a:ext cx="700635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Knowledge representation systems can be seen through  different levels of abstraction, involving several distinct choices.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AD7A3D3-AF86-0BE9-4C6E-ED0F0EFD1FA5}"/>
              </a:ext>
            </a:extLst>
          </p:cNvPr>
          <p:cNvSpPr txBox="1"/>
          <p:nvPr/>
        </p:nvSpPr>
        <p:spPr>
          <a:xfrm>
            <a:off x="6783823" y="4973230"/>
            <a:ext cx="325030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How many/which levels?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8718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E8FDF-2E0E-64AD-DD3F-572E66DC2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5CE2C-E515-17A9-A1EE-E67250081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1289F-0E71-D2DD-B1B3-334113E1D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6B557E2B-0AE0-E76B-8766-B1346A505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Representing Knowledge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BB5C430-E0CE-7D58-4A76-B240D8742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97070D-7136-1CB5-25B2-29A415D4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2270441"/>
            <a:ext cx="6906491" cy="32332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it-IT"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>
                <a:ea typeface="+mn-lt"/>
                <a:cs typeface="+mn-lt"/>
              </a:rPr>
              <a:t>  </a:t>
            </a:r>
            <a:r>
              <a:rPr lang="it-IT" b="1">
                <a:ea typeface="+mn-lt"/>
                <a:cs typeface="+mn-lt"/>
              </a:rPr>
              <a:t>1. Implementation level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 b="1">
                <a:ea typeface="+mn-lt"/>
                <a:cs typeface="+mn-lt"/>
              </a:rPr>
              <a:t>  2. Logical level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 b="1">
                <a:ea typeface="+mn-lt"/>
                <a:cs typeface="+mn-lt"/>
              </a:rPr>
              <a:t>  3. Epistemological level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 b="1">
                <a:ea typeface="+mn-lt"/>
                <a:cs typeface="+mn-lt"/>
              </a:rPr>
              <a:t>  4. Conceptual level</a:t>
            </a:r>
            <a:endParaRPr lang="en-US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it-IT" b="1">
                <a:ea typeface="+mn-lt"/>
                <a:cs typeface="+mn-lt"/>
              </a:rPr>
              <a:t>  5. Linguistic level</a:t>
            </a:r>
            <a:endParaRPr lang="en-US" b="1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C5CA6E8-EF58-CC16-F046-84898C7356A2}"/>
              </a:ext>
            </a:extLst>
          </p:cNvPr>
          <p:cNvSpPr txBox="1"/>
          <p:nvPr/>
        </p:nvSpPr>
        <p:spPr>
          <a:xfrm>
            <a:off x="3938124" y="407974"/>
            <a:ext cx="7930194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b="0" i="0" u="none" strike="noStrike" baseline="0">
                <a:solidFill>
                  <a:srgbClr val="000000"/>
                </a:solidFill>
                <a:latin typeface="Aptos"/>
              </a:rPr>
              <a:t>Brachman (1979) defines five levels of knowledge representation:</a:t>
            </a:r>
            <a:r>
              <a:rPr sz="2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it-IT"/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13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DE498-E28F-C3E2-E6F3-DF2901D9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9CB746A-0B9F-7EDF-DCF1-F83A14F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3144FDA-BF9A-41CA-7B50-13BBFAF1A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olo 1">
            <a:extLst>
              <a:ext uri="{FF2B5EF4-FFF2-40B4-BE49-F238E27FC236}">
                <a16:creationId xmlns:a16="http://schemas.microsoft.com/office/drawing/2014/main" id="{AE2EA489-E0EB-91B2-EE56-A9E7C2ADD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>
                <a:solidFill>
                  <a:srgbClr val="FFFFFF"/>
                </a:solidFill>
              </a:rPr>
              <a:t>Representing Knowledge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7C4F6F7F-252B-C419-DD76-B68CB6510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FA204CF-A1C0-B780-0330-E3C99724D2CB}"/>
              </a:ext>
            </a:extLst>
          </p:cNvPr>
          <p:cNvSpPr>
            <a:spLocks noGrp="1"/>
          </p:cNvSpPr>
          <p:nvPr/>
        </p:nvSpPr>
        <p:spPr>
          <a:xfrm>
            <a:off x="4223921" y="196829"/>
            <a:ext cx="7281245" cy="594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>
                <a:ea typeface="+mn-lt"/>
                <a:cs typeface="+mn-lt"/>
              </a:rPr>
              <a:t>Brachman (1979) </a:t>
            </a:r>
            <a:r>
              <a:rPr lang="it-IT" err="1">
                <a:ea typeface="+mn-lt"/>
                <a:cs typeface="+mn-lt"/>
              </a:rPr>
              <a:t>defines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five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levels</a:t>
            </a:r>
            <a:r>
              <a:rPr lang="it-IT">
                <a:ea typeface="+mn-lt"/>
                <a:cs typeface="+mn-lt"/>
              </a:rPr>
              <a:t> of knowledge </a:t>
            </a:r>
            <a:r>
              <a:rPr lang="it-IT" err="1">
                <a:ea typeface="+mn-lt"/>
                <a:cs typeface="+mn-lt"/>
              </a:rPr>
              <a:t>representation</a:t>
            </a:r>
            <a:r>
              <a:rPr lang="it-IT">
                <a:ea typeface="+mn-lt"/>
                <a:cs typeface="+mn-lt"/>
              </a:rPr>
              <a:t>:</a:t>
            </a:r>
            <a:endParaRPr lang="en-US" err="1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it-IT" sz="2400" b="1" err="1">
                <a:ea typeface="+mn-lt"/>
                <a:cs typeface="+mn-lt"/>
              </a:rPr>
              <a:t>Implementation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level</a:t>
            </a:r>
            <a:r>
              <a:rPr lang="it-IT" sz="2400">
                <a:ea typeface="+mn-lt"/>
                <a:cs typeface="+mn-lt"/>
              </a:rPr>
              <a:t>: </a:t>
            </a:r>
            <a:r>
              <a:rPr lang="it-IT" sz="2400" err="1">
                <a:ea typeface="+mn-lt"/>
                <a:cs typeface="+mn-lt"/>
              </a:rPr>
              <a:t>how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knowledge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encoded</a:t>
            </a:r>
            <a:r>
              <a:rPr lang="it-IT" sz="2400">
                <a:ea typeface="+mn-lt"/>
                <a:cs typeface="+mn-lt"/>
              </a:rPr>
              <a:t> by a computer, </a:t>
            </a:r>
            <a:r>
              <a:rPr lang="it-IT" sz="2400" err="1">
                <a:ea typeface="+mn-lt"/>
                <a:cs typeface="+mn-lt"/>
              </a:rPr>
              <a:t>including</a:t>
            </a:r>
            <a:r>
              <a:rPr lang="it-IT" sz="2400">
                <a:ea typeface="+mn-lt"/>
                <a:cs typeface="+mn-lt"/>
              </a:rPr>
              <a:t> data-</a:t>
            </a:r>
            <a:r>
              <a:rPr lang="it-IT" sz="2400" err="1">
                <a:ea typeface="+mn-lt"/>
                <a:cs typeface="+mn-lt"/>
              </a:rPr>
              <a:t>structure</a:t>
            </a:r>
            <a:r>
              <a:rPr lang="it-IT" sz="2400">
                <a:ea typeface="+mn-lt"/>
                <a:cs typeface="+mn-lt"/>
              </a:rPr>
              <a:t>. </a:t>
            </a:r>
            <a:r>
              <a:rPr lang="it-IT" sz="2400" err="1">
                <a:ea typeface="+mn-lt"/>
                <a:cs typeface="+mn-lt"/>
              </a:rPr>
              <a:t>Example</a:t>
            </a:r>
            <a:r>
              <a:rPr lang="it-IT" sz="2400">
                <a:ea typeface="+mn-lt"/>
                <a:cs typeface="+mn-lt"/>
              </a:rPr>
              <a:t>: database or XML </a:t>
            </a:r>
            <a:r>
              <a:rPr lang="it-IT" sz="2400" err="1">
                <a:ea typeface="+mn-lt"/>
                <a:cs typeface="+mn-lt"/>
              </a:rPr>
              <a:t>files</a:t>
            </a:r>
            <a:r>
              <a:rPr lang="it-IT" sz="2400">
                <a:ea typeface="+mn-lt"/>
                <a:cs typeface="+mn-lt"/>
              </a:rPr>
              <a:t>.</a:t>
            </a:r>
          </a:p>
          <a:p>
            <a:pPr marL="514350" indent="-514350">
              <a:buAutoNum type="arabicPeriod"/>
            </a:pPr>
            <a:r>
              <a:rPr lang="it-IT" sz="2400" b="1" err="1">
                <a:ea typeface="+mn-lt"/>
                <a:cs typeface="+mn-lt"/>
              </a:rPr>
              <a:t>Logical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level</a:t>
            </a:r>
            <a:r>
              <a:rPr lang="it-IT" sz="2400" b="1">
                <a:ea typeface="+mn-lt"/>
                <a:cs typeface="+mn-lt"/>
              </a:rPr>
              <a:t>: </a:t>
            </a:r>
            <a:r>
              <a:rPr lang="it-IT" sz="2400" err="1">
                <a:ea typeface="+mn-lt"/>
                <a:cs typeface="+mn-lt"/>
              </a:rPr>
              <a:t>how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knowledge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expressed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using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formal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logic</a:t>
            </a:r>
            <a:r>
              <a:rPr lang="it-IT" sz="2400">
                <a:ea typeface="+mn-lt"/>
                <a:cs typeface="+mn-lt"/>
              </a:rPr>
              <a:t>, </a:t>
            </a:r>
            <a:r>
              <a:rPr lang="it-IT" sz="2400" err="1">
                <a:ea typeface="+mn-lt"/>
                <a:cs typeface="+mn-lt"/>
              </a:rPr>
              <a:t>facts</a:t>
            </a:r>
            <a:r>
              <a:rPr lang="it-IT" sz="2400">
                <a:ea typeface="+mn-lt"/>
                <a:cs typeface="+mn-lt"/>
              </a:rPr>
              <a:t>, and </a:t>
            </a:r>
            <a:r>
              <a:rPr lang="it-IT" sz="2400" err="1">
                <a:ea typeface="+mn-lt"/>
                <a:cs typeface="+mn-lt"/>
              </a:rPr>
              <a:t>rules</a:t>
            </a:r>
            <a:r>
              <a:rPr lang="it-IT" sz="2400">
                <a:ea typeface="+mn-lt"/>
                <a:cs typeface="+mn-lt"/>
              </a:rPr>
              <a:t>. </a:t>
            </a:r>
            <a:r>
              <a:rPr lang="it-IT" sz="2400" err="1">
                <a:ea typeface="+mn-lt"/>
                <a:cs typeface="+mn-lt"/>
              </a:rPr>
              <a:t>Example</a:t>
            </a:r>
            <a:r>
              <a:rPr lang="it-IT" sz="2400">
                <a:ea typeface="+mn-lt"/>
                <a:cs typeface="+mn-lt"/>
              </a:rPr>
              <a:t>: </a:t>
            </a:r>
            <a:r>
              <a:rPr lang="it-IT" sz="2400" err="1">
                <a:ea typeface="+mn-lt"/>
                <a:cs typeface="+mn-lt"/>
              </a:rPr>
              <a:t>Description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Logics</a:t>
            </a:r>
            <a:r>
              <a:rPr lang="it-IT" sz="2400">
                <a:ea typeface="+mn-lt"/>
                <a:cs typeface="+mn-lt"/>
              </a:rPr>
              <a:t> or LPG and </a:t>
            </a:r>
            <a:r>
              <a:rPr lang="it-IT" sz="2400" err="1">
                <a:ea typeface="+mn-lt"/>
                <a:cs typeface="+mn-lt"/>
              </a:rPr>
              <a:t>Graph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Traversal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algorithms</a:t>
            </a:r>
            <a:r>
              <a:rPr lang="it-IT" sz="2400">
                <a:ea typeface="+mn-lt"/>
                <a:cs typeface="+mn-lt"/>
              </a:rPr>
              <a:t>.</a:t>
            </a:r>
          </a:p>
          <a:p>
            <a:pPr marL="514350" indent="-514350">
              <a:buAutoNum type="arabicPeriod"/>
            </a:pPr>
            <a:r>
              <a:rPr lang="it-IT" sz="2400" b="1" err="1">
                <a:ea typeface="+mn-lt"/>
                <a:cs typeface="+mn-lt"/>
              </a:rPr>
              <a:t>Epistemological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level</a:t>
            </a:r>
            <a:r>
              <a:rPr lang="it-IT" sz="2400" b="1">
                <a:ea typeface="+mn-lt"/>
                <a:cs typeface="+mn-lt"/>
              </a:rPr>
              <a:t>: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how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knowledge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structured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into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primitives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such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as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concept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types</a:t>
            </a:r>
            <a:r>
              <a:rPr lang="it-IT" sz="2400">
                <a:ea typeface="+mn-lt"/>
                <a:cs typeface="+mn-lt"/>
              </a:rPr>
              <a:t> and </a:t>
            </a:r>
            <a:r>
              <a:rPr lang="it-IT" sz="2400" err="1">
                <a:ea typeface="+mn-lt"/>
                <a:cs typeface="+mn-lt"/>
              </a:rPr>
              <a:t>structural</a:t>
            </a:r>
            <a:r>
              <a:rPr lang="it-IT" sz="2400">
                <a:ea typeface="+mn-lt"/>
                <a:cs typeface="+mn-lt"/>
              </a:rPr>
              <a:t> relations. </a:t>
            </a:r>
            <a:r>
              <a:rPr lang="it-IT" sz="2400" err="1">
                <a:ea typeface="+mn-lt"/>
                <a:cs typeface="+mn-lt"/>
              </a:rPr>
              <a:t>Example</a:t>
            </a:r>
            <a:r>
              <a:rPr lang="it-IT" sz="2400">
                <a:ea typeface="+mn-lt"/>
                <a:cs typeface="+mn-lt"/>
              </a:rPr>
              <a:t>: Dog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a </a:t>
            </a:r>
            <a:r>
              <a:rPr lang="it-IT" sz="2400" err="1">
                <a:ea typeface="+mn-lt"/>
                <a:cs typeface="+mn-lt"/>
              </a:rPr>
              <a:t>label</a:t>
            </a:r>
            <a:r>
              <a:rPr lang="it-IT" sz="2400">
                <a:ea typeface="+mn-lt"/>
                <a:cs typeface="+mn-lt"/>
              </a:rPr>
              <a:t>, </a:t>
            </a:r>
            <a:r>
              <a:rPr lang="it-IT" sz="2400" err="1">
                <a:ea typeface="+mn-lt"/>
                <a:cs typeface="+mn-lt"/>
              </a:rPr>
              <a:t>has_name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a </a:t>
            </a:r>
            <a:r>
              <a:rPr lang="it-IT" sz="2400" err="1">
                <a:ea typeface="+mn-lt"/>
                <a:cs typeface="+mn-lt"/>
              </a:rPr>
              <a:t>property</a:t>
            </a:r>
            <a:r>
              <a:rPr lang="it-IT" sz="2400">
                <a:ea typeface="+mn-lt"/>
                <a:cs typeface="+mn-lt"/>
              </a:rPr>
              <a:t>.</a:t>
            </a:r>
          </a:p>
          <a:p>
            <a:pPr marL="514350" indent="-514350">
              <a:buAutoNum type="arabicPeriod"/>
            </a:pPr>
            <a:r>
              <a:rPr lang="it-IT" sz="2400" b="1" err="1">
                <a:ea typeface="+mn-lt"/>
                <a:cs typeface="+mn-lt"/>
              </a:rPr>
              <a:t>Conceptual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level</a:t>
            </a:r>
            <a:r>
              <a:rPr lang="it-IT" sz="2400" b="1">
                <a:ea typeface="+mn-lt"/>
                <a:cs typeface="+mn-lt"/>
              </a:rPr>
              <a:t>: </a:t>
            </a:r>
            <a:r>
              <a:rPr lang="it-IT" sz="2400" err="1">
                <a:ea typeface="+mn-lt"/>
                <a:cs typeface="+mn-lt"/>
              </a:rPr>
              <a:t>how</a:t>
            </a:r>
            <a:r>
              <a:rPr lang="it-IT" sz="2400">
                <a:ea typeface="+mn-lt"/>
                <a:cs typeface="+mn-lt"/>
              </a:rPr>
              <a:t> to </a:t>
            </a:r>
            <a:r>
              <a:rPr lang="it-IT" sz="2400" err="1">
                <a:ea typeface="+mn-lt"/>
                <a:cs typeface="+mn-lt"/>
              </a:rPr>
              <a:t>uses</a:t>
            </a:r>
            <a:r>
              <a:rPr lang="it-IT" sz="2400">
                <a:ea typeface="+mn-lt"/>
                <a:cs typeface="+mn-lt"/>
              </a:rPr>
              <a:t> the </a:t>
            </a:r>
            <a:r>
              <a:rPr lang="it-IT" sz="2400" err="1">
                <a:ea typeface="+mn-lt"/>
                <a:cs typeface="+mn-lt"/>
              </a:rPr>
              <a:t>primitives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defined</a:t>
            </a:r>
            <a:r>
              <a:rPr lang="it-IT" sz="2400">
                <a:ea typeface="+mn-lt"/>
                <a:cs typeface="+mn-lt"/>
              </a:rPr>
              <a:t> at the </a:t>
            </a:r>
            <a:r>
              <a:rPr lang="it-IT" sz="2400" err="1">
                <a:ea typeface="+mn-lt"/>
                <a:cs typeface="+mn-lt"/>
              </a:rPr>
              <a:t>epistemological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level</a:t>
            </a:r>
            <a:r>
              <a:rPr lang="it-IT" sz="2400">
                <a:ea typeface="+mn-lt"/>
                <a:cs typeface="+mn-lt"/>
              </a:rPr>
              <a:t> to </a:t>
            </a:r>
            <a:r>
              <a:rPr lang="it-IT" sz="2400" err="1">
                <a:ea typeface="+mn-lt"/>
                <a:cs typeface="+mn-lt"/>
              </a:rPr>
              <a:t>describe</a:t>
            </a:r>
            <a:r>
              <a:rPr lang="it-IT" sz="2400">
                <a:ea typeface="+mn-lt"/>
                <a:cs typeface="+mn-lt"/>
              </a:rPr>
              <a:t> the </a:t>
            </a:r>
            <a:r>
              <a:rPr lang="it-IT" sz="2400" err="1">
                <a:ea typeface="+mn-lt"/>
                <a:cs typeface="+mn-lt"/>
              </a:rPr>
              <a:t>entities</a:t>
            </a:r>
            <a:r>
              <a:rPr lang="it-IT" sz="2400">
                <a:ea typeface="+mn-lt"/>
                <a:cs typeface="+mn-lt"/>
              </a:rPr>
              <a:t> in a domain. </a:t>
            </a:r>
            <a:r>
              <a:rPr lang="it-IT" sz="2400" err="1">
                <a:ea typeface="+mn-lt"/>
                <a:cs typeface="+mn-lt"/>
              </a:rPr>
              <a:t>Example</a:t>
            </a:r>
            <a:r>
              <a:rPr lang="it-IT" sz="2400">
                <a:ea typeface="+mn-lt"/>
                <a:cs typeface="+mn-lt"/>
              </a:rPr>
              <a:t>: </a:t>
            </a:r>
            <a:r>
              <a:rPr lang="it-IT" sz="2400" err="1">
                <a:ea typeface="+mn-lt"/>
                <a:cs typeface="+mn-lt"/>
              </a:rPr>
              <a:t>Fuffy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a Dog. </a:t>
            </a:r>
            <a:r>
              <a:rPr lang="it-IT" sz="2400" err="1">
                <a:ea typeface="+mn-lt"/>
                <a:cs typeface="+mn-lt"/>
              </a:rPr>
              <a:t>Fuffy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has_name</a:t>
            </a:r>
            <a:r>
              <a:rPr lang="it-IT" sz="2400">
                <a:ea typeface="+mn-lt"/>
                <a:cs typeface="+mn-lt"/>
              </a:rPr>
              <a:t> ‘</a:t>
            </a:r>
            <a:r>
              <a:rPr lang="it-IT" sz="2400" err="1">
                <a:ea typeface="+mn-lt"/>
                <a:cs typeface="+mn-lt"/>
              </a:rPr>
              <a:t>Fuffy</a:t>
            </a:r>
            <a:r>
              <a:rPr lang="it-IT" sz="2400">
                <a:ea typeface="+mn-lt"/>
                <a:cs typeface="+mn-lt"/>
              </a:rPr>
              <a:t>’</a:t>
            </a:r>
          </a:p>
          <a:p>
            <a:pPr marL="514350" indent="-514350">
              <a:buAutoNum type="arabicPeriod"/>
            </a:pPr>
            <a:r>
              <a:rPr lang="it-IT" sz="2400" b="1" err="1">
                <a:ea typeface="+mn-lt"/>
                <a:cs typeface="+mn-lt"/>
              </a:rPr>
              <a:t>Linguistic</a:t>
            </a:r>
            <a:r>
              <a:rPr lang="it-IT" sz="2400" b="1">
                <a:ea typeface="+mn-lt"/>
                <a:cs typeface="+mn-lt"/>
              </a:rPr>
              <a:t> </a:t>
            </a:r>
            <a:r>
              <a:rPr lang="it-IT" sz="2400" b="1" err="1">
                <a:ea typeface="+mn-lt"/>
                <a:cs typeface="+mn-lt"/>
              </a:rPr>
              <a:t>level</a:t>
            </a:r>
            <a:r>
              <a:rPr lang="it-IT" sz="2400" b="1">
                <a:ea typeface="+mn-lt"/>
                <a:cs typeface="+mn-lt"/>
              </a:rPr>
              <a:t>:</a:t>
            </a:r>
            <a:r>
              <a:rPr lang="it-IT" sz="2400">
                <a:ea typeface="+mn-lt"/>
                <a:cs typeface="+mn-lt"/>
              </a:rPr>
              <a:t> the </a:t>
            </a:r>
            <a:r>
              <a:rPr lang="it-IT" sz="2400" err="1">
                <a:ea typeface="+mn-lt"/>
                <a:cs typeface="+mn-lt"/>
              </a:rPr>
              <a:t>linguistic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level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concerns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how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knowledge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is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expressed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through</a:t>
            </a:r>
            <a:r>
              <a:rPr lang="it-IT" sz="2400">
                <a:ea typeface="+mn-lt"/>
                <a:cs typeface="+mn-lt"/>
              </a:rPr>
              <a:t> </a:t>
            </a:r>
            <a:r>
              <a:rPr lang="it-IT" sz="2400" err="1">
                <a:ea typeface="+mn-lt"/>
                <a:cs typeface="+mn-lt"/>
              </a:rPr>
              <a:t>language</a:t>
            </a:r>
            <a:r>
              <a:rPr lang="it-IT" sz="2400">
                <a:ea typeface="+mn-lt"/>
                <a:cs typeface="+mn-lt"/>
              </a:rPr>
              <a:t>. </a:t>
            </a:r>
            <a:r>
              <a:rPr lang="it-IT" sz="2400" err="1">
                <a:ea typeface="+mn-lt"/>
                <a:cs typeface="+mn-lt"/>
              </a:rPr>
              <a:t>Example</a:t>
            </a:r>
            <a:r>
              <a:rPr lang="it-IT" sz="2400">
                <a:ea typeface="+mn-lt"/>
                <a:cs typeface="+mn-lt"/>
              </a:rPr>
              <a:t>: </a:t>
            </a:r>
            <a:r>
              <a:rPr lang="it-IT" sz="2400" err="1">
                <a:ea typeface="+mn-lt"/>
                <a:cs typeface="+mn-lt"/>
              </a:rPr>
              <a:t>Cypher</a:t>
            </a:r>
            <a:r>
              <a:rPr lang="it-IT" sz="2400">
                <a:ea typeface="+mn-lt"/>
                <a:cs typeface="+mn-lt"/>
              </a:rPr>
              <a:t>.</a:t>
            </a:r>
            <a:endParaRPr lang="it-IT" sz="2400"/>
          </a:p>
        </p:txBody>
      </p:sp>
    </p:spTree>
    <p:extLst>
      <p:ext uri="{BB962C8B-B14F-4D97-AF65-F5344CB8AC3E}">
        <p14:creationId xmlns:p14="http://schemas.microsoft.com/office/powerpoint/2010/main" val="2864965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982839"/>
              </p:ext>
            </p:extLst>
          </p:nvPr>
        </p:nvGraphicFramePr>
        <p:xfrm>
          <a:off x="296501" y="198153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Primitives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Implementation 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 serialization format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Symbols of the 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Logical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 logical formalism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Logical predicates, operators, quantifiers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Epistemological 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 ontology 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Definition of concept and slot types, structuring relationships like inheritance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Conceptual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An ontology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Concepts and their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Linguistic 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Natural 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The primitives provided by a natural language, such as words, sentences, punctuation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5FDFAFC0-AE25-C98B-7456-08EAA6A43820}"/>
              </a:ext>
            </a:extLst>
          </p:cNvPr>
          <p:cNvSpPr>
            <a:spLocks noGrp="1"/>
          </p:cNvSpPr>
          <p:nvPr/>
        </p:nvSpPr>
        <p:spPr>
          <a:xfrm>
            <a:off x="557684" y="211461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kern="1200">
                <a:latin typeface="+mj-lt"/>
                <a:ea typeface="+mj-ea"/>
                <a:cs typeface="+mj-cs"/>
              </a:rPr>
              <a:t>Representing Knowledge</a:t>
            </a:r>
            <a:endParaRPr lang="en-US" sz="5400" kern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29032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Courier New,monospace</vt:lpstr>
      <vt:lpstr>Wingdings</vt:lpstr>
      <vt:lpstr>Tema di Office</vt:lpstr>
      <vt:lpstr>Representing Knowledge</vt:lpstr>
      <vt:lpstr>Presentazione standard di PowerPoint</vt:lpstr>
      <vt:lpstr>We talk about the knowledge </vt:lpstr>
      <vt:lpstr>Representing Knowledge</vt:lpstr>
      <vt:lpstr>Representing Knowledge</vt:lpstr>
      <vt:lpstr>Representing Knowledge</vt:lpstr>
      <vt:lpstr>Representing Knowledge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Representation and Reasoning</dc:title>
  <dc:creator/>
  <cp:lastModifiedBy>Daniele Francesco Santamaria</cp:lastModifiedBy>
  <cp:revision>249</cp:revision>
  <dcterms:created xsi:type="dcterms:W3CDTF">2026-09-02T17:00:00Z</dcterms:created>
  <dcterms:modified xsi:type="dcterms:W3CDTF">2026-10-15T08:13:23Z</dcterms:modified>
</cp:coreProperties>
</file>